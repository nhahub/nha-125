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Helvetica World" charset="1" panose="020B0500040000020004"/>
      <p:regular r:id="rId19"/>
    </p:embeddedFont>
    <p:embeddedFont>
      <p:font typeface="Montserrat Medium" charset="1" panose="00000600000000000000"/>
      <p:regular r:id="rId20"/>
    </p:embeddedFont>
    <p:embeddedFont>
      <p:font typeface="Helvetica World Italics" charset="1" panose="020B0500040000090004"/>
      <p:regular r:id="rId21"/>
    </p:embeddedFont>
    <p:embeddedFont>
      <p:font typeface="Montserrat Medium Italics" charset="1" panose="00000600000000000000"/>
      <p:regular r:id="rId22"/>
    </p:embeddedFont>
    <p:embeddedFont>
      <p:font typeface="Poppins" charset="1" panose="000005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8518" r="0" b="-68518"/>
            </a:stretch>
          </a:blipFill>
        </p:spPr>
      </p:sp>
      <p:sp>
        <p:nvSpPr>
          <p:cNvPr name="Freeform 3" id="3"/>
          <p:cNvSpPr/>
          <p:nvPr/>
        </p:nvSpPr>
        <p:spPr>
          <a:xfrm flipH="false" flipV="false" rot="0">
            <a:off x="15860002" y="8551330"/>
            <a:ext cx="1399298" cy="628412"/>
          </a:xfrm>
          <a:custGeom>
            <a:avLst/>
            <a:gdLst/>
            <a:ahLst/>
            <a:cxnLst/>
            <a:rect r="r" b="b" t="t" l="l"/>
            <a:pathLst>
              <a:path h="628412" w="1399298">
                <a:moveTo>
                  <a:pt x="0" y="0"/>
                </a:moveTo>
                <a:lnTo>
                  <a:pt x="1399298" y="0"/>
                </a:lnTo>
                <a:lnTo>
                  <a:pt x="1399298" y="628412"/>
                </a:lnTo>
                <a:lnTo>
                  <a:pt x="0" y="6284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6220254"/>
            <a:ext cx="12448652" cy="2815307"/>
          </a:xfrm>
          <a:prstGeom prst="rect">
            <a:avLst/>
          </a:prstGeom>
        </p:spPr>
        <p:txBody>
          <a:bodyPr anchor="t" rtlCol="false" tIns="0" lIns="0" bIns="0" rIns="0">
            <a:spAutoFit/>
          </a:bodyPr>
          <a:lstStyle/>
          <a:p>
            <a:pPr algn="l">
              <a:lnSpc>
                <a:spcPts val="10489"/>
              </a:lnSpc>
            </a:pPr>
            <a:r>
              <a:rPr lang="en-US" sz="13111" spc="-458">
                <a:solidFill>
                  <a:srgbClr val="FFFFFF"/>
                </a:solidFill>
                <a:latin typeface="Helvetica World"/>
                <a:ea typeface="Helvetica World"/>
                <a:cs typeface="Helvetica World"/>
                <a:sym typeface="Helvetica World"/>
              </a:rPr>
              <a:t>Healthcare</a:t>
            </a:r>
          </a:p>
          <a:p>
            <a:pPr algn="l">
              <a:lnSpc>
                <a:spcPts val="10489"/>
              </a:lnSpc>
            </a:pPr>
            <a:r>
              <a:rPr lang="en-US" sz="13111" spc="-458">
                <a:solidFill>
                  <a:srgbClr val="FFFFFF"/>
                </a:solidFill>
                <a:latin typeface="Helvetica World"/>
                <a:ea typeface="Helvetica World"/>
                <a:cs typeface="Helvetica World"/>
                <a:sym typeface="Helvetica World"/>
              </a:rPr>
              <a:t>Industry</a:t>
            </a:r>
          </a:p>
        </p:txBody>
      </p:sp>
      <p:sp>
        <p:nvSpPr>
          <p:cNvPr name="TextBox 5" id="5"/>
          <p:cNvSpPr txBox="true"/>
          <p:nvPr/>
        </p:nvSpPr>
        <p:spPr>
          <a:xfrm rot="0">
            <a:off x="9909592" y="882239"/>
            <a:ext cx="1180920" cy="264243"/>
          </a:xfrm>
          <a:prstGeom prst="rect">
            <a:avLst/>
          </a:prstGeom>
        </p:spPr>
        <p:txBody>
          <a:bodyPr anchor="t" rtlCol="false" tIns="0" lIns="0" bIns="0" rIns="0">
            <a:spAutoFit/>
          </a:bodyPr>
          <a:lstStyle/>
          <a:p>
            <a:pPr algn="l">
              <a:lnSpc>
                <a:spcPts val="2235"/>
              </a:lnSpc>
              <a:spcBef>
                <a:spcPct val="0"/>
              </a:spcBef>
            </a:pPr>
            <a:r>
              <a:rPr lang="en-US" b="true" sz="1596" spc="-63">
                <a:solidFill>
                  <a:srgbClr val="FFFFFF"/>
                </a:solidFill>
                <a:latin typeface="Montserrat Medium"/>
                <a:ea typeface="Montserrat Medium"/>
                <a:cs typeface="Montserrat Medium"/>
                <a:sym typeface="Montserrat Medium"/>
              </a:rPr>
              <a:t>December</a:t>
            </a:r>
          </a:p>
        </p:txBody>
      </p:sp>
      <p:sp>
        <p:nvSpPr>
          <p:cNvPr name="TextBox 6" id="6"/>
          <p:cNvSpPr txBox="true"/>
          <p:nvPr/>
        </p:nvSpPr>
        <p:spPr>
          <a:xfrm rot="0">
            <a:off x="12262648" y="882283"/>
            <a:ext cx="993815" cy="264302"/>
          </a:xfrm>
          <a:prstGeom prst="rect">
            <a:avLst/>
          </a:prstGeom>
        </p:spPr>
        <p:txBody>
          <a:bodyPr anchor="t" rtlCol="false" tIns="0" lIns="0" bIns="0" rIns="0">
            <a:spAutoFit/>
          </a:bodyPr>
          <a:lstStyle/>
          <a:p>
            <a:pPr algn="ctr">
              <a:lnSpc>
                <a:spcPts val="2235"/>
              </a:lnSpc>
              <a:spcBef>
                <a:spcPct val="0"/>
              </a:spcBef>
            </a:pPr>
            <a:r>
              <a:rPr lang="en-US" b="true" sz="1596" spc="-63">
                <a:solidFill>
                  <a:srgbClr val="FFFFFF"/>
                </a:solidFill>
                <a:latin typeface="Montserrat Medium"/>
                <a:ea typeface="Montserrat Medium"/>
                <a:cs typeface="Montserrat Medium"/>
                <a:sym typeface="Montserrat Medium"/>
              </a:rPr>
              <a:t>2025</a:t>
            </a:r>
          </a:p>
        </p:txBody>
      </p:sp>
      <p:sp>
        <p:nvSpPr>
          <p:cNvPr name="TextBox 7" id="7"/>
          <p:cNvSpPr txBox="true"/>
          <p:nvPr/>
        </p:nvSpPr>
        <p:spPr>
          <a:xfrm rot="0">
            <a:off x="14284037" y="882239"/>
            <a:ext cx="2975263" cy="264243"/>
          </a:xfrm>
          <a:prstGeom prst="rect">
            <a:avLst/>
          </a:prstGeom>
        </p:spPr>
        <p:txBody>
          <a:bodyPr anchor="t" rtlCol="false" tIns="0" lIns="0" bIns="0" rIns="0">
            <a:spAutoFit/>
          </a:bodyPr>
          <a:lstStyle/>
          <a:p>
            <a:pPr algn="r">
              <a:lnSpc>
                <a:spcPts val="2235"/>
              </a:lnSpc>
              <a:spcBef>
                <a:spcPct val="0"/>
              </a:spcBef>
            </a:pPr>
            <a:r>
              <a:rPr lang="en-US" b="true" sz="1596" spc="-63">
                <a:solidFill>
                  <a:srgbClr val="FFFFFF"/>
                </a:solidFill>
                <a:latin typeface="Montserrat Medium"/>
                <a:ea typeface="Montserrat Medium"/>
                <a:cs typeface="Montserrat Medium"/>
                <a:sym typeface="Montserrat Medium"/>
              </a:rPr>
              <a:t>Healthcare Presentation</a:t>
            </a:r>
          </a:p>
        </p:txBody>
      </p:sp>
      <p:sp>
        <p:nvSpPr>
          <p:cNvPr name="TextBox 8" id="8"/>
          <p:cNvSpPr txBox="true"/>
          <p:nvPr/>
        </p:nvSpPr>
        <p:spPr>
          <a:xfrm rot="0">
            <a:off x="1028700" y="8881843"/>
            <a:ext cx="9125527" cy="543728"/>
          </a:xfrm>
          <a:prstGeom prst="rect">
            <a:avLst/>
          </a:prstGeom>
        </p:spPr>
        <p:txBody>
          <a:bodyPr anchor="t" rtlCol="false" tIns="0" lIns="0" bIns="0" rIns="0">
            <a:spAutoFit/>
          </a:bodyPr>
          <a:lstStyle/>
          <a:p>
            <a:pPr algn="just">
              <a:lnSpc>
                <a:spcPts val="4050"/>
              </a:lnSpc>
              <a:spcBef>
                <a:spcPct val="0"/>
              </a:spcBef>
            </a:pPr>
            <a:r>
              <a:rPr lang="en-US" sz="2893" i="true">
                <a:solidFill>
                  <a:srgbClr val="FFFFFF"/>
                </a:solidFill>
                <a:latin typeface="Helvetica World Italics"/>
                <a:ea typeface="Helvetica World Italics"/>
                <a:cs typeface="Helvetica World Italics"/>
                <a:sym typeface="Helvetica World Italics"/>
              </a:rPr>
              <a:t>Finding insights </a:t>
            </a:r>
            <a:r>
              <a:rPr lang="en-US" sz="2893" i="true">
                <a:solidFill>
                  <a:srgbClr val="FFFFFF"/>
                </a:solidFill>
                <a:latin typeface="Helvetica World Italics"/>
                <a:ea typeface="Helvetica World Italics"/>
                <a:cs typeface="Helvetica World Italics"/>
                <a:sym typeface="Helvetica World Italics"/>
              </a:rPr>
              <a:t>at Every Step</a:t>
            </a:r>
          </a:p>
        </p:txBody>
      </p:sp>
      <p:sp>
        <p:nvSpPr>
          <p:cNvPr name="TextBox 9" id="9"/>
          <p:cNvSpPr txBox="true"/>
          <p:nvPr/>
        </p:nvSpPr>
        <p:spPr>
          <a:xfrm rot="0">
            <a:off x="1028700" y="725926"/>
            <a:ext cx="2794881" cy="431120"/>
          </a:xfrm>
          <a:prstGeom prst="rect">
            <a:avLst/>
          </a:prstGeom>
        </p:spPr>
        <p:txBody>
          <a:bodyPr anchor="t" rtlCol="false" tIns="0" lIns="0" bIns="0" rIns="0">
            <a:spAutoFit/>
          </a:bodyPr>
          <a:lstStyle/>
          <a:p>
            <a:pPr algn="l">
              <a:lnSpc>
                <a:spcPts val="3537"/>
              </a:lnSpc>
              <a:spcBef>
                <a:spcPct val="0"/>
              </a:spcBef>
            </a:pPr>
            <a:r>
              <a:rPr lang="en-US" b="true" sz="2526" i="true" spc="-101">
                <a:solidFill>
                  <a:srgbClr val="FFFFFF"/>
                </a:solidFill>
                <a:latin typeface="Montserrat Medium Italics"/>
                <a:ea typeface="Montserrat Medium Italics"/>
                <a:cs typeface="Montserrat Medium Italics"/>
                <a:sym typeface="Montserrat Medium Italics"/>
              </a:rPr>
              <a:t>DataWizards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7051A">
                <a:alpha val="100000"/>
              </a:srgbClr>
            </a:gs>
            <a:gs pos="100000">
              <a:srgbClr val="191745">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606531" y="3645211"/>
            <a:ext cx="1399298" cy="628412"/>
          </a:xfrm>
          <a:custGeom>
            <a:avLst/>
            <a:gdLst/>
            <a:ahLst/>
            <a:cxnLst/>
            <a:rect r="r" b="b" t="t" l="l"/>
            <a:pathLst>
              <a:path h="628412" w="1399298">
                <a:moveTo>
                  <a:pt x="0" y="0"/>
                </a:moveTo>
                <a:lnTo>
                  <a:pt x="1399299" y="0"/>
                </a:lnTo>
                <a:lnTo>
                  <a:pt x="1399299" y="628412"/>
                </a:lnTo>
                <a:lnTo>
                  <a:pt x="0" y="6284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60362" y="6761512"/>
            <a:ext cx="2837261" cy="989700"/>
            <a:chOff x="0" y="0"/>
            <a:chExt cx="670267" cy="233804"/>
          </a:xfrm>
        </p:grpSpPr>
        <p:sp>
          <p:nvSpPr>
            <p:cNvPr name="Freeform 4" id="4"/>
            <p:cNvSpPr/>
            <p:nvPr/>
          </p:nvSpPr>
          <p:spPr>
            <a:xfrm flipH="false" flipV="false" rot="0">
              <a:off x="0" y="0"/>
              <a:ext cx="670267" cy="233804"/>
            </a:xfrm>
            <a:custGeom>
              <a:avLst/>
              <a:gdLst/>
              <a:ahLst/>
              <a:cxnLst/>
              <a:rect r="r" b="b" t="t" l="l"/>
              <a:pathLst>
                <a:path h="233804" w="670267">
                  <a:moveTo>
                    <a:pt x="0" y="0"/>
                  </a:moveTo>
                  <a:lnTo>
                    <a:pt x="670267" y="0"/>
                  </a:lnTo>
                  <a:lnTo>
                    <a:pt x="670267" y="233804"/>
                  </a:lnTo>
                  <a:lnTo>
                    <a:pt x="0" y="233804"/>
                  </a:lnTo>
                  <a:close/>
                </a:path>
              </a:pathLst>
            </a:custGeom>
            <a:gradFill rotWithShape="true">
              <a:gsLst>
                <a:gs pos="0">
                  <a:srgbClr val="154069">
                    <a:alpha val="100000"/>
                  </a:srgbClr>
                </a:gs>
                <a:gs pos="50000">
                  <a:srgbClr val="144A7F">
                    <a:alpha val="100000"/>
                  </a:srgbClr>
                </a:gs>
                <a:gs pos="100000">
                  <a:srgbClr val="3C98CB">
                    <a:alpha val="100000"/>
                  </a:srgbClr>
                </a:gs>
              </a:gsLst>
              <a:lin ang="0"/>
            </a:gradFill>
          </p:spPr>
        </p:sp>
        <p:sp>
          <p:nvSpPr>
            <p:cNvPr name="TextBox 5" id="5"/>
            <p:cNvSpPr txBox="true"/>
            <p:nvPr/>
          </p:nvSpPr>
          <p:spPr>
            <a:xfrm>
              <a:off x="0" y="-28575"/>
              <a:ext cx="670267" cy="262379"/>
            </a:xfrm>
            <a:prstGeom prst="rect">
              <a:avLst/>
            </a:prstGeom>
          </p:spPr>
          <p:txBody>
            <a:bodyPr anchor="ctr" rtlCol="false" tIns="50800" lIns="50800" bIns="50800" rIns="50800"/>
            <a:lstStyle/>
            <a:p>
              <a:pPr algn="ctr">
                <a:lnSpc>
                  <a:spcPts val="2235"/>
                </a:lnSpc>
              </a:pPr>
            </a:p>
          </p:txBody>
        </p:sp>
      </p:grpSp>
      <p:sp>
        <p:nvSpPr>
          <p:cNvPr name="TextBox 6" id="6"/>
          <p:cNvSpPr txBox="true"/>
          <p:nvPr/>
        </p:nvSpPr>
        <p:spPr>
          <a:xfrm rot="0">
            <a:off x="8133773" y="1260167"/>
            <a:ext cx="9125527" cy="3340989"/>
          </a:xfrm>
          <a:prstGeom prst="rect">
            <a:avLst/>
          </a:prstGeom>
        </p:spPr>
        <p:txBody>
          <a:bodyPr anchor="t" rtlCol="false" tIns="0" lIns="0" bIns="0" rIns="0">
            <a:spAutoFit/>
          </a:bodyPr>
          <a:lstStyle/>
          <a:p>
            <a:pPr algn="just">
              <a:lnSpc>
                <a:spcPts val="2687"/>
              </a:lnSpc>
            </a:pPr>
            <a:r>
              <a:rPr lang="en-US" sz="2099">
                <a:solidFill>
                  <a:srgbClr val="FFFFFF"/>
                </a:solidFill>
                <a:latin typeface="Poppins"/>
                <a:ea typeface="Poppins"/>
                <a:cs typeface="Poppins"/>
                <a:sym typeface="Poppins"/>
              </a:rPr>
              <a:t>H</a:t>
            </a:r>
            <a:r>
              <a:rPr lang="en-US" sz="2099">
                <a:solidFill>
                  <a:srgbClr val="FFFFFF"/>
                </a:solidFill>
                <a:latin typeface="Poppins"/>
                <a:ea typeface="Poppins"/>
                <a:cs typeface="Poppins"/>
                <a:sym typeface="Poppins"/>
              </a:rPr>
              <a:t>ealthcare organizations today rely heavily on data to improve patient outcomes, enhance clinical quality, and optimize operational efficiency.</a:t>
            </a:r>
          </a:p>
          <a:p>
            <a:pPr algn="just">
              <a:lnSpc>
                <a:spcPts val="2687"/>
              </a:lnSpc>
            </a:pPr>
            <a:r>
              <a:rPr lang="en-US" sz="2099">
                <a:solidFill>
                  <a:srgbClr val="FFFFFF"/>
                </a:solidFill>
                <a:latin typeface="Poppins"/>
                <a:ea typeface="Poppins"/>
                <a:cs typeface="Poppins"/>
                <a:sym typeface="Poppins"/>
              </a:rPr>
              <a:t> This project focuses on analyzing healthcare data to evaluate key clinical performance indicators, identify trends, and support evidence-based decision making. By transforming raw clinical data into meaningful insights, the analysis highlights areas of strength, uncovers potential quality gaps, and provides actionable recommendations to support better patient care and overall healthcare performance.</a:t>
            </a:r>
          </a:p>
        </p:txBody>
      </p:sp>
      <p:sp>
        <p:nvSpPr>
          <p:cNvPr name="TextBox 7" id="7"/>
          <p:cNvSpPr txBox="true"/>
          <p:nvPr/>
        </p:nvSpPr>
        <p:spPr>
          <a:xfrm rot="0">
            <a:off x="1240771" y="1603067"/>
            <a:ext cx="6570755" cy="1813380"/>
          </a:xfrm>
          <a:prstGeom prst="rect">
            <a:avLst/>
          </a:prstGeom>
        </p:spPr>
        <p:txBody>
          <a:bodyPr anchor="t" rtlCol="false" tIns="0" lIns="0" bIns="0" rIns="0">
            <a:spAutoFit/>
          </a:bodyPr>
          <a:lstStyle/>
          <a:p>
            <a:pPr algn="l">
              <a:lnSpc>
                <a:spcPts val="6741"/>
              </a:lnSpc>
            </a:pPr>
            <a:r>
              <a:rPr lang="en-US" sz="8426" spc="-294">
                <a:solidFill>
                  <a:srgbClr val="FFFFFF"/>
                </a:solidFill>
                <a:latin typeface="Helvetica World"/>
                <a:ea typeface="Helvetica World"/>
                <a:cs typeface="Helvetica World"/>
                <a:sym typeface="Helvetica World"/>
              </a:rPr>
              <a:t> </a:t>
            </a:r>
            <a:r>
              <a:rPr lang="en-US" sz="8426" spc="-294">
                <a:solidFill>
                  <a:srgbClr val="FFFFFF"/>
                </a:solidFill>
                <a:latin typeface="Helvetica World"/>
                <a:ea typeface="Helvetica World"/>
                <a:cs typeface="Helvetica World"/>
                <a:sym typeface="Helvetica World"/>
              </a:rPr>
              <a:t>Your H</a:t>
            </a:r>
            <a:r>
              <a:rPr lang="en-US" sz="8426" spc="-294">
                <a:solidFill>
                  <a:srgbClr val="FFFFFF"/>
                </a:solidFill>
                <a:latin typeface="Helvetica World"/>
                <a:ea typeface="Helvetica World"/>
                <a:cs typeface="Helvetica World"/>
                <a:sym typeface="Helvetica World"/>
              </a:rPr>
              <a:t>ealth,</a:t>
            </a:r>
          </a:p>
          <a:p>
            <a:pPr algn="l">
              <a:lnSpc>
                <a:spcPts val="6741"/>
              </a:lnSpc>
            </a:pPr>
            <a:r>
              <a:rPr lang="en-US" sz="8426" spc="-294">
                <a:solidFill>
                  <a:srgbClr val="FFFFFF"/>
                </a:solidFill>
                <a:latin typeface="Helvetica World"/>
                <a:ea typeface="Helvetica World"/>
                <a:cs typeface="Helvetica World"/>
                <a:sym typeface="Helvetica World"/>
              </a:rPr>
              <a:t> Our Priority</a:t>
            </a:r>
          </a:p>
        </p:txBody>
      </p:sp>
      <p:sp>
        <p:nvSpPr>
          <p:cNvPr name="TextBox 8" id="8"/>
          <p:cNvSpPr txBox="true"/>
          <p:nvPr/>
        </p:nvSpPr>
        <p:spPr>
          <a:xfrm rot="0">
            <a:off x="8133773" y="4972050"/>
            <a:ext cx="9125527" cy="3473958"/>
          </a:xfrm>
          <a:prstGeom prst="rect">
            <a:avLst/>
          </a:prstGeom>
        </p:spPr>
        <p:txBody>
          <a:bodyPr anchor="t" rtlCol="false" tIns="0" lIns="0" bIns="0" rIns="0">
            <a:spAutoFit/>
          </a:bodyPr>
          <a:lstStyle/>
          <a:p>
            <a:pPr algn="just">
              <a:lnSpc>
                <a:spcPts val="2540"/>
              </a:lnSpc>
            </a:pPr>
            <a:r>
              <a:rPr lang="en-US" sz="2099">
                <a:solidFill>
                  <a:srgbClr val="FFFFFF"/>
                </a:solidFill>
                <a:latin typeface="Poppins"/>
                <a:ea typeface="Poppins"/>
                <a:cs typeface="Poppins"/>
                <a:sym typeface="Poppins"/>
              </a:rPr>
              <a:t>This</a:t>
            </a:r>
            <a:r>
              <a:rPr lang="en-US" sz="2099">
                <a:solidFill>
                  <a:srgbClr val="FFFFFF"/>
                </a:solidFill>
                <a:latin typeface="Poppins"/>
                <a:ea typeface="Poppins"/>
                <a:cs typeface="Poppins"/>
                <a:sym typeface="Poppins"/>
              </a:rPr>
              <a:t> analysis specifically centers on key clinical quality indicators such as Average Length of Stay, 30-day readmission rates, laboratory test result patterns, medication effectiveness, and condition recovery rates. These KPIs were derived from core healthcare data sources including electronic health records, admission–discharge data, laboratory systems, and medication records. By examining these measures, the project provides a comprehensive view of treatment effectiveness, patient safety, and care efficiency, enabling healthcare stakeholders to monitor performance, identify improvement opportunities, and support data-driven clinical decisions.</a:t>
            </a:r>
          </a:p>
        </p:txBody>
      </p:sp>
      <p:sp>
        <p:nvSpPr>
          <p:cNvPr name="TextBox 9" id="9"/>
          <p:cNvSpPr txBox="true"/>
          <p:nvPr/>
        </p:nvSpPr>
        <p:spPr>
          <a:xfrm rot="0">
            <a:off x="2053061" y="7036750"/>
            <a:ext cx="1723300" cy="402587"/>
          </a:xfrm>
          <a:prstGeom prst="rect">
            <a:avLst/>
          </a:prstGeom>
        </p:spPr>
        <p:txBody>
          <a:bodyPr anchor="t" rtlCol="false" tIns="0" lIns="0" bIns="0" rIns="0">
            <a:spAutoFit/>
          </a:bodyPr>
          <a:lstStyle/>
          <a:p>
            <a:pPr algn="ctr">
              <a:lnSpc>
                <a:spcPts val="3262"/>
              </a:lnSpc>
              <a:spcBef>
                <a:spcPct val="0"/>
              </a:spcBef>
            </a:pPr>
            <a:r>
              <a:rPr lang="en-US" b="true" sz="2330" i="true" spc="-93">
                <a:solidFill>
                  <a:srgbClr val="FFFFFF"/>
                </a:solidFill>
                <a:latin typeface="Montserrat Medium Italics"/>
                <a:ea typeface="Montserrat Medium Italics"/>
                <a:cs typeface="Montserrat Medium Italics"/>
                <a:sym typeface="Montserrat Medium Italics"/>
              </a:rPr>
              <a:t>Next Page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1531" y="1897818"/>
            <a:ext cx="14587367" cy="7820277"/>
            <a:chOff x="0" y="0"/>
            <a:chExt cx="2130917" cy="1142383"/>
          </a:xfrm>
        </p:grpSpPr>
        <p:sp>
          <p:nvSpPr>
            <p:cNvPr name="Freeform 3" id="3"/>
            <p:cNvSpPr/>
            <p:nvPr/>
          </p:nvSpPr>
          <p:spPr>
            <a:xfrm flipH="false" flipV="false" rot="0">
              <a:off x="0" y="0"/>
              <a:ext cx="2130917" cy="1142383"/>
            </a:xfrm>
            <a:custGeom>
              <a:avLst/>
              <a:gdLst/>
              <a:ahLst/>
              <a:cxnLst/>
              <a:rect r="r" b="b" t="t" l="l"/>
              <a:pathLst>
                <a:path h="1142383" w="2130917">
                  <a:moveTo>
                    <a:pt x="7430" y="0"/>
                  </a:moveTo>
                  <a:lnTo>
                    <a:pt x="2123487" y="0"/>
                  </a:lnTo>
                  <a:cubicBezTo>
                    <a:pt x="2125457" y="0"/>
                    <a:pt x="2127347" y="783"/>
                    <a:pt x="2128741" y="2176"/>
                  </a:cubicBezTo>
                  <a:cubicBezTo>
                    <a:pt x="2130134" y="3570"/>
                    <a:pt x="2130917" y="5460"/>
                    <a:pt x="2130917" y="7430"/>
                  </a:cubicBezTo>
                  <a:lnTo>
                    <a:pt x="2130917" y="1134953"/>
                  </a:lnTo>
                  <a:cubicBezTo>
                    <a:pt x="2130917" y="1136924"/>
                    <a:pt x="2130134" y="1138813"/>
                    <a:pt x="2128741" y="1140207"/>
                  </a:cubicBezTo>
                  <a:cubicBezTo>
                    <a:pt x="2127347" y="1141600"/>
                    <a:pt x="2125457" y="1142383"/>
                    <a:pt x="2123487" y="1142383"/>
                  </a:cubicBezTo>
                  <a:lnTo>
                    <a:pt x="7430" y="1142383"/>
                  </a:lnTo>
                  <a:cubicBezTo>
                    <a:pt x="5460" y="1142383"/>
                    <a:pt x="3570" y="1141600"/>
                    <a:pt x="2176" y="1140207"/>
                  </a:cubicBezTo>
                  <a:cubicBezTo>
                    <a:pt x="783" y="1138813"/>
                    <a:pt x="0" y="1136924"/>
                    <a:pt x="0" y="1134953"/>
                  </a:cubicBezTo>
                  <a:lnTo>
                    <a:pt x="0" y="7430"/>
                  </a:lnTo>
                  <a:cubicBezTo>
                    <a:pt x="0" y="5460"/>
                    <a:pt x="783" y="3570"/>
                    <a:pt x="2176" y="2176"/>
                  </a:cubicBezTo>
                  <a:cubicBezTo>
                    <a:pt x="3570" y="783"/>
                    <a:pt x="5460" y="0"/>
                    <a:pt x="7430" y="0"/>
                  </a:cubicBezTo>
                  <a:close/>
                </a:path>
              </a:pathLst>
            </a:custGeom>
            <a:gradFill rotWithShape="true">
              <a:gsLst>
                <a:gs pos="0">
                  <a:srgbClr val="154069">
                    <a:alpha val="100000"/>
                  </a:srgbClr>
                </a:gs>
                <a:gs pos="50000">
                  <a:srgbClr val="144A7F">
                    <a:alpha val="100000"/>
                  </a:srgbClr>
                </a:gs>
                <a:gs pos="100000">
                  <a:srgbClr val="3C98CB">
                    <a:alpha val="100000"/>
                  </a:srgbClr>
                </a:gs>
              </a:gsLst>
              <a:path path="circle">
                <a:fillToRect l="0" r="100000" t="0" b="100000"/>
              </a:path>
              <a:tileRect r="0" l="-100000" b="0" t="-100000"/>
            </a:gradFill>
            <a:ln w="12700">
              <a:solidFill>
                <a:srgbClr val="000000"/>
              </a:solidFill>
            </a:ln>
          </p:spPr>
        </p:sp>
      </p:grpSp>
      <p:sp>
        <p:nvSpPr>
          <p:cNvPr name="Freeform 4" id="4"/>
          <p:cNvSpPr/>
          <p:nvPr/>
        </p:nvSpPr>
        <p:spPr>
          <a:xfrm flipH="false" flipV="false" rot="0">
            <a:off x="2012733" y="1975206"/>
            <a:ext cx="14124014" cy="7655637"/>
          </a:xfrm>
          <a:custGeom>
            <a:avLst/>
            <a:gdLst/>
            <a:ahLst/>
            <a:cxnLst/>
            <a:rect r="r" b="b" t="t" l="l"/>
            <a:pathLst>
              <a:path h="7655637" w="14124014">
                <a:moveTo>
                  <a:pt x="0" y="0"/>
                </a:moveTo>
                <a:lnTo>
                  <a:pt x="14124014" y="0"/>
                </a:lnTo>
                <a:lnTo>
                  <a:pt x="14124014" y="7655637"/>
                </a:lnTo>
                <a:lnTo>
                  <a:pt x="0" y="7655637"/>
                </a:lnTo>
                <a:lnTo>
                  <a:pt x="0" y="0"/>
                </a:lnTo>
                <a:close/>
              </a:path>
            </a:pathLst>
          </a:custGeom>
          <a:blipFill>
            <a:blip r:embed="rId2"/>
            <a:stretch>
              <a:fillRect l="0" t="-2274" r="0" b="-579"/>
            </a:stretch>
          </a:blipFill>
        </p:spPr>
      </p:sp>
      <p:sp>
        <p:nvSpPr>
          <p:cNvPr name="TextBox 5" id="5"/>
          <p:cNvSpPr txBox="true"/>
          <p:nvPr/>
        </p:nvSpPr>
        <p:spPr>
          <a:xfrm rot="0">
            <a:off x="1028700" y="661147"/>
            <a:ext cx="9350758" cy="966551"/>
          </a:xfrm>
          <a:prstGeom prst="rect">
            <a:avLst/>
          </a:prstGeom>
        </p:spPr>
        <p:txBody>
          <a:bodyPr anchor="t" rtlCol="false" tIns="0" lIns="0" bIns="0" rIns="0">
            <a:spAutoFit/>
          </a:bodyPr>
          <a:lstStyle/>
          <a:p>
            <a:pPr algn="l">
              <a:lnSpc>
                <a:spcPts val="6821"/>
              </a:lnSpc>
            </a:pPr>
            <a:r>
              <a:rPr lang="en-US" sz="8526" spc="-298">
                <a:solidFill>
                  <a:srgbClr val="000000"/>
                </a:solidFill>
                <a:latin typeface="Helvetica World"/>
                <a:ea typeface="Helvetica World"/>
                <a:cs typeface="Helvetica World"/>
                <a:sym typeface="Helvetica World"/>
              </a:rPr>
              <a:t>Financial Analysis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1531" y="1897818"/>
            <a:ext cx="14587367" cy="7820277"/>
            <a:chOff x="0" y="0"/>
            <a:chExt cx="2130917" cy="1142383"/>
          </a:xfrm>
        </p:grpSpPr>
        <p:sp>
          <p:nvSpPr>
            <p:cNvPr name="Freeform 3" id="3"/>
            <p:cNvSpPr/>
            <p:nvPr/>
          </p:nvSpPr>
          <p:spPr>
            <a:xfrm flipH="false" flipV="false" rot="0">
              <a:off x="0" y="0"/>
              <a:ext cx="2130917" cy="1142383"/>
            </a:xfrm>
            <a:custGeom>
              <a:avLst/>
              <a:gdLst/>
              <a:ahLst/>
              <a:cxnLst/>
              <a:rect r="r" b="b" t="t" l="l"/>
              <a:pathLst>
                <a:path h="1142383" w="2130917">
                  <a:moveTo>
                    <a:pt x="7430" y="0"/>
                  </a:moveTo>
                  <a:lnTo>
                    <a:pt x="2123487" y="0"/>
                  </a:lnTo>
                  <a:cubicBezTo>
                    <a:pt x="2125457" y="0"/>
                    <a:pt x="2127347" y="783"/>
                    <a:pt x="2128741" y="2176"/>
                  </a:cubicBezTo>
                  <a:cubicBezTo>
                    <a:pt x="2130134" y="3570"/>
                    <a:pt x="2130917" y="5460"/>
                    <a:pt x="2130917" y="7430"/>
                  </a:cubicBezTo>
                  <a:lnTo>
                    <a:pt x="2130917" y="1134953"/>
                  </a:lnTo>
                  <a:cubicBezTo>
                    <a:pt x="2130917" y="1136924"/>
                    <a:pt x="2130134" y="1138813"/>
                    <a:pt x="2128741" y="1140207"/>
                  </a:cubicBezTo>
                  <a:cubicBezTo>
                    <a:pt x="2127347" y="1141600"/>
                    <a:pt x="2125457" y="1142383"/>
                    <a:pt x="2123487" y="1142383"/>
                  </a:cubicBezTo>
                  <a:lnTo>
                    <a:pt x="7430" y="1142383"/>
                  </a:lnTo>
                  <a:cubicBezTo>
                    <a:pt x="5460" y="1142383"/>
                    <a:pt x="3570" y="1141600"/>
                    <a:pt x="2176" y="1140207"/>
                  </a:cubicBezTo>
                  <a:cubicBezTo>
                    <a:pt x="783" y="1138813"/>
                    <a:pt x="0" y="1136924"/>
                    <a:pt x="0" y="1134953"/>
                  </a:cubicBezTo>
                  <a:lnTo>
                    <a:pt x="0" y="7430"/>
                  </a:lnTo>
                  <a:cubicBezTo>
                    <a:pt x="0" y="5460"/>
                    <a:pt x="783" y="3570"/>
                    <a:pt x="2176" y="2176"/>
                  </a:cubicBezTo>
                  <a:cubicBezTo>
                    <a:pt x="3570" y="783"/>
                    <a:pt x="5460" y="0"/>
                    <a:pt x="7430" y="0"/>
                  </a:cubicBezTo>
                  <a:close/>
                </a:path>
              </a:pathLst>
            </a:custGeom>
            <a:gradFill rotWithShape="true">
              <a:gsLst>
                <a:gs pos="0">
                  <a:srgbClr val="154069">
                    <a:alpha val="100000"/>
                  </a:srgbClr>
                </a:gs>
                <a:gs pos="50000">
                  <a:srgbClr val="144A7F">
                    <a:alpha val="100000"/>
                  </a:srgbClr>
                </a:gs>
                <a:gs pos="100000">
                  <a:srgbClr val="3C98CB">
                    <a:alpha val="100000"/>
                  </a:srgbClr>
                </a:gs>
              </a:gsLst>
              <a:path path="circle">
                <a:fillToRect l="0" r="100000" t="0" b="100000"/>
              </a:path>
              <a:tileRect r="0" l="-100000" b="0" t="-100000"/>
            </a:gradFill>
            <a:ln w="12700">
              <a:solidFill>
                <a:srgbClr val="000000"/>
              </a:solidFill>
            </a:ln>
          </p:spPr>
        </p:sp>
      </p:grpSp>
      <p:sp>
        <p:nvSpPr>
          <p:cNvPr name="Freeform 4" id="4"/>
          <p:cNvSpPr/>
          <p:nvPr/>
        </p:nvSpPr>
        <p:spPr>
          <a:xfrm flipH="false" flipV="false" rot="0">
            <a:off x="1978296" y="2033189"/>
            <a:ext cx="14239832" cy="7434904"/>
          </a:xfrm>
          <a:custGeom>
            <a:avLst/>
            <a:gdLst/>
            <a:ahLst/>
            <a:cxnLst/>
            <a:rect r="r" b="b" t="t" l="l"/>
            <a:pathLst>
              <a:path h="7434904" w="14239832">
                <a:moveTo>
                  <a:pt x="0" y="0"/>
                </a:moveTo>
                <a:lnTo>
                  <a:pt x="14239832" y="0"/>
                </a:lnTo>
                <a:lnTo>
                  <a:pt x="14239832" y="7434904"/>
                </a:lnTo>
                <a:lnTo>
                  <a:pt x="0" y="7434904"/>
                </a:lnTo>
                <a:lnTo>
                  <a:pt x="0" y="0"/>
                </a:lnTo>
                <a:close/>
              </a:path>
            </a:pathLst>
          </a:custGeom>
          <a:blipFill>
            <a:blip r:embed="rId2"/>
            <a:stretch>
              <a:fillRect l="0" t="-1867" r="0" b="-6105"/>
            </a:stretch>
          </a:blipFill>
        </p:spPr>
      </p:sp>
      <p:sp>
        <p:nvSpPr>
          <p:cNvPr name="TextBox 5" id="5"/>
          <p:cNvSpPr txBox="true"/>
          <p:nvPr/>
        </p:nvSpPr>
        <p:spPr>
          <a:xfrm rot="0">
            <a:off x="1028700" y="661147"/>
            <a:ext cx="9350758" cy="966551"/>
          </a:xfrm>
          <a:prstGeom prst="rect">
            <a:avLst/>
          </a:prstGeom>
        </p:spPr>
        <p:txBody>
          <a:bodyPr anchor="t" rtlCol="false" tIns="0" lIns="0" bIns="0" rIns="0">
            <a:spAutoFit/>
          </a:bodyPr>
          <a:lstStyle/>
          <a:p>
            <a:pPr algn="l">
              <a:lnSpc>
                <a:spcPts val="6821"/>
              </a:lnSpc>
            </a:pPr>
            <a:r>
              <a:rPr lang="en-US" sz="8526" spc="-298">
                <a:solidFill>
                  <a:srgbClr val="000000"/>
                </a:solidFill>
                <a:latin typeface="Helvetica World"/>
                <a:ea typeface="Helvetica World"/>
                <a:cs typeface="Helvetica World"/>
                <a:sym typeface="Helvetica World"/>
              </a:rPr>
              <a:t>Financial Analysis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1531" y="1897818"/>
            <a:ext cx="14587367" cy="7820277"/>
            <a:chOff x="0" y="0"/>
            <a:chExt cx="2130917" cy="1142383"/>
          </a:xfrm>
        </p:grpSpPr>
        <p:sp>
          <p:nvSpPr>
            <p:cNvPr name="Freeform 3" id="3"/>
            <p:cNvSpPr/>
            <p:nvPr/>
          </p:nvSpPr>
          <p:spPr>
            <a:xfrm flipH="false" flipV="false" rot="0">
              <a:off x="0" y="0"/>
              <a:ext cx="2130917" cy="1142383"/>
            </a:xfrm>
            <a:custGeom>
              <a:avLst/>
              <a:gdLst/>
              <a:ahLst/>
              <a:cxnLst/>
              <a:rect r="r" b="b" t="t" l="l"/>
              <a:pathLst>
                <a:path h="1142383" w="2130917">
                  <a:moveTo>
                    <a:pt x="7430" y="0"/>
                  </a:moveTo>
                  <a:lnTo>
                    <a:pt x="2123487" y="0"/>
                  </a:lnTo>
                  <a:cubicBezTo>
                    <a:pt x="2125457" y="0"/>
                    <a:pt x="2127347" y="783"/>
                    <a:pt x="2128741" y="2176"/>
                  </a:cubicBezTo>
                  <a:cubicBezTo>
                    <a:pt x="2130134" y="3570"/>
                    <a:pt x="2130917" y="5460"/>
                    <a:pt x="2130917" y="7430"/>
                  </a:cubicBezTo>
                  <a:lnTo>
                    <a:pt x="2130917" y="1134953"/>
                  </a:lnTo>
                  <a:cubicBezTo>
                    <a:pt x="2130917" y="1136924"/>
                    <a:pt x="2130134" y="1138813"/>
                    <a:pt x="2128741" y="1140207"/>
                  </a:cubicBezTo>
                  <a:cubicBezTo>
                    <a:pt x="2127347" y="1141600"/>
                    <a:pt x="2125457" y="1142383"/>
                    <a:pt x="2123487" y="1142383"/>
                  </a:cubicBezTo>
                  <a:lnTo>
                    <a:pt x="7430" y="1142383"/>
                  </a:lnTo>
                  <a:cubicBezTo>
                    <a:pt x="5460" y="1142383"/>
                    <a:pt x="3570" y="1141600"/>
                    <a:pt x="2176" y="1140207"/>
                  </a:cubicBezTo>
                  <a:cubicBezTo>
                    <a:pt x="783" y="1138813"/>
                    <a:pt x="0" y="1136924"/>
                    <a:pt x="0" y="1134953"/>
                  </a:cubicBezTo>
                  <a:lnTo>
                    <a:pt x="0" y="7430"/>
                  </a:lnTo>
                  <a:cubicBezTo>
                    <a:pt x="0" y="5460"/>
                    <a:pt x="783" y="3570"/>
                    <a:pt x="2176" y="2176"/>
                  </a:cubicBezTo>
                  <a:cubicBezTo>
                    <a:pt x="3570" y="783"/>
                    <a:pt x="5460" y="0"/>
                    <a:pt x="7430" y="0"/>
                  </a:cubicBezTo>
                  <a:close/>
                </a:path>
              </a:pathLst>
            </a:custGeom>
            <a:gradFill rotWithShape="true">
              <a:gsLst>
                <a:gs pos="0">
                  <a:srgbClr val="154069">
                    <a:alpha val="100000"/>
                  </a:srgbClr>
                </a:gs>
                <a:gs pos="50000">
                  <a:srgbClr val="144A7F">
                    <a:alpha val="100000"/>
                  </a:srgbClr>
                </a:gs>
                <a:gs pos="100000">
                  <a:srgbClr val="3C98CB">
                    <a:alpha val="100000"/>
                  </a:srgbClr>
                </a:gs>
              </a:gsLst>
              <a:path path="circle">
                <a:fillToRect l="0" r="100000" t="0" b="100000"/>
              </a:path>
              <a:tileRect r="0" l="-100000" b="0" t="-100000"/>
            </a:gradFill>
            <a:ln w="12700">
              <a:solidFill>
                <a:srgbClr val="000000"/>
              </a:solidFill>
            </a:ln>
          </p:spPr>
        </p:sp>
      </p:grpSp>
      <p:sp>
        <p:nvSpPr>
          <p:cNvPr name="Freeform 4" id="4"/>
          <p:cNvSpPr/>
          <p:nvPr/>
        </p:nvSpPr>
        <p:spPr>
          <a:xfrm flipH="false" flipV="false" rot="0">
            <a:off x="2041406" y="2035585"/>
            <a:ext cx="14148846" cy="7544744"/>
          </a:xfrm>
          <a:custGeom>
            <a:avLst/>
            <a:gdLst/>
            <a:ahLst/>
            <a:cxnLst/>
            <a:rect r="r" b="b" t="t" l="l"/>
            <a:pathLst>
              <a:path h="7544744" w="14148846">
                <a:moveTo>
                  <a:pt x="0" y="0"/>
                </a:moveTo>
                <a:lnTo>
                  <a:pt x="14148846" y="0"/>
                </a:lnTo>
                <a:lnTo>
                  <a:pt x="14148846" y="7544744"/>
                </a:lnTo>
                <a:lnTo>
                  <a:pt x="0" y="7544744"/>
                </a:lnTo>
                <a:lnTo>
                  <a:pt x="0" y="0"/>
                </a:lnTo>
                <a:close/>
              </a:path>
            </a:pathLst>
          </a:custGeom>
          <a:blipFill>
            <a:blip r:embed="rId2"/>
            <a:stretch>
              <a:fillRect l="0" t="-2157" r="0" b="-2157"/>
            </a:stretch>
          </a:blipFill>
        </p:spPr>
      </p:sp>
      <p:sp>
        <p:nvSpPr>
          <p:cNvPr name="TextBox 5" id="5"/>
          <p:cNvSpPr txBox="true"/>
          <p:nvPr/>
        </p:nvSpPr>
        <p:spPr>
          <a:xfrm rot="0">
            <a:off x="1028700" y="661147"/>
            <a:ext cx="9350758" cy="966551"/>
          </a:xfrm>
          <a:prstGeom prst="rect">
            <a:avLst/>
          </a:prstGeom>
        </p:spPr>
        <p:txBody>
          <a:bodyPr anchor="t" rtlCol="false" tIns="0" lIns="0" bIns="0" rIns="0">
            <a:spAutoFit/>
          </a:bodyPr>
          <a:lstStyle/>
          <a:p>
            <a:pPr algn="l">
              <a:lnSpc>
                <a:spcPts val="6821"/>
              </a:lnSpc>
            </a:pPr>
            <a:r>
              <a:rPr lang="en-US" sz="8526" spc="-298">
                <a:solidFill>
                  <a:srgbClr val="000000"/>
                </a:solidFill>
                <a:latin typeface="Helvetica World"/>
                <a:ea typeface="Helvetica World"/>
                <a:cs typeface="Helvetica World"/>
                <a:sym typeface="Helvetica World"/>
              </a:rPr>
              <a:t>Financial Analysis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3702973"/>
            <a:ext cx="5209374" cy="5555327"/>
            <a:chOff x="0" y="0"/>
            <a:chExt cx="1372016" cy="1463131"/>
          </a:xfrm>
        </p:grpSpPr>
        <p:sp>
          <p:nvSpPr>
            <p:cNvPr name="Freeform 3" id="3"/>
            <p:cNvSpPr/>
            <p:nvPr/>
          </p:nvSpPr>
          <p:spPr>
            <a:xfrm flipH="false" flipV="false" rot="0">
              <a:off x="0" y="0"/>
              <a:ext cx="1372016" cy="1463131"/>
            </a:xfrm>
            <a:custGeom>
              <a:avLst/>
              <a:gdLst/>
              <a:ahLst/>
              <a:cxnLst/>
              <a:rect r="r" b="b" t="t" l="l"/>
              <a:pathLst>
                <a:path h="1463131" w="1372016">
                  <a:moveTo>
                    <a:pt x="56474" y="0"/>
                  </a:moveTo>
                  <a:lnTo>
                    <a:pt x="1315542" y="0"/>
                  </a:lnTo>
                  <a:cubicBezTo>
                    <a:pt x="1330520" y="0"/>
                    <a:pt x="1344884" y="5950"/>
                    <a:pt x="1355475" y="16541"/>
                  </a:cubicBezTo>
                  <a:cubicBezTo>
                    <a:pt x="1366066" y="27132"/>
                    <a:pt x="1372016" y="41496"/>
                    <a:pt x="1372016" y="56474"/>
                  </a:cubicBezTo>
                  <a:lnTo>
                    <a:pt x="1372016" y="1406658"/>
                  </a:lnTo>
                  <a:cubicBezTo>
                    <a:pt x="1372016" y="1421635"/>
                    <a:pt x="1366066" y="1436000"/>
                    <a:pt x="1355475" y="1446591"/>
                  </a:cubicBezTo>
                  <a:cubicBezTo>
                    <a:pt x="1344884" y="1457181"/>
                    <a:pt x="1330520" y="1463131"/>
                    <a:pt x="1315542" y="1463131"/>
                  </a:cubicBezTo>
                  <a:lnTo>
                    <a:pt x="56474" y="1463131"/>
                  </a:lnTo>
                  <a:cubicBezTo>
                    <a:pt x="41496" y="1463131"/>
                    <a:pt x="27132" y="1457181"/>
                    <a:pt x="16541" y="1446591"/>
                  </a:cubicBezTo>
                  <a:cubicBezTo>
                    <a:pt x="5950" y="1436000"/>
                    <a:pt x="0" y="1421635"/>
                    <a:pt x="0" y="1406658"/>
                  </a:cubicBezTo>
                  <a:lnTo>
                    <a:pt x="0" y="56474"/>
                  </a:lnTo>
                  <a:cubicBezTo>
                    <a:pt x="0" y="41496"/>
                    <a:pt x="5950" y="27132"/>
                    <a:pt x="16541" y="16541"/>
                  </a:cubicBezTo>
                  <a:cubicBezTo>
                    <a:pt x="27132" y="5950"/>
                    <a:pt x="41496" y="0"/>
                    <a:pt x="56474" y="0"/>
                  </a:cubicBezTo>
                  <a:close/>
                </a:path>
              </a:pathLst>
            </a:custGeom>
            <a:solidFill>
              <a:srgbClr val="154069"/>
            </a:solidFill>
          </p:spPr>
        </p:sp>
        <p:sp>
          <p:nvSpPr>
            <p:cNvPr name="TextBox 4" id="4"/>
            <p:cNvSpPr txBox="true"/>
            <p:nvPr/>
          </p:nvSpPr>
          <p:spPr>
            <a:xfrm>
              <a:off x="0" y="-28575"/>
              <a:ext cx="1372016" cy="1491706"/>
            </a:xfrm>
            <a:prstGeom prst="rect">
              <a:avLst/>
            </a:prstGeom>
          </p:spPr>
          <p:txBody>
            <a:bodyPr anchor="ctr" rtlCol="false" tIns="50800" lIns="50800" bIns="50800" rIns="50800"/>
            <a:lstStyle/>
            <a:p>
              <a:pPr algn="ctr">
                <a:lnSpc>
                  <a:spcPts val="2235"/>
                </a:lnSpc>
              </a:pPr>
            </a:p>
          </p:txBody>
        </p:sp>
      </p:grpSp>
      <p:grpSp>
        <p:nvGrpSpPr>
          <p:cNvPr name="Group 5" id="5"/>
          <p:cNvGrpSpPr/>
          <p:nvPr/>
        </p:nvGrpSpPr>
        <p:grpSpPr>
          <a:xfrm rot="0">
            <a:off x="6539313" y="3702973"/>
            <a:ext cx="5209374" cy="5555327"/>
            <a:chOff x="0" y="0"/>
            <a:chExt cx="1372016" cy="1463131"/>
          </a:xfrm>
        </p:grpSpPr>
        <p:sp>
          <p:nvSpPr>
            <p:cNvPr name="Freeform 6" id="6"/>
            <p:cNvSpPr/>
            <p:nvPr/>
          </p:nvSpPr>
          <p:spPr>
            <a:xfrm flipH="false" flipV="false" rot="0">
              <a:off x="0" y="0"/>
              <a:ext cx="1372016" cy="1463131"/>
            </a:xfrm>
            <a:custGeom>
              <a:avLst/>
              <a:gdLst/>
              <a:ahLst/>
              <a:cxnLst/>
              <a:rect r="r" b="b" t="t" l="l"/>
              <a:pathLst>
                <a:path h="1463131" w="1372016">
                  <a:moveTo>
                    <a:pt x="56474" y="0"/>
                  </a:moveTo>
                  <a:lnTo>
                    <a:pt x="1315542" y="0"/>
                  </a:lnTo>
                  <a:cubicBezTo>
                    <a:pt x="1330520" y="0"/>
                    <a:pt x="1344884" y="5950"/>
                    <a:pt x="1355475" y="16541"/>
                  </a:cubicBezTo>
                  <a:cubicBezTo>
                    <a:pt x="1366066" y="27132"/>
                    <a:pt x="1372016" y="41496"/>
                    <a:pt x="1372016" y="56474"/>
                  </a:cubicBezTo>
                  <a:lnTo>
                    <a:pt x="1372016" y="1406658"/>
                  </a:lnTo>
                  <a:cubicBezTo>
                    <a:pt x="1372016" y="1421635"/>
                    <a:pt x="1366066" y="1436000"/>
                    <a:pt x="1355475" y="1446591"/>
                  </a:cubicBezTo>
                  <a:cubicBezTo>
                    <a:pt x="1344884" y="1457181"/>
                    <a:pt x="1330520" y="1463131"/>
                    <a:pt x="1315542" y="1463131"/>
                  </a:cubicBezTo>
                  <a:lnTo>
                    <a:pt x="56474" y="1463131"/>
                  </a:lnTo>
                  <a:cubicBezTo>
                    <a:pt x="41496" y="1463131"/>
                    <a:pt x="27132" y="1457181"/>
                    <a:pt x="16541" y="1446591"/>
                  </a:cubicBezTo>
                  <a:cubicBezTo>
                    <a:pt x="5950" y="1436000"/>
                    <a:pt x="0" y="1421635"/>
                    <a:pt x="0" y="1406658"/>
                  </a:cubicBezTo>
                  <a:lnTo>
                    <a:pt x="0" y="56474"/>
                  </a:lnTo>
                  <a:cubicBezTo>
                    <a:pt x="0" y="41496"/>
                    <a:pt x="5950" y="27132"/>
                    <a:pt x="16541" y="16541"/>
                  </a:cubicBezTo>
                  <a:cubicBezTo>
                    <a:pt x="27132" y="5950"/>
                    <a:pt x="41496" y="0"/>
                    <a:pt x="56474" y="0"/>
                  </a:cubicBezTo>
                  <a:close/>
                </a:path>
              </a:pathLst>
            </a:custGeom>
            <a:solidFill>
              <a:srgbClr val="154069">
                <a:alpha val="91765"/>
              </a:srgbClr>
            </a:solidFill>
          </p:spPr>
        </p:sp>
        <p:sp>
          <p:nvSpPr>
            <p:cNvPr name="TextBox 7" id="7"/>
            <p:cNvSpPr txBox="true"/>
            <p:nvPr/>
          </p:nvSpPr>
          <p:spPr>
            <a:xfrm>
              <a:off x="0" y="-28575"/>
              <a:ext cx="1372016" cy="1491706"/>
            </a:xfrm>
            <a:prstGeom prst="rect">
              <a:avLst/>
            </a:prstGeom>
          </p:spPr>
          <p:txBody>
            <a:bodyPr anchor="ctr" rtlCol="false" tIns="50800" lIns="50800" bIns="50800" rIns="50800"/>
            <a:lstStyle/>
            <a:p>
              <a:pPr algn="ctr">
                <a:lnSpc>
                  <a:spcPts val="2235"/>
                </a:lnSpc>
              </a:pPr>
            </a:p>
          </p:txBody>
        </p:sp>
      </p:grpSp>
      <p:grpSp>
        <p:nvGrpSpPr>
          <p:cNvPr name="Group 8" id="8"/>
          <p:cNvGrpSpPr/>
          <p:nvPr/>
        </p:nvGrpSpPr>
        <p:grpSpPr>
          <a:xfrm rot="0">
            <a:off x="12049926" y="3702973"/>
            <a:ext cx="5209374" cy="5555327"/>
            <a:chOff x="0" y="0"/>
            <a:chExt cx="1372016" cy="1463131"/>
          </a:xfrm>
        </p:grpSpPr>
        <p:sp>
          <p:nvSpPr>
            <p:cNvPr name="Freeform 9" id="9"/>
            <p:cNvSpPr/>
            <p:nvPr/>
          </p:nvSpPr>
          <p:spPr>
            <a:xfrm flipH="false" flipV="false" rot="0">
              <a:off x="0" y="0"/>
              <a:ext cx="1372016" cy="1463131"/>
            </a:xfrm>
            <a:custGeom>
              <a:avLst/>
              <a:gdLst/>
              <a:ahLst/>
              <a:cxnLst/>
              <a:rect r="r" b="b" t="t" l="l"/>
              <a:pathLst>
                <a:path h="1463131" w="1372016">
                  <a:moveTo>
                    <a:pt x="56474" y="0"/>
                  </a:moveTo>
                  <a:lnTo>
                    <a:pt x="1315542" y="0"/>
                  </a:lnTo>
                  <a:cubicBezTo>
                    <a:pt x="1330520" y="0"/>
                    <a:pt x="1344884" y="5950"/>
                    <a:pt x="1355475" y="16541"/>
                  </a:cubicBezTo>
                  <a:cubicBezTo>
                    <a:pt x="1366066" y="27132"/>
                    <a:pt x="1372016" y="41496"/>
                    <a:pt x="1372016" y="56474"/>
                  </a:cubicBezTo>
                  <a:lnTo>
                    <a:pt x="1372016" y="1406658"/>
                  </a:lnTo>
                  <a:cubicBezTo>
                    <a:pt x="1372016" y="1421635"/>
                    <a:pt x="1366066" y="1436000"/>
                    <a:pt x="1355475" y="1446591"/>
                  </a:cubicBezTo>
                  <a:cubicBezTo>
                    <a:pt x="1344884" y="1457181"/>
                    <a:pt x="1330520" y="1463131"/>
                    <a:pt x="1315542" y="1463131"/>
                  </a:cubicBezTo>
                  <a:lnTo>
                    <a:pt x="56474" y="1463131"/>
                  </a:lnTo>
                  <a:cubicBezTo>
                    <a:pt x="41496" y="1463131"/>
                    <a:pt x="27132" y="1457181"/>
                    <a:pt x="16541" y="1446591"/>
                  </a:cubicBezTo>
                  <a:cubicBezTo>
                    <a:pt x="5950" y="1436000"/>
                    <a:pt x="0" y="1421635"/>
                    <a:pt x="0" y="1406658"/>
                  </a:cubicBezTo>
                  <a:lnTo>
                    <a:pt x="0" y="56474"/>
                  </a:lnTo>
                  <a:cubicBezTo>
                    <a:pt x="0" y="41496"/>
                    <a:pt x="5950" y="27132"/>
                    <a:pt x="16541" y="16541"/>
                  </a:cubicBezTo>
                  <a:cubicBezTo>
                    <a:pt x="27132" y="5950"/>
                    <a:pt x="41496" y="0"/>
                    <a:pt x="56474" y="0"/>
                  </a:cubicBezTo>
                  <a:close/>
                </a:path>
              </a:pathLst>
            </a:custGeom>
            <a:solidFill>
              <a:srgbClr val="154069">
                <a:alpha val="74902"/>
              </a:srgbClr>
            </a:solidFill>
          </p:spPr>
        </p:sp>
        <p:sp>
          <p:nvSpPr>
            <p:cNvPr name="TextBox 10" id="10"/>
            <p:cNvSpPr txBox="true"/>
            <p:nvPr/>
          </p:nvSpPr>
          <p:spPr>
            <a:xfrm>
              <a:off x="0" y="-28575"/>
              <a:ext cx="1372016" cy="1491706"/>
            </a:xfrm>
            <a:prstGeom prst="rect">
              <a:avLst/>
            </a:prstGeom>
          </p:spPr>
          <p:txBody>
            <a:bodyPr anchor="ctr" rtlCol="false" tIns="50800" lIns="50800" bIns="50800" rIns="50800"/>
            <a:lstStyle/>
            <a:p>
              <a:pPr algn="ctr">
                <a:lnSpc>
                  <a:spcPts val="2235"/>
                </a:lnSpc>
              </a:pPr>
            </a:p>
          </p:txBody>
        </p:sp>
      </p:grpSp>
      <p:grpSp>
        <p:nvGrpSpPr>
          <p:cNvPr name="Group 11" id="11"/>
          <p:cNvGrpSpPr/>
          <p:nvPr/>
        </p:nvGrpSpPr>
        <p:grpSpPr>
          <a:xfrm rot="0">
            <a:off x="1353444" y="4196366"/>
            <a:ext cx="715252" cy="715252"/>
            <a:chOff x="0" y="0"/>
            <a:chExt cx="188379" cy="188379"/>
          </a:xfrm>
        </p:grpSpPr>
        <p:sp>
          <p:nvSpPr>
            <p:cNvPr name="Freeform 12" id="12"/>
            <p:cNvSpPr/>
            <p:nvPr/>
          </p:nvSpPr>
          <p:spPr>
            <a:xfrm flipH="false" flipV="false" rot="0">
              <a:off x="0" y="0"/>
              <a:ext cx="188379" cy="188379"/>
            </a:xfrm>
            <a:custGeom>
              <a:avLst/>
              <a:gdLst/>
              <a:ahLst/>
              <a:cxnLst/>
              <a:rect r="r" b="b" t="t" l="l"/>
              <a:pathLst>
                <a:path h="188379" w="188379">
                  <a:moveTo>
                    <a:pt x="94190" y="0"/>
                  </a:moveTo>
                  <a:lnTo>
                    <a:pt x="94190" y="0"/>
                  </a:lnTo>
                  <a:cubicBezTo>
                    <a:pt x="119170" y="0"/>
                    <a:pt x="143128" y="9924"/>
                    <a:pt x="160792" y="27587"/>
                  </a:cubicBezTo>
                  <a:cubicBezTo>
                    <a:pt x="178456" y="45251"/>
                    <a:pt x="188379" y="69209"/>
                    <a:pt x="188379" y="94190"/>
                  </a:cubicBezTo>
                  <a:lnTo>
                    <a:pt x="188379" y="94190"/>
                  </a:lnTo>
                  <a:cubicBezTo>
                    <a:pt x="188379" y="119170"/>
                    <a:pt x="178456" y="143128"/>
                    <a:pt x="160792" y="160792"/>
                  </a:cubicBezTo>
                  <a:cubicBezTo>
                    <a:pt x="143128" y="178456"/>
                    <a:pt x="119170" y="188379"/>
                    <a:pt x="94190" y="188379"/>
                  </a:cubicBezTo>
                  <a:lnTo>
                    <a:pt x="94190" y="188379"/>
                  </a:lnTo>
                  <a:cubicBezTo>
                    <a:pt x="69209" y="188379"/>
                    <a:pt x="45251" y="178456"/>
                    <a:pt x="27587" y="160792"/>
                  </a:cubicBezTo>
                  <a:cubicBezTo>
                    <a:pt x="9924" y="143128"/>
                    <a:pt x="0" y="119170"/>
                    <a:pt x="0" y="94190"/>
                  </a:cubicBezTo>
                  <a:lnTo>
                    <a:pt x="0" y="94190"/>
                  </a:lnTo>
                  <a:cubicBezTo>
                    <a:pt x="0" y="69209"/>
                    <a:pt x="9924" y="45251"/>
                    <a:pt x="27587" y="27587"/>
                  </a:cubicBezTo>
                  <a:cubicBezTo>
                    <a:pt x="45251" y="9924"/>
                    <a:pt x="69209" y="0"/>
                    <a:pt x="94190" y="0"/>
                  </a:cubicBezTo>
                  <a:close/>
                </a:path>
              </a:pathLst>
            </a:custGeom>
            <a:solidFill>
              <a:srgbClr val="FFFFFF"/>
            </a:solidFill>
          </p:spPr>
        </p:sp>
        <p:sp>
          <p:nvSpPr>
            <p:cNvPr name="TextBox 13" id="13"/>
            <p:cNvSpPr txBox="true"/>
            <p:nvPr/>
          </p:nvSpPr>
          <p:spPr>
            <a:xfrm>
              <a:off x="0" y="-28575"/>
              <a:ext cx="188379" cy="216954"/>
            </a:xfrm>
            <a:prstGeom prst="rect">
              <a:avLst/>
            </a:prstGeom>
          </p:spPr>
          <p:txBody>
            <a:bodyPr anchor="ctr" rtlCol="false" tIns="50800" lIns="50800" bIns="50800" rIns="50800"/>
            <a:lstStyle/>
            <a:p>
              <a:pPr algn="ctr">
                <a:lnSpc>
                  <a:spcPts val="2235"/>
                </a:lnSpc>
              </a:pPr>
            </a:p>
          </p:txBody>
        </p:sp>
      </p:grpSp>
      <p:grpSp>
        <p:nvGrpSpPr>
          <p:cNvPr name="Group 14" id="14"/>
          <p:cNvGrpSpPr/>
          <p:nvPr/>
        </p:nvGrpSpPr>
        <p:grpSpPr>
          <a:xfrm rot="0">
            <a:off x="6900640" y="4196366"/>
            <a:ext cx="715252" cy="715252"/>
            <a:chOff x="0" y="0"/>
            <a:chExt cx="188379" cy="188379"/>
          </a:xfrm>
        </p:grpSpPr>
        <p:sp>
          <p:nvSpPr>
            <p:cNvPr name="Freeform 15" id="15"/>
            <p:cNvSpPr/>
            <p:nvPr/>
          </p:nvSpPr>
          <p:spPr>
            <a:xfrm flipH="false" flipV="false" rot="0">
              <a:off x="0" y="0"/>
              <a:ext cx="188379" cy="188379"/>
            </a:xfrm>
            <a:custGeom>
              <a:avLst/>
              <a:gdLst/>
              <a:ahLst/>
              <a:cxnLst/>
              <a:rect r="r" b="b" t="t" l="l"/>
              <a:pathLst>
                <a:path h="188379" w="188379">
                  <a:moveTo>
                    <a:pt x="94190" y="0"/>
                  </a:moveTo>
                  <a:lnTo>
                    <a:pt x="94190" y="0"/>
                  </a:lnTo>
                  <a:cubicBezTo>
                    <a:pt x="119170" y="0"/>
                    <a:pt x="143128" y="9924"/>
                    <a:pt x="160792" y="27587"/>
                  </a:cubicBezTo>
                  <a:cubicBezTo>
                    <a:pt x="178456" y="45251"/>
                    <a:pt x="188379" y="69209"/>
                    <a:pt x="188379" y="94190"/>
                  </a:cubicBezTo>
                  <a:lnTo>
                    <a:pt x="188379" y="94190"/>
                  </a:lnTo>
                  <a:cubicBezTo>
                    <a:pt x="188379" y="119170"/>
                    <a:pt x="178456" y="143128"/>
                    <a:pt x="160792" y="160792"/>
                  </a:cubicBezTo>
                  <a:cubicBezTo>
                    <a:pt x="143128" y="178456"/>
                    <a:pt x="119170" y="188379"/>
                    <a:pt x="94190" y="188379"/>
                  </a:cubicBezTo>
                  <a:lnTo>
                    <a:pt x="94190" y="188379"/>
                  </a:lnTo>
                  <a:cubicBezTo>
                    <a:pt x="69209" y="188379"/>
                    <a:pt x="45251" y="178456"/>
                    <a:pt x="27587" y="160792"/>
                  </a:cubicBezTo>
                  <a:cubicBezTo>
                    <a:pt x="9924" y="143128"/>
                    <a:pt x="0" y="119170"/>
                    <a:pt x="0" y="94190"/>
                  </a:cubicBezTo>
                  <a:lnTo>
                    <a:pt x="0" y="94190"/>
                  </a:lnTo>
                  <a:cubicBezTo>
                    <a:pt x="0" y="69209"/>
                    <a:pt x="9924" y="45251"/>
                    <a:pt x="27587" y="27587"/>
                  </a:cubicBezTo>
                  <a:cubicBezTo>
                    <a:pt x="45251" y="9924"/>
                    <a:pt x="69209" y="0"/>
                    <a:pt x="94190" y="0"/>
                  </a:cubicBezTo>
                  <a:close/>
                </a:path>
              </a:pathLst>
            </a:custGeom>
            <a:solidFill>
              <a:srgbClr val="FFFFFF"/>
            </a:solidFill>
          </p:spPr>
        </p:sp>
        <p:sp>
          <p:nvSpPr>
            <p:cNvPr name="TextBox 16" id="16"/>
            <p:cNvSpPr txBox="true"/>
            <p:nvPr/>
          </p:nvSpPr>
          <p:spPr>
            <a:xfrm>
              <a:off x="0" y="-28575"/>
              <a:ext cx="188379" cy="216954"/>
            </a:xfrm>
            <a:prstGeom prst="rect">
              <a:avLst/>
            </a:prstGeom>
          </p:spPr>
          <p:txBody>
            <a:bodyPr anchor="ctr" rtlCol="false" tIns="50800" lIns="50800" bIns="50800" rIns="50800"/>
            <a:lstStyle/>
            <a:p>
              <a:pPr algn="ctr">
                <a:lnSpc>
                  <a:spcPts val="2235"/>
                </a:lnSpc>
              </a:pPr>
            </a:p>
          </p:txBody>
        </p:sp>
      </p:grpSp>
      <p:grpSp>
        <p:nvGrpSpPr>
          <p:cNvPr name="Group 17" id="17"/>
          <p:cNvGrpSpPr/>
          <p:nvPr/>
        </p:nvGrpSpPr>
        <p:grpSpPr>
          <a:xfrm rot="0">
            <a:off x="12447837" y="4196366"/>
            <a:ext cx="715252" cy="715252"/>
            <a:chOff x="0" y="0"/>
            <a:chExt cx="188379" cy="188379"/>
          </a:xfrm>
        </p:grpSpPr>
        <p:sp>
          <p:nvSpPr>
            <p:cNvPr name="Freeform 18" id="18"/>
            <p:cNvSpPr/>
            <p:nvPr/>
          </p:nvSpPr>
          <p:spPr>
            <a:xfrm flipH="false" flipV="false" rot="0">
              <a:off x="0" y="0"/>
              <a:ext cx="188379" cy="188379"/>
            </a:xfrm>
            <a:custGeom>
              <a:avLst/>
              <a:gdLst/>
              <a:ahLst/>
              <a:cxnLst/>
              <a:rect r="r" b="b" t="t" l="l"/>
              <a:pathLst>
                <a:path h="188379" w="188379">
                  <a:moveTo>
                    <a:pt x="94190" y="0"/>
                  </a:moveTo>
                  <a:lnTo>
                    <a:pt x="94190" y="0"/>
                  </a:lnTo>
                  <a:cubicBezTo>
                    <a:pt x="119170" y="0"/>
                    <a:pt x="143128" y="9924"/>
                    <a:pt x="160792" y="27587"/>
                  </a:cubicBezTo>
                  <a:cubicBezTo>
                    <a:pt x="178456" y="45251"/>
                    <a:pt x="188379" y="69209"/>
                    <a:pt x="188379" y="94190"/>
                  </a:cubicBezTo>
                  <a:lnTo>
                    <a:pt x="188379" y="94190"/>
                  </a:lnTo>
                  <a:cubicBezTo>
                    <a:pt x="188379" y="119170"/>
                    <a:pt x="178456" y="143128"/>
                    <a:pt x="160792" y="160792"/>
                  </a:cubicBezTo>
                  <a:cubicBezTo>
                    <a:pt x="143128" y="178456"/>
                    <a:pt x="119170" y="188379"/>
                    <a:pt x="94190" y="188379"/>
                  </a:cubicBezTo>
                  <a:lnTo>
                    <a:pt x="94190" y="188379"/>
                  </a:lnTo>
                  <a:cubicBezTo>
                    <a:pt x="69209" y="188379"/>
                    <a:pt x="45251" y="178456"/>
                    <a:pt x="27587" y="160792"/>
                  </a:cubicBezTo>
                  <a:cubicBezTo>
                    <a:pt x="9924" y="143128"/>
                    <a:pt x="0" y="119170"/>
                    <a:pt x="0" y="94190"/>
                  </a:cubicBezTo>
                  <a:lnTo>
                    <a:pt x="0" y="94190"/>
                  </a:lnTo>
                  <a:cubicBezTo>
                    <a:pt x="0" y="69209"/>
                    <a:pt x="9924" y="45251"/>
                    <a:pt x="27587" y="27587"/>
                  </a:cubicBezTo>
                  <a:cubicBezTo>
                    <a:pt x="45251" y="9924"/>
                    <a:pt x="69209" y="0"/>
                    <a:pt x="94190" y="0"/>
                  </a:cubicBezTo>
                  <a:close/>
                </a:path>
              </a:pathLst>
            </a:custGeom>
            <a:solidFill>
              <a:srgbClr val="FFFFFF"/>
            </a:solidFill>
          </p:spPr>
        </p:sp>
        <p:sp>
          <p:nvSpPr>
            <p:cNvPr name="TextBox 19" id="19"/>
            <p:cNvSpPr txBox="true"/>
            <p:nvPr/>
          </p:nvSpPr>
          <p:spPr>
            <a:xfrm>
              <a:off x="0" y="-28575"/>
              <a:ext cx="188379" cy="216954"/>
            </a:xfrm>
            <a:prstGeom prst="rect">
              <a:avLst/>
            </a:prstGeom>
          </p:spPr>
          <p:txBody>
            <a:bodyPr anchor="ctr" rtlCol="false" tIns="50800" lIns="50800" bIns="50800" rIns="50800"/>
            <a:lstStyle/>
            <a:p>
              <a:pPr algn="ctr">
                <a:lnSpc>
                  <a:spcPts val="2235"/>
                </a:lnSpc>
              </a:pPr>
            </a:p>
          </p:txBody>
        </p:sp>
      </p:grpSp>
      <p:sp>
        <p:nvSpPr>
          <p:cNvPr name="TextBox 20" id="20"/>
          <p:cNvSpPr txBox="true"/>
          <p:nvPr/>
        </p:nvSpPr>
        <p:spPr>
          <a:xfrm rot="0">
            <a:off x="1028700" y="1257300"/>
            <a:ext cx="12095157" cy="1146071"/>
          </a:xfrm>
          <a:prstGeom prst="rect">
            <a:avLst/>
          </a:prstGeom>
        </p:spPr>
        <p:txBody>
          <a:bodyPr anchor="t" rtlCol="false" tIns="0" lIns="0" bIns="0" rIns="0">
            <a:spAutoFit/>
          </a:bodyPr>
          <a:lstStyle/>
          <a:p>
            <a:pPr algn="l">
              <a:lnSpc>
                <a:spcPts val="8493"/>
              </a:lnSpc>
            </a:pPr>
            <a:r>
              <a:rPr lang="en-US" sz="9035" spc="-316">
                <a:solidFill>
                  <a:srgbClr val="000000"/>
                </a:solidFill>
                <a:latin typeface="Helvetica World"/>
                <a:ea typeface="Helvetica World"/>
                <a:cs typeface="Helvetica World"/>
                <a:sym typeface="Helvetica World"/>
              </a:rPr>
              <a:t>Financial Findings</a:t>
            </a:r>
          </a:p>
        </p:txBody>
      </p:sp>
      <p:sp>
        <p:nvSpPr>
          <p:cNvPr name="TextBox 21" id="21"/>
          <p:cNvSpPr txBox="true"/>
          <p:nvPr/>
        </p:nvSpPr>
        <p:spPr>
          <a:xfrm rot="0">
            <a:off x="1353444" y="5413752"/>
            <a:ext cx="4486719" cy="3811438"/>
          </a:xfrm>
          <a:prstGeom prst="rect">
            <a:avLst/>
          </a:prstGeom>
        </p:spPr>
        <p:txBody>
          <a:bodyPr anchor="t" rtlCol="false" tIns="0" lIns="0" bIns="0" rIns="0">
            <a:spAutoFit/>
          </a:bodyPr>
          <a:lstStyle/>
          <a:p>
            <a:pPr algn="l">
              <a:lnSpc>
                <a:spcPts val="3070"/>
              </a:lnSpc>
              <a:spcBef>
                <a:spcPct val="0"/>
              </a:spcBef>
            </a:pPr>
            <a:r>
              <a:rPr lang="en-US" sz="2193">
                <a:solidFill>
                  <a:srgbClr val="FFFFFF"/>
                </a:solidFill>
                <a:latin typeface="Poppins"/>
                <a:ea typeface="Poppins"/>
                <a:cs typeface="Poppins"/>
                <a:sym typeface="Poppins"/>
              </a:rPr>
              <a:t>The dashb</a:t>
            </a:r>
            <a:r>
              <a:rPr lang="en-US" sz="2193">
                <a:solidFill>
                  <a:srgbClr val="FFFFFF"/>
                </a:solidFill>
                <a:latin typeface="Poppins"/>
                <a:ea typeface="Poppins"/>
                <a:cs typeface="Poppins"/>
                <a:sym typeface="Poppins"/>
              </a:rPr>
              <a:t>oards show strong overall financial performance, with total revenue at $1.4B, supported by high average daily revenue ($769K) and revenue per patient (about $26K). Year-over-year revenue growth exceeds 20%, indicating solid demand and effective service delivery.</a:t>
            </a:r>
          </a:p>
        </p:txBody>
      </p:sp>
      <p:sp>
        <p:nvSpPr>
          <p:cNvPr name="TextBox 22" id="22"/>
          <p:cNvSpPr txBox="true"/>
          <p:nvPr/>
        </p:nvSpPr>
        <p:spPr>
          <a:xfrm rot="0">
            <a:off x="6900640" y="5413752"/>
            <a:ext cx="4465166" cy="3599348"/>
          </a:xfrm>
          <a:prstGeom prst="rect">
            <a:avLst/>
          </a:prstGeom>
        </p:spPr>
        <p:txBody>
          <a:bodyPr anchor="t" rtlCol="false" tIns="0" lIns="0" bIns="0" rIns="0">
            <a:spAutoFit/>
          </a:bodyPr>
          <a:lstStyle/>
          <a:p>
            <a:pPr algn="l">
              <a:lnSpc>
                <a:spcPts val="3210"/>
              </a:lnSpc>
              <a:spcBef>
                <a:spcPct val="0"/>
              </a:spcBef>
            </a:pPr>
            <a:r>
              <a:rPr lang="en-US" sz="2293">
                <a:solidFill>
                  <a:srgbClr val="FFFFFF"/>
                </a:solidFill>
                <a:latin typeface="Poppins"/>
                <a:ea typeface="Poppins"/>
                <a:cs typeface="Poppins"/>
                <a:sym typeface="Poppins"/>
              </a:rPr>
              <a:t>Monthly </a:t>
            </a:r>
            <a:r>
              <a:rPr lang="en-US" sz="2293">
                <a:solidFill>
                  <a:srgbClr val="FFFFFF"/>
                </a:solidFill>
                <a:latin typeface="Poppins"/>
                <a:ea typeface="Poppins"/>
                <a:cs typeface="Poppins"/>
                <a:sym typeface="Poppins"/>
              </a:rPr>
              <a:t>and yearly trends reveal some fluctuations, with revenue peaking above $120M in several months and dipping to around $106M in others. Admissions remain steady at 55K, and the average length of stay shows an upward trend, rising to 16 days in 2024.</a:t>
            </a:r>
          </a:p>
        </p:txBody>
      </p:sp>
      <p:sp>
        <p:nvSpPr>
          <p:cNvPr name="TextBox 23" id="23"/>
          <p:cNvSpPr txBox="true"/>
          <p:nvPr/>
        </p:nvSpPr>
        <p:spPr>
          <a:xfrm rot="0">
            <a:off x="12447837" y="5413752"/>
            <a:ext cx="4486719" cy="3430438"/>
          </a:xfrm>
          <a:prstGeom prst="rect">
            <a:avLst/>
          </a:prstGeom>
        </p:spPr>
        <p:txBody>
          <a:bodyPr anchor="t" rtlCol="false" tIns="0" lIns="0" bIns="0" rIns="0">
            <a:spAutoFit/>
          </a:bodyPr>
          <a:lstStyle/>
          <a:p>
            <a:pPr algn="l">
              <a:lnSpc>
                <a:spcPts val="3070"/>
              </a:lnSpc>
              <a:spcBef>
                <a:spcPct val="0"/>
              </a:spcBef>
            </a:pPr>
            <a:r>
              <a:rPr lang="en-US" sz="2193">
                <a:solidFill>
                  <a:srgbClr val="FFFFFF"/>
                </a:solidFill>
                <a:latin typeface="Poppins"/>
                <a:ea typeface="Poppins"/>
                <a:cs typeface="Poppins"/>
                <a:sym typeface="Poppins"/>
              </a:rPr>
              <a:t>Revenue by me</a:t>
            </a:r>
            <a:r>
              <a:rPr lang="en-US" sz="2193">
                <a:solidFill>
                  <a:srgbClr val="FFFFFF"/>
                </a:solidFill>
                <a:latin typeface="Poppins"/>
                <a:ea typeface="Poppins"/>
                <a:cs typeface="Poppins"/>
                <a:sym typeface="Poppins"/>
              </a:rPr>
              <a:t>dical condition highlights that chronic diseases—such as Diabetes, Obesity, Arthritis, Hypertension, Asthma, and Cancer—each generate over $229M. This confirms that long-term condition management is a major driver of financial performance.</a:t>
            </a:r>
          </a:p>
        </p:txBody>
      </p:sp>
      <p:sp>
        <p:nvSpPr>
          <p:cNvPr name="Freeform 24" id="24"/>
          <p:cNvSpPr/>
          <p:nvPr/>
        </p:nvSpPr>
        <p:spPr>
          <a:xfrm flipH="false" flipV="false" rot="0">
            <a:off x="5962529" y="3629684"/>
            <a:ext cx="374092" cy="374092"/>
          </a:xfrm>
          <a:custGeom>
            <a:avLst/>
            <a:gdLst/>
            <a:ahLst/>
            <a:cxnLst/>
            <a:rect r="r" b="b" t="t" l="l"/>
            <a:pathLst>
              <a:path h="374092" w="374092">
                <a:moveTo>
                  <a:pt x="0" y="0"/>
                </a:moveTo>
                <a:lnTo>
                  <a:pt x="374093" y="0"/>
                </a:lnTo>
                <a:lnTo>
                  <a:pt x="374093" y="374092"/>
                </a:lnTo>
                <a:lnTo>
                  <a:pt x="0" y="374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5" id="25"/>
          <p:cNvSpPr/>
          <p:nvPr/>
        </p:nvSpPr>
        <p:spPr>
          <a:xfrm flipH="false" flipV="false" rot="0">
            <a:off x="11453958" y="3629684"/>
            <a:ext cx="374092" cy="374092"/>
          </a:xfrm>
          <a:custGeom>
            <a:avLst/>
            <a:gdLst/>
            <a:ahLst/>
            <a:cxnLst/>
            <a:rect r="r" b="b" t="t" l="l"/>
            <a:pathLst>
              <a:path h="374092" w="374092">
                <a:moveTo>
                  <a:pt x="0" y="0"/>
                </a:moveTo>
                <a:lnTo>
                  <a:pt x="374093" y="0"/>
                </a:lnTo>
                <a:lnTo>
                  <a:pt x="374093" y="374092"/>
                </a:lnTo>
                <a:lnTo>
                  <a:pt x="0" y="374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6" id="26"/>
          <p:cNvSpPr/>
          <p:nvPr/>
        </p:nvSpPr>
        <p:spPr>
          <a:xfrm flipH="false" flipV="false" rot="0">
            <a:off x="16945387" y="3629684"/>
            <a:ext cx="374092" cy="374092"/>
          </a:xfrm>
          <a:custGeom>
            <a:avLst/>
            <a:gdLst/>
            <a:ahLst/>
            <a:cxnLst/>
            <a:rect r="r" b="b" t="t" l="l"/>
            <a:pathLst>
              <a:path h="374092" w="374092">
                <a:moveTo>
                  <a:pt x="0" y="0"/>
                </a:moveTo>
                <a:lnTo>
                  <a:pt x="374092" y="0"/>
                </a:lnTo>
                <a:lnTo>
                  <a:pt x="374092" y="374092"/>
                </a:lnTo>
                <a:lnTo>
                  <a:pt x="0" y="374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7" id="27"/>
          <p:cNvSpPr/>
          <p:nvPr/>
        </p:nvSpPr>
        <p:spPr>
          <a:xfrm flipH="false" flipV="false" rot="0">
            <a:off x="1458122" y="4460676"/>
            <a:ext cx="468032" cy="210189"/>
          </a:xfrm>
          <a:custGeom>
            <a:avLst/>
            <a:gdLst/>
            <a:ahLst/>
            <a:cxnLst/>
            <a:rect r="r" b="b" t="t" l="l"/>
            <a:pathLst>
              <a:path h="210189" w="468032">
                <a:moveTo>
                  <a:pt x="0" y="0"/>
                </a:moveTo>
                <a:lnTo>
                  <a:pt x="468031" y="0"/>
                </a:lnTo>
                <a:lnTo>
                  <a:pt x="468031" y="210189"/>
                </a:lnTo>
                <a:lnTo>
                  <a:pt x="0" y="2101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false" flipV="false" rot="0">
            <a:off x="7024250" y="4460676"/>
            <a:ext cx="468032" cy="210189"/>
          </a:xfrm>
          <a:custGeom>
            <a:avLst/>
            <a:gdLst/>
            <a:ahLst/>
            <a:cxnLst/>
            <a:rect r="r" b="b" t="t" l="l"/>
            <a:pathLst>
              <a:path h="210189" w="468032">
                <a:moveTo>
                  <a:pt x="0" y="0"/>
                </a:moveTo>
                <a:lnTo>
                  <a:pt x="468032" y="0"/>
                </a:lnTo>
                <a:lnTo>
                  <a:pt x="468032" y="210189"/>
                </a:lnTo>
                <a:lnTo>
                  <a:pt x="0" y="2101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9" id="29"/>
          <p:cNvSpPr/>
          <p:nvPr/>
        </p:nvSpPr>
        <p:spPr>
          <a:xfrm flipH="false" flipV="false" rot="0">
            <a:off x="12590379" y="4460676"/>
            <a:ext cx="468032" cy="210189"/>
          </a:xfrm>
          <a:custGeom>
            <a:avLst/>
            <a:gdLst/>
            <a:ahLst/>
            <a:cxnLst/>
            <a:rect r="r" b="b" t="t" l="l"/>
            <a:pathLst>
              <a:path h="210189" w="468032">
                <a:moveTo>
                  <a:pt x="0" y="0"/>
                </a:moveTo>
                <a:lnTo>
                  <a:pt x="468032" y="0"/>
                </a:lnTo>
                <a:lnTo>
                  <a:pt x="468032" y="210189"/>
                </a:lnTo>
                <a:lnTo>
                  <a:pt x="0" y="2101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7051A">
                <a:alpha val="100000"/>
              </a:srgbClr>
            </a:gs>
            <a:gs pos="100000">
              <a:srgbClr val="191745">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771740" y="2358475"/>
            <a:ext cx="16729436" cy="7663500"/>
          </a:xfrm>
          <a:custGeom>
            <a:avLst/>
            <a:gdLst/>
            <a:ahLst/>
            <a:cxnLst/>
            <a:rect r="r" b="b" t="t" l="l"/>
            <a:pathLst>
              <a:path h="7663500" w="16729436">
                <a:moveTo>
                  <a:pt x="0" y="0"/>
                </a:moveTo>
                <a:lnTo>
                  <a:pt x="16729435" y="0"/>
                </a:lnTo>
                <a:lnTo>
                  <a:pt x="16729435" y="7663500"/>
                </a:lnTo>
                <a:lnTo>
                  <a:pt x="0" y="7663500"/>
                </a:lnTo>
                <a:lnTo>
                  <a:pt x="0" y="0"/>
                </a:lnTo>
                <a:close/>
              </a:path>
            </a:pathLst>
          </a:custGeom>
          <a:blipFill>
            <a:blip r:embed="rId2"/>
            <a:stretch>
              <a:fillRect l="0" t="-72" r="0" b="-72"/>
            </a:stretch>
          </a:blipFill>
        </p:spPr>
      </p:sp>
      <p:sp>
        <p:nvSpPr>
          <p:cNvPr name="TextBox 3" id="3"/>
          <p:cNvSpPr txBox="true"/>
          <p:nvPr/>
        </p:nvSpPr>
        <p:spPr>
          <a:xfrm rot="0">
            <a:off x="1377931" y="545095"/>
            <a:ext cx="9945025" cy="1813380"/>
          </a:xfrm>
          <a:prstGeom prst="rect">
            <a:avLst/>
          </a:prstGeom>
        </p:spPr>
        <p:txBody>
          <a:bodyPr anchor="t" rtlCol="false" tIns="0" lIns="0" bIns="0" rIns="0">
            <a:spAutoFit/>
          </a:bodyPr>
          <a:lstStyle/>
          <a:p>
            <a:pPr algn="l">
              <a:lnSpc>
                <a:spcPts val="6741"/>
              </a:lnSpc>
            </a:pPr>
            <a:r>
              <a:rPr lang="en-US" sz="8426" spc="-294">
                <a:solidFill>
                  <a:srgbClr val="FFFFFF"/>
                </a:solidFill>
                <a:latin typeface="Helvetica World"/>
                <a:ea typeface="Helvetica World"/>
                <a:cs typeface="Helvetica World"/>
                <a:sym typeface="Helvetica World"/>
              </a:rPr>
              <a:t>Patient-Centered </a:t>
            </a:r>
          </a:p>
          <a:p>
            <a:pPr algn="l">
              <a:lnSpc>
                <a:spcPts val="6741"/>
              </a:lnSpc>
            </a:pPr>
            <a:r>
              <a:rPr lang="en-US" sz="8426" spc="-294">
                <a:solidFill>
                  <a:srgbClr val="FFFFFF"/>
                </a:solidFill>
                <a:latin typeface="Helvetica World"/>
                <a:ea typeface="Helvetica World"/>
                <a:cs typeface="Helvetica World"/>
                <a:sym typeface="Helvetica World"/>
              </a:rPr>
              <a:t>Demographic Analysis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7051A">
                <a:alpha val="100000"/>
              </a:srgbClr>
            </a:gs>
            <a:gs pos="100000">
              <a:srgbClr val="191745">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606531" y="3645211"/>
            <a:ext cx="1399298" cy="628412"/>
          </a:xfrm>
          <a:custGeom>
            <a:avLst/>
            <a:gdLst/>
            <a:ahLst/>
            <a:cxnLst/>
            <a:rect r="r" b="b" t="t" l="l"/>
            <a:pathLst>
              <a:path h="628412" w="1399298">
                <a:moveTo>
                  <a:pt x="0" y="0"/>
                </a:moveTo>
                <a:lnTo>
                  <a:pt x="1399299" y="0"/>
                </a:lnTo>
                <a:lnTo>
                  <a:pt x="1399299" y="628412"/>
                </a:lnTo>
                <a:lnTo>
                  <a:pt x="0" y="6284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60362" y="6761512"/>
            <a:ext cx="2837261" cy="989700"/>
            <a:chOff x="0" y="0"/>
            <a:chExt cx="670267" cy="233804"/>
          </a:xfrm>
        </p:grpSpPr>
        <p:sp>
          <p:nvSpPr>
            <p:cNvPr name="Freeform 4" id="4"/>
            <p:cNvSpPr/>
            <p:nvPr/>
          </p:nvSpPr>
          <p:spPr>
            <a:xfrm flipH="false" flipV="false" rot="0">
              <a:off x="0" y="0"/>
              <a:ext cx="670267" cy="233804"/>
            </a:xfrm>
            <a:custGeom>
              <a:avLst/>
              <a:gdLst/>
              <a:ahLst/>
              <a:cxnLst/>
              <a:rect r="r" b="b" t="t" l="l"/>
              <a:pathLst>
                <a:path h="233804" w="670267">
                  <a:moveTo>
                    <a:pt x="0" y="0"/>
                  </a:moveTo>
                  <a:lnTo>
                    <a:pt x="670267" y="0"/>
                  </a:lnTo>
                  <a:lnTo>
                    <a:pt x="670267" y="233804"/>
                  </a:lnTo>
                  <a:lnTo>
                    <a:pt x="0" y="233804"/>
                  </a:lnTo>
                  <a:close/>
                </a:path>
              </a:pathLst>
            </a:custGeom>
            <a:gradFill rotWithShape="true">
              <a:gsLst>
                <a:gs pos="0">
                  <a:srgbClr val="154069">
                    <a:alpha val="100000"/>
                  </a:srgbClr>
                </a:gs>
                <a:gs pos="50000">
                  <a:srgbClr val="144A7F">
                    <a:alpha val="100000"/>
                  </a:srgbClr>
                </a:gs>
                <a:gs pos="100000">
                  <a:srgbClr val="3C98CB">
                    <a:alpha val="100000"/>
                  </a:srgbClr>
                </a:gs>
              </a:gsLst>
              <a:lin ang="0"/>
            </a:gradFill>
          </p:spPr>
        </p:sp>
        <p:sp>
          <p:nvSpPr>
            <p:cNvPr name="TextBox 5" id="5"/>
            <p:cNvSpPr txBox="true"/>
            <p:nvPr/>
          </p:nvSpPr>
          <p:spPr>
            <a:xfrm>
              <a:off x="0" y="-28575"/>
              <a:ext cx="670267" cy="262379"/>
            </a:xfrm>
            <a:prstGeom prst="rect">
              <a:avLst/>
            </a:prstGeom>
          </p:spPr>
          <p:txBody>
            <a:bodyPr anchor="ctr" rtlCol="false" tIns="50800" lIns="50800" bIns="50800" rIns="50800"/>
            <a:lstStyle/>
            <a:p>
              <a:pPr algn="ctr">
                <a:lnSpc>
                  <a:spcPts val="2235"/>
                </a:lnSpc>
              </a:pPr>
            </a:p>
          </p:txBody>
        </p:sp>
      </p:grpSp>
      <p:sp>
        <p:nvSpPr>
          <p:cNvPr name="TextBox 6" id="6"/>
          <p:cNvSpPr txBox="true"/>
          <p:nvPr/>
        </p:nvSpPr>
        <p:spPr>
          <a:xfrm rot="0">
            <a:off x="8133773" y="962025"/>
            <a:ext cx="9125527" cy="8493293"/>
          </a:xfrm>
          <a:prstGeom prst="rect">
            <a:avLst/>
          </a:prstGeom>
        </p:spPr>
        <p:txBody>
          <a:bodyPr anchor="t" rtlCol="false" tIns="0" lIns="0" bIns="0" rIns="0">
            <a:spAutoFit/>
          </a:bodyPr>
          <a:lstStyle/>
          <a:p>
            <a:pPr algn="just">
              <a:lnSpc>
                <a:spcPts val="3630"/>
              </a:lnSpc>
              <a:spcBef>
                <a:spcPct val="0"/>
              </a:spcBef>
            </a:pPr>
          </a:p>
          <a:p>
            <a:pPr algn="just">
              <a:lnSpc>
                <a:spcPts val="3630"/>
              </a:lnSpc>
              <a:spcBef>
                <a:spcPct val="0"/>
              </a:spcBef>
            </a:pPr>
            <a:r>
              <a:rPr lang="en-US" sz="2593">
                <a:solidFill>
                  <a:srgbClr val="FFFFFF"/>
                </a:solidFill>
                <a:latin typeface="Poppins"/>
                <a:ea typeface="Poppins"/>
                <a:cs typeface="Poppins"/>
                <a:sym typeface="Poppins"/>
              </a:rPr>
              <a:t>The demographic assessment provides a clear overview of the patient population across key dimensions. Patient distribution varies significantly by location, with a subset of cities contributing the highest volumes. Gender representation is balanced, indicating no substantial skew toward male or female patients. Age-group analysis shows that individuals aged 60 and above constitute the largest segment, followed by the 40–59 and 30–39 cohorts, confirming a predominantly older patient population. Blood-type data follows expected national patterns, with common types such as A+ and O+ comprising the majority and rarer types appearing in lower frequencies. Collectively, these insights highlight a geographically concentrated, age-advanced, and gender-balanced patient base, offering a strong foundation for targeted healthcare planning and resource allocation.</a:t>
            </a:r>
          </a:p>
          <a:p>
            <a:pPr algn="just">
              <a:lnSpc>
                <a:spcPts val="1950"/>
              </a:lnSpc>
              <a:spcBef>
                <a:spcPct val="0"/>
              </a:spcBef>
            </a:pPr>
          </a:p>
        </p:txBody>
      </p:sp>
      <p:sp>
        <p:nvSpPr>
          <p:cNvPr name="TextBox 7" id="7"/>
          <p:cNvSpPr txBox="true"/>
          <p:nvPr/>
        </p:nvSpPr>
        <p:spPr>
          <a:xfrm rot="0">
            <a:off x="1028700" y="982014"/>
            <a:ext cx="6893002" cy="2663197"/>
          </a:xfrm>
          <a:prstGeom prst="rect">
            <a:avLst/>
          </a:prstGeom>
        </p:spPr>
        <p:txBody>
          <a:bodyPr anchor="t" rtlCol="false" tIns="0" lIns="0" bIns="0" rIns="0">
            <a:spAutoFit/>
          </a:bodyPr>
          <a:lstStyle/>
          <a:p>
            <a:pPr algn="l">
              <a:lnSpc>
                <a:spcPts val="6741"/>
              </a:lnSpc>
            </a:pPr>
            <a:r>
              <a:rPr lang="en-US" sz="8426" spc="-294">
                <a:solidFill>
                  <a:srgbClr val="FFFFFF"/>
                </a:solidFill>
                <a:latin typeface="Helvetica World"/>
                <a:ea typeface="Helvetica World"/>
                <a:cs typeface="Helvetica World"/>
                <a:sym typeface="Helvetica World"/>
              </a:rPr>
              <a:t>Executive</a:t>
            </a:r>
          </a:p>
          <a:p>
            <a:pPr algn="l">
              <a:lnSpc>
                <a:spcPts val="6741"/>
              </a:lnSpc>
            </a:pPr>
            <a:r>
              <a:rPr lang="en-US" sz="8426" spc="-294">
                <a:solidFill>
                  <a:srgbClr val="FFFFFF"/>
                </a:solidFill>
                <a:latin typeface="Helvetica World"/>
                <a:ea typeface="Helvetica World"/>
                <a:cs typeface="Helvetica World"/>
                <a:sym typeface="Helvetica World"/>
              </a:rPr>
              <a:t>Demographic Summary</a:t>
            </a:r>
          </a:p>
        </p:txBody>
      </p:sp>
      <p:sp>
        <p:nvSpPr>
          <p:cNvPr name="TextBox 8" id="8"/>
          <p:cNvSpPr txBox="true"/>
          <p:nvPr/>
        </p:nvSpPr>
        <p:spPr>
          <a:xfrm rot="0">
            <a:off x="2053061" y="7036750"/>
            <a:ext cx="1723300" cy="402587"/>
          </a:xfrm>
          <a:prstGeom prst="rect">
            <a:avLst/>
          </a:prstGeom>
        </p:spPr>
        <p:txBody>
          <a:bodyPr anchor="t" rtlCol="false" tIns="0" lIns="0" bIns="0" rIns="0">
            <a:spAutoFit/>
          </a:bodyPr>
          <a:lstStyle/>
          <a:p>
            <a:pPr algn="ctr">
              <a:lnSpc>
                <a:spcPts val="3262"/>
              </a:lnSpc>
              <a:spcBef>
                <a:spcPct val="0"/>
              </a:spcBef>
            </a:pPr>
            <a:r>
              <a:rPr lang="en-US" b="true" sz="2330" i="true" spc="-93">
                <a:solidFill>
                  <a:srgbClr val="FFFFFF"/>
                </a:solidFill>
                <a:latin typeface="Montserrat Medium Italics"/>
                <a:ea typeface="Montserrat Medium Italics"/>
                <a:cs typeface="Montserrat Medium Italics"/>
                <a:sym typeface="Montserrat Medium Italics"/>
              </a:rPr>
              <a:t>Next Page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1531" y="1897818"/>
            <a:ext cx="14587367" cy="7820277"/>
            <a:chOff x="0" y="0"/>
            <a:chExt cx="2130917" cy="1142383"/>
          </a:xfrm>
        </p:grpSpPr>
        <p:sp>
          <p:nvSpPr>
            <p:cNvPr name="Freeform 3" id="3"/>
            <p:cNvSpPr/>
            <p:nvPr/>
          </p:nvSpPr>
          <p:spPr>
            <a:xfrm flipH="false" flipV="false" rot="0">
              <a:off x="0" y="0"/>
              <a:ext cx="2130917" cy="1142383"/>
            </a:xfrm>
            <a:custGeom>
              <a:avLst/>
              <a:gdLst/>
              <a:ahLst/>
              <a:cxnLst/>
              <a:rect r="r" b="b" t="t" l="l"/>
              <a:pathLst>
                <a:path h="1142383" w="2130917">
                  <a:moveTo>
                    <a:pt x="7430" y="0"/>
                  </a:moveTo>
                  <a:lnTo>
                    <a:pt x="2123487" y="0"/>
                  </a:lnTo>
                  <a:cubicBezTo>
                    <a:pt x="2125457" y="0"/>
                    <a:pt x="2127347" y="783"/>
                    <a:pt x="2128741" y="2176"/>
                  </a:cubicBezTo>
                  <a:cubicBezTo>
                    <a:pt x="2130134" y="3570"/>
                    <a:pt x="2130917" y="5460"/>
                    <a:pt x="2130917" y="7430"/>
                  </a:cubicBezTo>
                  <a:lnTo>
                    <a:pt x="2130917" y="1134953"/>
                  </a:lnTo>
                  <a:cubicBezTo>
                    <a:pt x="2130917" y="1136924"/>
                    <a:pt x="2130134" y="1138813"/>
                    <a:pt x="2128741" y="1140207"/>
                  </a:cubicBezTo>
                  <a:cubicBezTo>
                    <a:pt x="2127347" y="1141600"/>
                    <a:pt x="2125457" y="1142383"/>
                    <a:pt x="2123487" y="1142383"/>
                  </a:cubicBezTo>
                  <a:lnTo>
                    <a:pt x="7430" y="1142383"/>
                  </a:lnTo>
                  <a:cubicBezTo>
                    <a:pt x="5460" y="1142383"/>
                    <a:pt x="3570" y="1141600"/>
                    <a:pt x="2176" y="1140207"/>
                  </a:cubicBezTo>
                  <a:cubicBezTo>
                    <a:pt x="783" y="1138813"/>
                    <a:pt x="0" y="1136924"/>
                    <a:pt x="0" y="1134953"/>
                  </a:cubicBezTo>
                  <a:lnTo>
                    <a:pt x="0" y="7430"/>
                  </a:lnTo>
                  <a:cubicBezTo>
                    <a:pt x="0" y="5460"/>
                    <a:pt x="783" y="3570"/>
                    <a:pt x="2176" y="2176"/>
                  </a:cubicBezTo>
                  <a:cubicBezTo>
                    <a:pt x="3570" y="783"/>
                    <a:pt x="5460" y="0"/>
                    <a:pt x="7430" y="0"/>
                  </a:cubicBezTo>
                  <a:close/>
                </a:path>
              </a:pathLst>
            </a:custGeom>
            <a:gradFill rotWithShape="true">
              <a:gsLst>
                <a:gs pos="0">
                  <a:srgbClr val="154069">
                    <a:alpha val="100000"/>
                  </a:srgbClr>
                </a:gs>
                <a:gs pos="50000">
                  <a:srgbClr val="144A7F">
                    <a:alpha val="100000"/>
                  </a:srgbClr>
                </a:gs>
                <a:gs pos="100000">
                  <a:srgbClr val="3C98CB">
                    <a:alpha val="100000"/>
                  </a:srgbClr>
                </a:gs>
              </a:gsLst>
              <a:path path="circle">
                <a:fillToRect l="0" r="100000" t="0" b="100000"/>
              </a:path>
              <a:tileRect r="0" l="-100000" b="0" t="-100000"/>
            </a:gradFill>
            <a:ln w="12700">
              <a:solidFill>
                <a:srgbClr val="000000"/>
              </a:solidFill>
            </a:ln>
          </p:spPr>
        </p:sp>
      </p:grpSp>
      <p:sp>
        <p:nvSpPr>
          <p:cNvPr name="Freeform 4" id="4"/>
          <p:cNvSpPr/>
          <p:nvPr/>
        </p:nvSpPr>
        <p:spPr>
          <a:xfrm flipH="false" flipV="false" rot="0">
            <a:off x="1861168" y="2039192"/>
            <a:ext cx="14317650" cy="7577381"/>
          </a:xfrm>
          <a:custGeom>
            <a:avLst/>
            <a:gdLst/>
            <a:ahLst/>
            <a:cxnLst/>
            <a:rect r="r" b="b" t="t" l="l"/>
            <a:pathLst>
              <a:path h="7577381" w="14317650">
                <a:moveTo>
                  <a:pt x="0" y="0"/>
                </a:moveTo>
                <a:lnTo>
                  <a:pt x="14317650" y="0"/>
                </a:lnTo>
                <a:lnTo>
                  <a:pt x="14317650" y="7577380"/>
                </a:lnTo>
                <a:lnTo>
                  <a:pt x="0" y="7577380"/>
                </a:lnTo>
                <a:lnTo>
                  <a:pt x="0" y="0"/>
                </a:lnTo>
                <a:close/>
              </a:path>
            </a:pathLst>
          </a:custGeom>
          <a:blipFill>
            <a:blip r:embed="rId2"/>
            <a:stretch>
              <a:fillRect l="0" t="-2862" r="-1257" b="-5238"/>
            </a:stretch>
          </a:blipFill>
        </p:spPr>
      </p:sp>
      <p:sp>
        <p:nvSpPr>
          <p:cNvPr name="TextBox 5" id="5"/>
          <p:cNvSpPr txBox="true"/>
          <p:nvPr/>
        </p:nvSpPr>
        <p:spPr>
          <a:xfrm rot="0">
            <a:off x="1028700" y="661147"/>
            <a:ext cx="9350758" cy="966551"/>
          </a:xfrm>
          <a:prstGeom prst="rect">
            <a:avLst/>
          </a:prstGeom>
        </p:spPr>
        <p:txBody>
          <a:bodyPr anchor="t" rtlCol="false" tIns="0" lIns="0" bIns="0" rIns="0">
            <a:spAutoFit/>
          </a:bodyPr>
          <a:lstStyle/>
          <a:p>
            <a:pPr algn="l">
              <a:lnSpc>
                <a:spcPts val="6821"/>
              </a:lnSpc>
            </a:pPr>
            <a:r>
              <a:rPr lang="en-US" sz="8526" spc="-298">
                <a:solidFill>
                  <a:srgbClr val="000000"/>
                </a:solidFill>
                <a:latin typeface="Helvetica World"/>
                <a:ea typeface="Helvetica World"/>
                <a:cs typeface="Helvetica World"/>
                <a:sym typeface="Helvetica World"/>
              </a:rPr>
              <a:t>Operational Analysis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76275" y="991777"/>
            <a:ext cx="9550783" cy="1374235"/>
          </a:xfrm>
          <a:prstGeom prst="rect">
            <a:avLst/>
          </a:prstGeom>
        </p:spPr>
        <p:txBody>
          <a:bodyPr anchor="t" rtlCol="false" tIns="0" lIns="0" bIns="0" rIns="0">
            <a:spAutoFit/>
          </a:bodyPr>
          <a:lstStyle/>
          <a:p>
            <a:pPr algn="l">
              <a:lnSpc>
                <a:spcPts val="5141"/>
              </a:lnSpc>
            </a:pPr>
            <a:r>
              <a:rPr lang="en-US" sz="6426" spc="-224">
                <a:solidFill>
                  <a:srgbClr val="000000"/>
                </a:solidFill>
                <a:latin typeface="Helvetica World"/>
                <a:ea typeface="Helvetica World"/>
                <a:cs typeface="Helvetica World"/>
                <a:sym typeface="Helvetica World"/>
              </a:rPr>
              <a:t>Executive operations Summery </a:t>
            </a:r>
          </a:p>
        </p:txBody>
      </p:sp>
      <p:sp>
        <p:nvSpPr>
          <p:cNvPr name="Freeform 3" id="3"/>
          <p:cNvSpPr/>
          <p:nvPr/>
        </p:nvSpPr>
        <p:spPr>
          <a:xfrm flipH="false" flipV="false" rot="0">
            <a:off x="4752017" y="1862848"/>
            <a:ext cx="1399298" cy="628412"/>
          </a:xfrm>
          <a:custGeom>
            <a:avLst/>
            <a:gdLst/>
            <a:ahLst/>
            <a:cxnLst/>
            <a:rect r="r" b="b" t="t" l="l"/>
            <a:pathLst>
              <a:path h="628412" w="1399298">
                <a:moveTo>
                  <a:pt x="0" y="0"/>
                </a:moveTo>
                <a:lnTo>
                  <a:pt x="1399299" y="0"/>
                </a:lnTo>
                <a:lnTo>
                  <a:pt x="1399299" y="628412"/>
                </a:lnTo>
                <a:lnTo>
                  <a:pt x="0" y="6284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76275" y="3995953"/>
            <a:ext cx="7875847" cy="5237481"/>
          </a:xfrm>
          <a:prstGeom prst="rect">
            <a:avLst/>
          </a:prstGeom>
        </p:spPr>
        <p:txBody>
          <a:bodyPr anchor="t" rtlCol="false" tIns="0" lIns="0" bIns="0" rIns="0">
            <a:spAutoFit/>
          </a:bodyPr>
          <a:lstStyle/>
          <a:p>
            <a:pPr algn="just">
              <a:lnSpc>
                <a:spcPts val="3219"/>
              </a:lnSpc>
              <a:spcBef>
                <a:spcPct val="0"/>
              </a:spcBef>
            </a:pPr>
            <a:r>
              <a:rPr lang="en-US" sz="2299">
                <a:solidFill>
                  <a:srgbClr val="000000"/>
                </a:solidFill>
                <a:latin typeface="Poppins"/>
                <a:ea typeface="Poppins"/>
                <a:cs typeface="Poppins"/>
                <a:sym typeface="Poppins"/>
              </a:rPr>
              <a:t>Ope</a:t>
            </a:r>
            <a:r>
              <a:rPr lang="en-US" sz="2299">
                <a:solidFill>
                  <a:srgbClr val="000000"/>
                </a:solidFill>
                <a:latin typeface="Poppins"/>
                <a:ea typeface="Poppins"/>
                <a:cs typeface="Poppins"/>
                <a:sym typeface="Poppins"/>
              </a:rPr>
              <a:t>rational performance indicators reveal a system operating under substantial demand, with clear patterns in physician workload, bed utilization, and admission behavior. The top-performing physicians manage significantly higher patient volumes than the broader provider base:</a:t>
            </a:r>
          </a:p>
          <a:p>
            <a:pPr algn="just" marL="496564" indent="-248282" lvl="1">
              <a:lnSpc>
                <a:spcPts val="3219"/>
              </a:lnSpc>
              <a:spcBef>
                <a:spcPct val="0"/>
              </a:spcBef>
              <a:buFont typeface="Arial"/>
              <a:buChar char="•"/>
            </a:pPr>
            <a:r>
              <a:rPr lang="en-US" sz="2299">
                <a:solidFill>
                  <a:srgbClr val="000000"/>
                </a:solidFill>
                <a:latin typeface="Poppins"/>
                <a:ea typeface="Poppins"/>
                <a:cs typeface="Poppins"/>
                <a:sym typeface="Poppins"/>
              </a:rPr>
              <a:t>Michael Smith: ~21 patients</a:t>
            </a:r>
          </a:p>
          <a:p>
            <a:pPr algn="just" marL="539743" indent="-269871" lvl="1">
              <a:lnSpc>
                <a:spcPts val="3499"/>
              </a:lnSpc>
              <a:spcBef>
                <a:spcPct val="0"/>
              </a:spcBef>
              <a:buFont typeface="Arial"/>
              <a:buChar char="•"/>
            </a:pPr>
            <a:r>
              <a:rPr lang="en-US" sz="2499">
                <a:solidFill>
                  <a:srgbClr val="000000"/>
                </a:solidFill>
                <a:latin typeface="Poppins"/>
                <a:ea typeface="Poppins"/>
                <a:cs typeface="Poppins"/>
                <a:sym typeface="Poppins"/>
              </a:rPr>
              <a:t>John Smith: ~18 patients</a:t>
            </a:r>
          </a:p>
          <a:p>
            <a:pPr algn="just" marL="496564" indent="-248282" lvl="1">
              <a:lnSpc>
                <a:spcPts val="3219"/>
              </a:lnSpc>
              <a:spcBef>
                <a:spcPct val="0"/>
              </a:spcBef>
              <a:buFont typeface="Arial"/>
              <a:buChar char="•"/>
            </a:pPr>
            <a:r>
              <a:rPr lang="en-US" sz="2299">
                <a:solidFill>
                  <a:srgbClr val="000000"/>
                </a:solidFill>
                <a:latin typeface="Poppins"/>
                <a:ea typeface="Poppins"/>
                <a:cs typeface="Poppins"/>
                <a:sym typeface="Poppins"/>
              </a:rPr>
              <a:t>Michael Johnson: ~16 patients</a:t>
            </a:r>
          </a:p>
          <a:p>
            <a:pPr algn="just" marL="496564" indent="-248282" lvl="1">
              <a:lnSpc>
                <a:spcPts val="3219"/>
              </a:lnSpc>
              <a:spcBef>
                <a:spcPct val="0"/>
              </a:spcBef>
              <a:buFont typeface="Arial"/>
              <a:buChar char="•"/>
            </a:pPr>
            <a:r>
              <a:rPr lang="en-US" sz="2299">
                <a:solidFill>
                  <a:srgbClr val="000000"/>
                </a:solidFill>
                <a:latin typeface="Poppins"/>
                <a:ea typeface="Poppins"/>
                <a:cs typeface="Poppins"/>
                <a:sym typeface="Poppins"/>
              </a:rPr>
              <a:t>Robert Smith: ~15 patients</a:t>
            </a:r>
          </a:p>
          <a:p>
            <a:pPr algn="just" marL="496564" indent="-248282" lvl="1">
              <a:lnSpc>
                <a:spcPts val="3219"/>
              </a:lnSpc>
              <a:spcBef>
                <a:spcPct val="0"/>
              </a:spcBef>
              <a:buFont typeface="Arial"/>
              <a:buChar char="•"/>
            </a:pPr>
            <a:r>
              <a:rPr lang="en-US" sz="2299">
                <a:solidFill>
                  <a:srgbClr val="000000"/>
                </a:solidFill>
                <a:latin typeface="Poppins"/>
                <a:ea typeface="Poppins"/>
                <a:cs typeface="Poppins"/>
                <a:sym typeface="Poppins"/>
              </a:rPr>
              <a:t>David Smith: ~14 patients</a:t>
            </a:r>
          </a:p>
          <a:p>
            <a:pPr algn="just">
              <a:lnSpc>
                <a:spcPts val="3219"/>
              </a:lnSpc>
              <a:spcBef>
                <a:spcPct val="0"/>
              </a:spcBef>
            </a:pPr>
          </a:p>
          <a:p>
            <a:pPr algn="just">
              <a:lnSpc>
                <a:spcPts val="3219"/>
              </a:lnSpc>
              <a:spcBef>
                <a:spcPct val="0"/>
              </a:spcBef>
            </a:pPr>
          </a:p>
        </p:txBody>
      </p:sp>
      <p:sp>
        <p:nvSpPr>
          <p:cNvPr name="TextBox 5" id="5"/>
          <p:cNvSpPr txBox="true"/>
          <p:nvPr/>
        </p:nvSpPr>
        <p:spPr>
          <a:xfrm rot="0">
            <a:off x="10609729" y="706027"/>
            <a:ext cx="6649571" cy="8671904"/>
          </a:xfrm>
          <a:prstGeom prst="rect">
            <a:avLst/>
          </a:prstGeom>
        </p:spPr>
        <p:txBody>
          <a:bodyPr anchor="t" rtlCol="false" tIns="0" lIns="0" bIns="0" rIns="0">
            <a:spAutoFit/>
          </a:bodyPr>
          <a:lstStyle/>
          <a:p>
            <a:pPr algn="ctr">
              <a:lnSpc>
                <a:spcPts val="2921"/>
              </a:lnSpc>
              <a:spcBef>
                <a:spcPct val="0"/>
              </a:spcBef>
            </a:pPr>
            <a:r>
              <a:rPr lang="en-US" b="true" sz="2086" spc="-83">
                <a:solidFill>
                  <a:srgbClr val="000000"/>
                </a:solidFill>
                <a:latin typeface="Montserrat Medium"/>
                <a:ea typeface="Montserrat Medium"/>
                <a:cs typeface="Montserrat Medium"/>
                <a:sym typeface="Montserrat Medium"/>
              </a:rPr>
              <a:t>In contrast, the majority of doctors handle 1–2 patients each, highlighting a pron</a:t>
            </a:r>
            <a:r>
              <a:rPr lang="en-US" b="true" sz="2086" spc="-83">
                <a:solidFill>
                  <a:srgbClr val="000000"/>
                </a:solidFill>
                <a:latin typeface="Montserrat Medium"/>
                <a:ea typeface="Montserrat Medium"/>
                <a:cs typeface="Montserrat Medium"/>
                <a:sym typeface="Montserrat Medium"/>
              </a:rPr>
              <a:t>ounced workload imbalance across the care team.</a:t>
            </a:r>
          </a:p>
          <a:p>
            <a:pPr algn="ctr">
              <a:lnSpc>
                <a:spcPts val="2921"/>
              </a:lnSpc>
              <a:spcBef>
                <a:spcPct val="0"/>
              </a:spcBef>
            </a:pPr>
            <a:r>
              <a:rPr lang="en-US" b="true" sz="2086" spc="-83">
                <a:solidFill>
                  <a:srgbClr val="000000"/>
                </a:solidFill>
                <a:latin typeface="Montserrat Medium"/>
                <a:ea typeface="Montserrat Medium"/>
                <a:cs typeface="Montserrat Medium"/>
                <a:sym typeface="Montserrat Medium"/>
              </a:rPr>
              <a:t>Bed utilization metrics reflect similarly high pressure. The average bed occupancy stands at 15 days, indicating prolonged patient stays and reduced turnover capacity. Over the full observation period, each bed served 122 different patients, emphasizing the heavy reliance on limited bed resources and the operational strain this places on inpatient care.</a:t>
            </a:r>
          </a:p>
          <a:p>
            <a:pPr algn="ctr">
              <a:lnSpc>
                <a:spcPts val="2921"/>
              </a:lnSpc>
              <a:spcBef>
                <a:spcPct val="0"/>
              </a:spcBef>
            </a:pPr>
            <a:r>
              <a:rPr lang="en-US" b="true" sz="2086" spc="-83">
                <a:solidFill>
                  <a:srgbClr val="000000"/>
                </a:solidFill>
                <a:latin typeface="Montserrat Medium"/>
                <a:ea typeface="Montserrat Medium"/>
                <a:cs typeface="Montserrat Medium"/>
                <a:sym typeface="Montserrat Medium"/>
              </a:rPr>
              <a:t>Admission patterns are evenly distributed across categories, with Elective (33.61%), Emergency (33.46%), and Urgent (32.93%) admissions showing an almost perfect balance. This distribution suggests that the hospital manages a broad and consistent mix of case severities without significant seasonal or categorical skew.</a:t>
            </a:r>
          </a:p>
          <a:p>
            <a:pPr algn="ctr">
              <a:lnSpc>
                <a:spcPts val="2921"/>
              </a:lnSpc>
              <a:spcBef>
                <a:spcPct val="0"/>
              </a:spcBef>
            </a:pPr>
            <a:r>
              <a:rPr lang="en-US" b="true" sz="2086" spc="-83">
                <a:solidFill>
                  <a:srgbClr val="000000"/>
                </a:solidFill>
                <a:latin typeface="Montserrat Medium"/>
                <a:ea typeface="Montserrat Medium"/>
                <a:cs typeface="Montserrat Medium"/>
                <a:sym typeface="Montserrat Medium"/>
              </a:rPr>
              <a:t>Collectively, these findings underscore a system facing high throughput, uneven provider workload, long bed occupancy durations, and balanced but continuous admission demand—all of which should inform capacity planning, workforce allocation, and efficiency optimization strategies.</a:t>
            </a:r>
          </a:p>
          <a:p>
            <a:pPr algn="ctr">
              <a:lnSpc>
                <a:spcPts val="2921"/>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7051A">
                <a:alpha val="100000"/>
              </a:srgbClr>
            </a:gs>
            <a:gs pos="100000">
              <a:srgbClr val="191745">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691049" y="1508658"/>
            <a:ext cx="16568251" cy="8577414"/>
          </a:xfrm>
          <a:custGeom>
            <a:avLst/>
            <a:gdLst/>
            <a:ahLst/>
            <a:cxnLst/>
            <a:rect r="r" b="b" t="t" l="l"/>
            <a:pathLst>
              <a:path h="8577414" w="16568251">
                <a:moveTo>
                  <a:pt x="0" y="0"/>
                </a:moveTo>
                <a:lnTo>
                  <a:pt x="16568251" y="0"/>
                </a:lnTo>
                <a:lnTo>
                  <a:pt x="16568251" y="8577414"/>
                </a:lnTo>
                <a:lnTo>
                  <a:pt x="0" y="8577414"/>
                </a:lnTo>
                <a:lnTo>
                  <a:pt x="0" y="0"/>
                </a:lnTo>
                <a:close/>
              </a:path>
            </a:pathLst>
          </a:custGeom>
          <a:blipFill>
            <a:blip r:embed="rId2"/>
            <a:stretch>
              <a:fillRect l="0" t="-5050" r="0" b="-5050"/>
            </a:stretch>
          </a:blipFill>
        </p:spPr>
      </p:sp>
      <p:sp>
        <p:nvSpPr>
          <p:cNvPr name="TextBox 3" id="3"/>
          <p:cNvSpPr txBox="true"/>
          <p:nvPr/>
        </p:nvSpPr>
        <p:spPr>
          <a:xfrm rot="0">
            <a:off x="1377931" y="545095"/>
            <a:ext cx="9945025" cy="963563"/>
          </a:xfrm>
          <a:prstGeom prst="rect">
            <a:avLst/>
          </a:prstGeom>
        </p:spPr>
        <p:txBody>
          <a:bodyPr anchor="t" rtlCol="false" tIns="0" lIns="0" bIns="0" rIns="0">
            <a:spAutoFit/>
          </a:bodyPr>
          <a:lstStyle/>
          <a:p>
            <a:pPr algn="l">
              <a:lnSpc>
                <a:spcPts val="6741"/>
              </a:lnSpc>
            </a:pPr>
            <a:r>
              <a:rPr lang="en-US" sz="8426" spc="-294">
                <a:solidFill>
                  <a:srgbClr val="FFFFFF"/>
                </a:solidFill>
                <a:latin typeface="Helvetica World"/>
                <a:ea typeface="Helvetica World"/>
                <a:cs typeface="Helvetica World"/>
                <a:sym typeface="Helvetica World"/>
              </a:rPr>
              <a:t>Clinicl Analysis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76275" y="991777"/>
            <a:ext cx="9550783" cy="1374235"/>
          </a:xfrm>
          <a:prstGeom prst="rect">
            <a:avLst/>
          </a:prstGeom>
        </p:spPr>
        <p:txBody>
          <a:bodyPr anchor="t" rtlCol="false" tIns="0" lIns="0" bIns="0" rIns="0">
            <a:spAutoFit/>
          </a:bodyPr>
          <a:lstStyle/>
          <a:p>
            <a:pPr algn="l">
              <a:lnSpc>
                <a:spcPts val="5141"/>
              </a:lnSpc>
            </a:pPr>
            <a:r>
              <a:rPr lang="en-US" sz="6426" spc="-224">
                <a:solidFill>
                  <a:srgbClr val="000000"/>
                </a:solidFill>
                <a:latin typeface="Helvetica World"/>
                <a:ea typeface="Helvetica World"/>
                <a:cs typeface="Helvetica World"/>
                <a:sym typeface="Helvetica World"/>
              </a:rPr>
              <a:t>Executive Clinical</a:t>
            </a:r>
          </a:p>
          <a:p>
            <a:pPr algn="l">
              <a:lnSpc>
                <a:spcPts val="5141"/>
              </a:lnSpc>
            </a:pPr>
            <a:r>
              <a:rPr lang="en-US" sz="6426" spc="-224">
                <a:solidFill>
                  <a:srgbClr val="000000"/>
                </a:solidFill>
                <a:latin typeface="Helvetica World"/>
                <a:ea typeface="Helvetica World"/>
                <a:cs typeface="Helvetica World"/>
                <a:sym typeface="Helvetica World"/>
              </a:rPr>
              <a:t> Summery </a:t>
            </a:r>
          </a:p>
        </p:txBody>
      </p:sp>
      <p:sp>
        <p:nvSpPr>
          <p:cNvPr name="Freeform 3" id="3"/>
          <p:cNvSpPr/>
          <p:nvPr/>
        </p:nvSpPr>
        <p:spPr>
          <a:xfrm flipH="false" flipV="false" rot="0">
            <a:off x="4752017" y="1862848"/>
            <a:ext cx="1399298" cy="628412"/>
          </a:xfrm>
          <a:custGeom>
            <a:avLst/>
            <a:gdLst/>
            <a:ahLst/>
            <a:cxnLst/>
            <a:rect r="r" b="b" t="t" l="l"/>
            <a:pathLst>
              <a:path h="628412" w="1399298">
                <a:moveTo>
                  <a:pt x="0" y="0"/>
                </a:moveTo>
                <a:lnTo>
                  <a:pt x="1399299" y="0"/>
                </a:lnTo>
                <a:lnTo>
                  <a:pt x="1399299" y="628412"/>
                </a:lnTo>
                <a:lnTo>
                  <a:pt x="0" y="6284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76275" y="3995953"/>
            <a:ext cx="7875847" cy="5645150"/>
          </a:xfrm>
          <a:prstGeom prst="rect">
            <a:avLst/>
          </a:prstGeom>
        </p:spPr>
        <p:txBody>
          <a:bodyPr anchor="t" rtlCol="false" tIns="0" lIns="0" bIns="0" rIns="0">
            <a:spAutoFit/>
          </a:bodyPr>
          <a:lstStyle/>
          <a:p>
            <a:pPr algn="just">
              <a:lnSpc>
                <a:spcPts val="2799"/>
              </a:lnSpc>
              <a:spcBef>
                <a:spcPct val="0"/>
              </a:spcBef>
            </a:pPr>
            <a:r>
              <a:rPr lang="en-US" sz="1999">
                <a:solidFill>
                  <a:srgbClr val="000000"/>
                </a:solidFill>
                <a:latin typeface="Poppins"/>
                <a:ea typeface="Poppins"/>
                <a:cs typeface="Poppins"/>
                <a:sym typeface="Poppins"/>
              </a:rPr>
              <a:t>The</a:t>
            </a:r>
            <a:r>
              <a:rPr lang="en-US" sz="1999">
                <a:solidFill>
                  <a:srgbClr val="000000"/>
                </a:solidFill>
                <a:latin typeface="Poppins"/>
                <a:ea typeface="Poppins"/>
                <a:cs typeface="Poppins"/>
                <a:sym typeface="Poppins"/>
              </a:rPr>
              <a:t> clinical data analysis highlights consistent patterns in patient age distribution, length of stay, and condition prevalence across genders. The overall average length of stay (LOS) is 15.50 days, with minimal variation across admission types:</a:t>
            </a:r>
          </a:p>
          <a:p>
            <a:pPr algn="just" marL="431797" indent="-215899" lvl="1">
              <a:lnSpc>
                <a:spcPts val="2799"/>
              </a:lnSpc>
              <a:spcBef>
                <a:spcPct val="0"/>
              </a:spcBef>
              <a:buFont typeface="Arial"/>
              <a:buChar char="•"/>
            </a:pPr>
            <a:r>
              <a:rPr lang="en-US" sz="1999">
                <a:solidFill>
                  <a:srgbClr val="000000"/>
                </a:solidFill>
                <a:latin typeface="Poppins"/>
                <a:ea typeface="Poppins"/>
                <a:cs typeface="Poppins"/>
                <a:sym typeface="Poppins"/>
              </a:rPr>
              <a:t>Emergency: 15.58 days</a:t>
            </a:r>
          </a:p>
          <a:p>
            <a:pPr algn="just" marL="431797" indent="-215899" lvl="1">
              <a:lnSpc>
                <a:spcPts val="2799"/>
              </a:lnSpc>
              <a:spcBef>
                <a:spcPct val="0"/>
              </a:spcBef>
              <a:buFont typeface="Arial"/>
              <a:buChar char="•"/>
            </a:pPr>
            <a:r>
              <a:rPr lang="en-US" sz="1999">
                <a:solidFill>
                  <a:srgbClr val="000000"/>
                </a:solidFill>
                <a:latin typeface="Poppins"/>
                <a:ea typeface="Poppins"/>
                <a:cs typeface="Poppins"/>
                <a:sym typeface="Poppins"/>
              </a:rPr>
              <a:t>Elective: 15.51 days</a:t>
            </a:r>
          </a:p>
          <a:p>
            <a:pPr algn="just" marL="431797" indent="-215899" lvl="1">
              <a:lnSpc>
                <a:spcPts val="2799"/>
              </a:lnSpc>
              <a:spcBef>
                <a:spcPct val="0"/>
              </a:spcBef>
              <a:buFont typeface="Arial"/>
              <a:buChar char="•"/>
            </a:pPr>
            <a:r>
              <a:rPr lang="en-US" sz="1999">
                <a:solidFill>
                  <a:srgbClr val="000000"/>
                </a:solidFill>
                <a:latin typeface="Poppins"/>
                <a:ea typeface="Poppins"/>
                <a:cs typeface="Poppins"/>
                <a:sym typeface="Poppins"/>
              </a:rPr>
              <a:t>Urgent: 15.40 days</a:t>
            </a:r>
          </a:p>
          <a:p>
            <a:pPr algn="just">
              <a:lnSpc>
                <a:spcPts val="2799"/>
              </a:lnSpc>
              <a:spcBef>
                <a:spcPct val="0"/>
              </a:spcBef>
            </a:pPr>
            <a:r>
              <a:rPr lang="en-US" sz="1999">
                <a:solidFill>
                  <a:srgbClr val="000000"/>
                </a:solidFill>
                <a:latin typeface="Poppins"/>
                <a:ea typeface="Poppins"/>
                <a:cs typeface="Poppins"/>
                <a:sym typeface="Poppins"/>
              </a:rPr>
              <a:t>This narrow range indicates that LOS is largely driven by medical condition rather than admission type.</a:t>
            </a:r>
          </a:p>
          <a:p>
            <a:pPr algn="just">
              <a:lnSpc>
                <a:spcPts val="2799"/>
              </a:lnSpc>
              <a:spcBef>
                <a:spcPct val="0"/>
              </a:spcBef>
            </a:pPr>
            <a:r>
              <a:rPr lang="en-US" sz="1999">
                <a:solidFill>
                  <a:srgbClr val="000000"/>
                </a:solidFill>
                <a:latin typeface="Poppins"/>
                <a:ea typeface="Poppins"/>
                <a:cs typeface="Poppins"/>
                <a:sym typeface="Poppins"/>
              </a:rPr>
              <a:t>Age distribution across clinical conditions is stable, with average ages clustering closely together. Patients with asthma, hypertension, arthritis, diabetes, cancer, and obesity all fall within a similar age band, suggesting a relatively uniform age profile across chronic and acute conditions.</a:t>
            </a:r>
          </a:p>
          <a:p>
            <a:pPr algn="just">
              <a:lnSpc>
                <a:spcPts val="2799"/>
              </a:lnSpc>
              <a:spcBef>
                <a:spcPct val="0"/>
              </a:spcBef>
            </a:pPr>
          </a:p>
        </p:txBody>
      </p:sp>
      <p:sp>
        <p:nvSpPr>
          <p:cNvPr name="TextBox 5" id="5"/>
          <p:cNvSpPr txBox="true"/>
          <p:nvPr/>
        </p:nvSpPr>
        <p:spPr>
          <a:xfrm rot="0">
            <a:off x="10609729" y="696502"/>
            <a:ext cx="6649571" cy="9590405"/>
          </a:xfrm>
          <a:prstGeom prst="rect">
            <a:avLst/>
          </a:prstGeom>
        </p:spPr>
        <p:txBody>
          <a:bodyPr anchor="t" rtlCol="false" tIns="0" lIns="0" bIns="0" rIns="0">
            <a:spAutoFit/>
          </a:bodyPr>
          <a:lstStyle/>
          <a:p>
            <a:pPr algn="ctr">
              <a:lnSpc>
                <a:spcPts val="3220"/>
              </a:lnSpc>
              <a:spcBef>
                <a:spcPct val="0"/>
              </a:spcBef>
            </a:pPr>
            <a:r>
              <a:rPr lang="en-US" b="true" sz="2300" spc="-92">
                <a:solidFill>
                  <a:srgbClr val="000000"/>
                </a:solidFill>
                <a:latin typeface="Montserrat Medium"/>
                <a:ea typeface="Montserrat Medium"/>
                <a:cs typeface="Montserrat Medium"/>
                <a:sym typeface="Montserrat Medium"/>
              </a:rPr>
              <a:t>Length of stay by medical condition shows slightly gr</a:t>
            </a:r>
            <a:r>
              <a:rPr lang="en-US" b="true" sz="2300" spc="-92">
                <a:solidFill>
                  <a:srgbClr val="000000"/>
                </a:solidFill>
                <a:latin typeface="Montserrat Medium"/>
                <a:ea typeface="Montserrat Medium"/>
                <a:cs typeface="Montserrat Medium"/>
                <a:sym typeface="Montserrat Medium"/>
              </a:rPr>
              <a:t>eater differentiation. Patients with asthma experience the longest stays—approximately 16 days—followed closely by those with arthritis, cancer, obesity, hypertension, and diabetes, all of which align near the 15–16 day range. This indicates that while conditions differ in complexity, their inpatient resource demands remain comparable.</a:t>
            </a:r>
          </a:p>
          <a:p>
            <a:pPr algn="ctr">
              <a:lnSpc>
                <a:spcPts val="3220"/>
              </a:lnSpc>
              <a:spcBef>
                <a:spcPct val="0"/>
              </a:spcBef>
            </a:pPr>
            <a:r>
              <a:rPr lang="en-US" b="true" sz="2300" spc="-92">
                <a:solidFill>
                  <a:srgbClr val="000000"/>
                </a:solidFill>
                <a:latin typeface="Montserrat Medium"/>
                <a:ea typeface="Montserrat Medium"/>
                <a:cs typeface="Montserrat Medium"/>
                <a:sym typeface="Montserrat Medium"/>
              </a:rPr>
              <a:t>Gender distribution across medical conditions is balanced, with male and female counts appearing nearly identical for all major diagnoses. This balance suggests that the clinical caseload is not significantly skewed toward one gender.</a:t>
            </a:r>
          </a:p>
          <a:p>
            <a:pPr algn="ctr">
              <a:lnSpc>
                <a:spcPts val="3220"/>
              </a:lnSpc>
              <a:spcBef>
                <a:spcPct val="0"/>
              </a:spcBef>
            </a:pPr>
            <a:r>
              <a:rPr lang="en-US" b="true" sz="2300" spc="-92">
                <a:solidFill>
                  <a:srgbClr val="000000"/>
                </a:solidFill>
                <a:latin typeface="Montserrat Medium"/>
                <a:ea typeface="Montserrat Medium"/>
                <a:cs typeface="Montserrat Medium"/>
                <a:sym typeface="Montserrat Medium"/>
              </a:rPr>
              <a:t>Overall, the data reflects a consistent and predictable clinical profile, characterized by similar patient ages, stable length-of-stay patterns across conditions, and balanced gender distribution—providing a reliable baseline for forecasting resource utilization and care planning.</a:t>
            </a:r>
          </a:p>
          <a:p>
            <a:pPr algn="ctr">
              <a:lnSpc>
                <a:spcPts val="3220"/>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8518" r="0" b="-68518"/>
            </a:stretch>
          </a:blipFill>
        </p:spPr>
      </p:sp>
      <p:sp>
        <p:nvSpPr>
          <p:cNvPr name="Freeform 3" id="3"/>
          <p:cNvSpPr/>
          <p:nvPr/>
        </p:nvSpPr>
        <p:spPr>
          <a:xfrm flipH="false" flipV="false" rot="0">
            <a:off x="15860002" y="8551330"/>
            <a:ext cx="1399298" cy="628412"/>
          </a:xfrm>
          <a:custGeom>
            <a:avLst/>
            <a:gdLst/>
            <a:ahLst/>
            <a:cxnLst/>
            <a:rect r="r" b="b" t="t" l="l"/>
            <a:pathLst>
              <a:path h="628412" w="1399298">
                <a:moveTo>
                  <a:pt x="0" y="0"/>
                </a:moveTo>
                <a:lnTo>
                  <a:pt x="1399298" y="0"/>
                </a:lnTo>
                <a:lnTo>
                  <a:pt x="1399298" y="628412"/>
                </a:lnTo>
                <a:lnTo>
                  <a:pt x="0" y="6284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5888070"/>
            <a:ext cx="8115300" cy="3147490"/>
          </a:xfrm>
          <a:prstGeom prst="rect">
            <a:avLst/>
          </a:prstGeom>
        </p:spPr>
        <p:txBody>
          <a:bodyPr anchor="t" rtlCol="false" tIns="0" lIns="0" bIns="0" rIns="0">
            <a:spAutoFit/>
          </a:bodyPr>
          <a:lstStyle/>
          <a:p>
            <a:pPr algn="l">
              <a:lnSpc>
                <a:spcPts val="11722"/>
              </a:lnSpc>
            </a:pPr>
            <a:r>
              <a:rPr lang="en-US" sz="14653" spc="-512">
                <a:solidFill>
                  <a:srgbClr val="FFFFFF"/>
                </a:solidFill>
                <a:latin typeface="Helvetica World"/>
                <a:ea typeface="Helvetica World"/>
                <a:cs typeface="Helvetica World"/>
                <a:sym typeface="Helvetica World"/>
              </a:rPr>
              <a:t>Thank</a:t>
            </a:r>
          </a:p>
          <a:p>
            <a:pPr algn="l">
              <a:lnSpc>
                <a:spcPts val="11722"/>
              </a:lnSpc>
            </a:pPr>
            <a:r>
              <a:rPr lang="en-US" sz="14653" spc="-512">
                <a:solidFill>
                  <a:srgbClr val="FFFFFF"/>
                </a:solidFill>
                <a:latin typeface="Helvetica World"/>
                <a:ea typeface="Helvetica World"/>
                <a:cs typeface="Helvetica World"/>
                <a:sym typeface="Helvetica World"/>
              </a:rPr>
              <a:t>You</a:t>
            </a:r>
          </a:p>
        </p:txBody>
      </p:sp>
      <p:sp>
        <p:nvSpPr>
          <p:cNvPr name="TextBox 5" id="5"/>
          <p:cNvSpPr txBox="true"/>
          <p:nvPr/>
        </p:nvSpPr>
        <p:spPr>
          <a:xfrm rot="0">
            <a:off x="9909592" y="882239"/>
            <a:ext cx="1180920" cy="264243"/>
          </a:xfrm>
          <a:prstGeom prst="rect">
            <a:avLst/>
          </a:prstGeom>
        </p:spPr>
        <p:txBody>
          <a:bodyPr anchor="t" rtlCol="false" tIns="0" lIns="0" bIns="0" rIns="0">
            <a:spAutoFit/>
          </a:bodyPr>
          <a:lstStyle/>
          <a:p>
            <a:pPr algn="l">
              <a:lnSpc>
                <a:spcPts val="2235"/>
              </a:lnSpc>
              <a:spcBef>
                <a:spcPct val="0"/>
              </a:spcBef>
            </a:pPr>
            <a:r>
              <a:rPr lang="en-US" b="true" sz="1596" spc="-63">
                <a:solidFill>
                  <a:srgbClr val="FFFFFF"/>
                </a:solidFill>
                <a:latin typeface="Montserrat Medium"/>
                <a:ea typeface="Montserrat Medium"/>
                <a:cs typeface="Montserrat Medium"/>
                <a:sym typeface="Montserrat Medium"/>
              </a:rPr>
              <a:t>Becember</a:t>
            </a:r>
          </a:p>
        </p:txBody>
      </p:sp>
      <p:sp>
        <p:nvSpPr>
          <p:cNvPr name="TextBox 6" id="6"/>
          <p:cNvSpPr txBox="true"/>
          <p:nvPr/>
        </p:nvSpPr>
        <p:spPr>
          <a:xfrm rot="0">
            <a:off x="12262648" y="882283"/>
            <a:ext cx="993815" cy="264302"/>
          </a:xfrm>
          <a:prstGeom prst="rect">
            <a:avLst/>
          </a:prstGeom>
        </p:spPr>
        <p:txBody>
          <a:bodyPr anchor="t" rtlCol="false" tIns="0" lIns="0" bIns="0" rIns="0">
            <a:spAutoFit/>
          </a:bodyPr>
          <a:lstStyle/>
          <a:p>
            <a:pPr algn="ctr">
              <a:lnSpc>
                <a:spcPts val="2235"/>
              </a:lnSpc>
              <a:spcBef>
                <a:spcPct val="0"/>
              </a:spcBef>
            </a:pPr>
            <a:r>
              <a:rPr lang="en-US" b="true" sz="1596" spc="-63">
                <a:solidFill>
                  <a:srgbClr val="FFFFFF"/>
                </a:solidFill>
                <a:latin typeface="Montserrat Medium"/>
                <a:ea typeface="Montserrat Medium"/>
                <a:cs typeface="Montserrat Medium"/>
                <a:sym typeface="Montserrat Medium"/>
              </a:rPr>
              <a:t>2025</a:t>
            </a:r>
          </a:p>
        </p:txBody>
      </p:sp>
      <p:sp>
        <p:nvSpPr>
          <p:cNvPr name="TextBox 7" id="7"/>
          <p:cNvSpPr txBox="true"/>
          <p:nvPr/>
        </p:nvSpPr>
        <p:spPr>
          <a:xfrm rot="0">
            <a:off x="14284037" y="882239"/>
            <a:ext cx="2975263" cy="264243"/>
          </a:xfrm>
          <a:prstGeom prst="rect">
            <a:avLst/>
          </a:prstGeom>
        </p:spPr>
        <p:txBody>
          <a:bodyPr anchor="t" rtlCol="false" tIns="0" lIns="0" bIns="0" rIns="0">
            <a:spAutoFit/>
          </a:bodyPr>
          <a:lstStyle/>
          <a:p>
            <a:pPr algn="r">
              <a:lnSpc>
                <a:spcPts val="2235"/>
              </a:lnSpc>
              <a:spcBef>
                <a:spcPct val="0"/>
              </a:spcBef>
            </a:pPr>
            <a:r>
              <a:rPr lang="en-US" b="true" sz="1596" spc="-63">
                <a:solidFill>
                  <a:srgbClr val="FFFFFF"/>
                </a:solidFill>
                <a:latin typeface="Montserrat Medium"/>
                <a:ea typeface="Montserrat Medium"/>
                <a:cs typeface="Montserrat Medium"/>
                <a:sym typeface="Montserrat Medium"/>
              </a:rPr>
              <a:t>Healthcare Presentation</a:t>
            </a:r>
          </a:p>
        </p:txBody>
      </p:sp>
      <p:sp>
        <p:nvSpPr>
          <p:cNvPr name="TextBox 8" id="8"/>
          <p:cNvSpPr txBox="true"/>
          <p:nvPr/>
        </p:nvSpPr>
        <p:spPr>
          <a:xfrm rot="0">
            <a:off x="1154318" y="8760292"/>
            <a:ext cx="9125527" cy="543728"/>
          </a:xfrm>
          <a:prstGeom prst="rect">
            <a:avLst/>
          </a:prstGeom>
        </p:spPr>
        <p:txBody>
          <a:bodyPr anchor="t" rtlCol="false" tIns="0" lIns="0" bIns="0" rIns="0">
            <a:spAutoFit/>
          </a:bodyPr>
          <a:lstStyle/>
          <a:p>
            <a:pPr algn="just">
              <a:lnSpc>
                <a:spcPts val="4050"/>
              </a:lnSpc>
              <a:spcBef>
                <a:spcPct val="0"/>
              </a:spcBef>
            </a:pPr>
            <a:r>
              <a:rPr lang="en-US" sz="2893" i="true">
                <a:solidFill>
                  <a:srgbClr val="FFFFFF"/>
                </a:solidFill>
                <a:latin typeface="Helvetica World Italics"/>
                <a:ea typeface="Helvetica World Italics"/>
                <a:cs typeface="Helvetica World Italics"/>
                <a:sym typeface="Helvetica World Italics"/>
              </a:rPr>
              <a:t>F</a:t>
            </a:r>
            <a:r>
              <a:rPr lang="en-US" sz="2893" i="true">
                <a:solidFill>
                  <a:srgbClr val="FFFFFF"/>
                </a:solidFill>
                <a:latin typeface="Helvetica World Italics"/>
                <a:ea typeface="Helvetica World Italics"/>
                <a:cs typeface="Helvetica World Italics"/>
                <a:sym typeface="Helvetica World Italics"/>
              </a:rPr>
              <a:t>inding insights at Every Step</a:t>
            </a:r>
          </a:p>
        </p:txBody>
      </p:sp>
      <p:sp>
        <p:nvSpPr>
          <p:cNvPr name="TextBox 9" id="9"/>
          <p:cNvSpPr txBox="true"/>
          <p:nvPr/>
        </p:nvSpPr>
        <p:spPr>
          <a:xfrm rot="0">
            <a:off x="1028700" y="725926"/>
            <a:ext cx="2794881" cy="431120"/>
          </a:xfrm>
          <a:prstGeom prst="rect">
            <a:avLst/>
          </a:prstGeom>
        </p:spPr>
        <p:txBody>
          <a:bodyPr anchor="t" rtlCol="false" tIns="0" lIns="0" bIns="0" rIns="0">
            <a:spAutoFit/>
          </a:bodyPr>
          <a:lstStyle/>
          <a:p>
            <a:pPr algn="l">
              <a:lnSpc>
                <a:spcPts val="3537"/>
              </a:lnSpc>
              <a:spcBef>
                <a:spcPct val="0"/>
              </a:spcBef>
            </a:pPr>
            <a:r>
              <a:rPr lang="en-US" b="true" sz="2526" i="true" spc="-101">
                <a:solidFill>
                  <a:srgbClr val="FFFFFF"/>
                </a:solidFill>
                <a:latin typeface="Montserrat Medium Italics"/>
                <a:ea typeface="Montserrat Medium Italics"/>
                <a:cs typeface="Montserrat Medium Italics"/>
                <a:sym typeface="Montserrat Medium Italics"/>
              </a:rPr>
              <a:t>DataWizards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DAG7BfbeVo4</dc:identifier>
  <dcterms:modified xsi:type="dcterms:W3CDTF">2011-08-01T06:04:30Z</dcterms:modified>
  <cp:revision>1</cp:revision>
  <dc:title>Blue Modern Healthcare Medical Presentation</dc:title>
</cp:coreProperties>
</file>