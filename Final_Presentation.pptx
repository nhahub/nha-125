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76" r:id="rId4"/>
    <p:sldId id="277" r:id="rId5"/>
    <p:sldId id="274" r:id="rId6"/>
    <p:sldId id="275" r:id="rId7"/>
    <p:sldId id="258" r:id="rId8"/>
    <p:sldId id="272" r:id="rId9"/>
    <p:sldId id="259" r:id="rId10"/>
    <p:sldId id="260" r:id="rId11"/>
    <p:sldId id="281" r:id="rId12"/>
    <p:sldId id="278" r:id="rId13"/>
    <p:sldId id="261" r:id="rId14"/>
    <p:sldId id="262" r:id="rId15"/>
    <p:sldId id="273" r:id="rId16"/>
    <p:sldId id="282" r:id="rId17"/>
    <p:sldId id="279" r:id="rId18"/>
    <p:sldId id="263" r:id="rId19"/>
    <p:sldId id="264" r:id="rId20"/>
    <p:sldId id="265" r:id="rId21"/>
    <p:sldId id="283" r:id="rId22"/>
    <p:sldId id="280" r:id="rId23"/>
    <p:sldId id="266" r:id="rId24"/>
    <p:sldId id="267" r:id="rId25"/>
    <p:sldId id="268" r:id="rId26"/>
    <p:sldId id="284" r:id="rId27"/>
    <p:sldId id="269" r:id="rId28"/>
    <p:sldId id="270" r:id="rId29"/>
    <p:sldId id="271"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17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247" autoAdjust="0"/>
  </p:normalViewPr>
  <p:slideViewPr>
    <p:cSldViewPr snapToGrid="0" snapToObjects="1">
      <p:cViewPr varScale="1">
        <p:scale>
          <a:sx n="138" d="100"/>
          <a:sy n="138" d="100"/>
        </p:scale>
        <p:origin x="11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2139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CBD9B-8F37-47A4-584A-1DE53C3608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8DEDD-6AAC-DFC3-6331-C1A6F8790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C0BF7-B076-4EDF-1F9C-AF7B709753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93D86B-2F99-2698-B3BB-E61A341FDB2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78117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9D441-5A2E-1153-DCE7-84B0FA97B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F06D0-B4AB-688E-20EF-52CAAAEC3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17D97-78C3-405D-75AE-1C329E9695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AB7A1-18AB-FAC8-A6D3-595E8F7F1D5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51243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1411B-D82C-640E-D853-4EB26ECF1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99A0E-5924-3B62-2914-D8FB46587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ABE19-EFB4-8840-FCF7-7D264B95C2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92A119-4C28-8792-3BF9-94EFE867C50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807291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9CC2-051A-A200-E2F6-8E8DC932A9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D080F4-CB9B-47CD-D2EE-E943C2C7E0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0D50FC-6ECA-03AB-221D-598B794853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AA9B92-6D8C-90BC-85F3-34DF9B023857}"/>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43120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DFC9-AEF9-99B9-8A44-84D6827AF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FAEA91-A151-1A0B-69A2-C3E912904D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733F0-CDFA-6B2B-D427-02954278B5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81F76-DBF8-23FB-DA03-4ADBAE8F458C}"/>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6889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CA9D-FAD1-5BFE-6E87-BF46876CF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9F15A-319F-BB68-4A1C-0B3DBAB61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59937-472E-B79E-01C1-73DE9C824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60AB75-5D72-E235-EEA6-F804FDDB7319}"/>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341563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EED21-7D66-E7BA-90EC-E79FD698FE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3E8611-2CE3-600C-6265-148BAC2414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A10DE-97C9-31C1-2A1E-48F82F22E7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CA3DC4-DC8D-73B5-E691-A37E78D1BE61}"/>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42333188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tm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tmp"/><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2023052" y="1512689"/>
            <a:ext cx="5097745" cy="685800"/>
          </a:xfrm>
          <a:prstGeom prst="rect">
            <a:avLst/>
          </a:prstGeom>
          <a:noFill/>
          <a:ln/>
        </p:spPr>
        <p:txBody>
          <a:bodyPr wrap="square" lIns="0" tIns="0" rIns="0" bIns="0" rtlCol="0" anchor="t"/>
          <a:lstStyle/>
          <a:p>
            <a:pPr marL="0" indent="0" algn="ctr">
              <a:lnSpc>
                <a:spcPts val="5400"/>
              </a:lnSpc>
              <a:buNone/>
            </a:pPr>
            <a:r>
              <a:rPr lang="en-US" sz="4500" b="1" dirty="0">
                <a:solidFill>
                  <a:srgbClr val="38BDF8"/>
                </a:solidFill>
                <a:latin typeface="Arial" pitchFamily="34" charset="0"/>
                <a:ea typeface="Arial" pitchFamily="34" charset="-122"/>
                <a:cs typeface="Arial" pitchFamily="34" charset="-120"/>
              </a:rPr>
              <a:t>Healthcare Industry</a:t>
            </a:r>
            <a:endParaRPr lang="en-US" sz="4500" dirty="0"/>
          </a:p>
        </p:txBody>
      </p:sp>
      <p:sp>
        <p:nvSpPr>
          <p:cNvPr id="3" name="Text 1"/>
          <p:cNvSpPr/>
          <p:nvPr/>
        </p:nvSpPr>
        <p:spPr>
          <a:xfrm>
            <a:off x="2952092" y="2350889"/>
            <a:ext cx="3239816" cy="319980"/>
          </a:xfrm>
          <a:prstGeom prst="rect">
            <a:avLst/>
          </a:prstGeom>
          <a:noFill/>
          <a:ln/>
        </p:spPr>
        <p:txBody>
          <a:bodyPr wrap="square" lIns="0" tIns="0" rIns="0" bIns="0" rtlCol="0" anchor="t"/>
          <a:lstStyle/>
          <a:p>
            <a:pPr marL="0" indent="0" algn="ctr">
              <a:lnSpc>
                <a:spcPts val="2520"/>
              </a:lnSpc>
              <a:buNone/>
            </a:pPr>
            <a:endParaRPr lang="en-US" sz="1800" dirty="0"/>
          </a:p>
        </p:txBody>
      </p:sp>
      <p:sp>
        <p:nvSpPr>
          <p:cNvPr id="4" name="Text 2"/>
          <p:cNvSpPr/>
          <p:nvPr/>
        </p:nvSpPr>
        <p:spPr>
          <a:xfrm>
            <a:off x="2711178" y="2975670"/>
            <a:ext cx="3721644" cy="239911"/>
          </a:xfrm>
          <a:prstGeom prst="rect">
            <a:avLst/>
          </a:prstGeom>
          <a:noFill/>
          <a:ln/>
        </p:spPr>
        <p:txBody>
          <a:bodyPr wrap="square" lIns="0" tIns="0" rIns="0" bIns="0" rtlCol="0" anchor="t"/>
          <a:lstStyle/>
          <a:p>
            <a:pPr marL="0" indent="0" algn="ctr">
              <a:lnSpc>
                <a:spcPts val="1890"/>
              </a:lnSpc>
              <a:buNone/>
            </a:pPr>
            <a:r>
              <a:rPr lang="en-US" sz="1350" dirty="0">
                <a:solidFill>
                  <a:srgbClr val="94A3B8"/>
                </a:solidFill>
                <a:latin typeface="Arial" pitchFamily="34" charset="0"/>
                <a:ea typeface="Arial" pitchFamily="34" charset="-122"/>
                <a:cs typeface="Arial" pitchFamily="34" charset="-120"/>
              </a:rPr>
              <a:t>Financial • Clinical • Demographics • Operations</a:t>
            </a:r>
            <a:endParaRPr lang="en-US" sz="1350" dirty="0"/>
          </a:p>
        </p:txBody>
      </p:sp>
      <p:sp>
        <p:nvSpPr>
          <p:cNvPr id="5" name="Text 3"/>
          <p:cNvSpPr/>
          <p:nvPr/>
        </p:nvSpPr>
        <p:spPr>
          <a:xfrm>
            <a:off x="3027085" y="3444180"/>
            <a:ext cx="3089681"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December 2025 | Healthcare Performance Analysis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100950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411462"/>
            <a:ext cx="7924800" cy="100950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573363"/>
            <a:ext cx="7924800" cy="100950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Executive Summary</a:t>
            </a:r>
            <a:endParaRPr lang="en-US" sz="2700" dirty="0"/>
          </a:p>
        </p:txBody>
      </p:sp>
      <p:sp>
        <p:nvSpPr>
          <p:cNvPr id="6" name="Text 4"/>
          <p:cNvSpPr/>
          <p:nvPr/>
        </p:nvSpPr>
        <p:spPr>
          <a:xfrm>
            <a:off x="800100" y="1401961"/>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Financial Growth</a:t>
            </a:r>
            <a:endParaRPr lang="en-US" sz="1200" dirty="0"/>
          </a:p>
        </p:txBody>
      </p:sp>
      <p:sp>
        <p:nvSpPr>
          <p:cNvPr id="7" name="Text 5"/>
          <p:cNvSpPr/>
          <p:nvPr/>
        </p:nvSpPr>
        <p:spPr>
          <a:xfrm>
            <a:off x="800100" y="1653332"/>
            <a:ext cx="7733538" cy="266700"/>
          </a:xfrm>
          <a:prstGeom prst="rect">
            <a:avLst/>
          </a:prstGeom>
          <a:noFill/>
          <a:ln/>
        </p:spPr>
        <p:txBody>
          <a:bodyPr wrap="square" lIns="0" tIns="0" rIns="0" bIns="0" rtlCol="0" anchor="t"/>
          <a:lstStyle/>
          <a:p>
            <a:pPr marL="0" indent="0">
              <a:lnSpc>
                <a:spcPts val="2100"/>
              </a:lnSpc>
              <a:buNone/>
            </a:pPr>
            <a:r>
              <a:rPr lang="en-US" sz="1500" b="1" dirty="0">
                <a:solidFill>
                  <a:srgbClr val="38BDF8"/>
                </a:solidFill>
                <a:latin typeface="Arial" pitchFamily="34" charset="0"/>
                <a:ea typeface="Arial" pitchFamily="34" charset="-122"/>
                <a:cs typeface="Arial" pitchFamily="34" charset="-120"/>
              </a:rPr>
              <a:t>$1.40bn Revenue</a:t>
            </a:r>
            <a:endParaRPr lang="en-US" sz="1500" dirty="0"/>
          </a:p>
        </p:txBody>
      </p:sp>
      <p:sp>
        <p:nvSpPr>
          <p:cNvPr id="8" name="Text 6"/>
          <p:cNvSpPr/>
          <p:nvPr/>
        </p:nvSpPr>
        <p:spPr>
          <a:xfrm>
            <a:off x="800100" y="1920032"/>
            <a:ext cx="7733538"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 20.4% YoY</a:t>
            </a:r>
            <a:endParaRPr lang="en-US" sz="1050" dirty="0"/>
          </a:p>
        </p:txBody>
      </p:sp>
      <p:sp>
        <p:nvSpPr>
          <p:cNvPr id="9" name="Text 7"/>
          <p:cNvSpPr/>
          <p:nvPr/>
        </p:nvSpPr>
        <p:spPr>
          <a:xfrm>
            <a:off x="800100" y="2563862"/>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Patient Population</a:t>
            </a:r>
            <a:endParaRPr lang="en-US" sz="1200" dirty="0"/>
          </a:p>
        </p:txBody>
      </p:sp>
      <p:sp>
        <p:nvSpPr>
          <p:cNvPr id="10" name="Text 8"/>
          <p:cNvSpPr/>
          <p:nvPr/>
        </p:nvSpPr>
        <p:spPr>
          <a:xfrm>
            <a:off x="800100" y="2815233"/>
            <a:ext cx="7733538" cy="266700"/>
          </a:xfrm>
          <a:prstGeom prst="rect">
            <a:avLst/>
          </a:prstGeom>
          <a:noFill/>
          <a:ln/>
        </p:spPr>
        <p:txBody>
          <a:bodyPr wrap="square" lIns="0" tIns="0" rIns="0" bIns="0" rtlCol="0" anchor="t"/>
          <a:lstStyle/>
          <a:p>
            <a:pPr marL="0" indent="0">
              <a:lnSpc>
                <a:spcPts val="2100"/>
              </a:lnSpc>
              <a:buNone/>
            </a:pPr>
            <a:r>
              <a:rPr lang="en-US" sz="1500" b="1" dirty="0">
                <a:solidFill>
                  <a:srgbClr val="10B981"/>
                </a:solidFill>
                <a:latin typeface="Arial" pitchFamily="34" charset="0"/>
                <a:ea typeface="Arial" pitchFamily="34" charset="-122"/>
                <a:cs typeface="Arial" pitchFamily="34" charset="-120"/>
              </a:rPr>
              <a:t>48,896 Patients</a:t>
            </a:r>
            <a:endParaRPr lang="en-US" sz="1500" dirty="0"/>
          </a:p>
        </p:txBody>
      </p:sp>
      <p:sp>
        <p:nvSpPr>
          <p:cNvPr id="11" name="Text 9"/>
          <p:cNvSpPr/>
          <p:nvPr/>
        </p:nvSpPr>
        <p:spPr>
          <a:xfrm>
            <a:off x="800100" y="3081933"/>
            <a:ext cx="7733538"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50/50 Gender Balance</a:t>
            </a:r>
            <a:endParaRPr lang="en-US" sz="1050" dirty="0"/>
          </a:p>
        </p:txBody>
      </p:sp>
      <p:sp>
        <p:nvSpPr>
          <p:cNvPr id="12" name="Text 10"/>
          <p:cNvSpPr/>
          <p:nvPr/>
        </p:nvSpPr>
        <p:spPr>
          <a:xfrm>
            <a:off x="800100" y="3725763"/>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F59E0B"/>
                </a:solidFill>
                <a:latin typeface="Arial" pitchFamily="34" charset="0"/>
                <a:ea typeface="Arial" pitchFamily="34" charset="-122"/>
                <a:cs typeface="Arial" pitchFamily="34" charset="-120"/>
              </a:rPr>
              <a:t>Operational Status</a:t>
            </a:r>
            <a:endParaRPr lang="en-US" sz="1200" dirty="0"/>
          </a:p>
        </p:txBody>
      </p:sp>
      <p:sp>
        <p:nvSpPr>
          <p:cNvPr id="13" name="Text 11"/>
          <p:cNvSpPr/>
          <p:nvPr/>
        </p:nvSpPr>
        <p:spPr>
          <a:xfrm>
            <a:off x="800100" y="3977134"/>
            <a:ext cx="7733538" cy="266700"/>
          </a:xfrm>
          <a:prstGeom prst="rect">
            <a:avLst/>
          </a:prstGeom>
          <a:noFill/>
          <a:ln/>
        </p:spPr>
        <p:txBody>
          <a:bodyPr wrap="square" lIns="0" tIns="0" rIns="0" bIns="0" rtlCol="0" anchor="t"/>
          <a:lstStyle/>
          <a:p>
            <a:pPr marL="0" indent="0">
              <a:lnSpc>
                <a:spcPts val="2100"/>
              </a:lnSpc>
              <a:buNone/>
            </a:pPr>
            <a:r>
              <a:rPr lang="en-US" sz="1500" b="1" dirty="0">
                <a:solidFill>
                  <a:srgbClr val="38BDF8"/>
                </a:solidFill>
                <a:latin typeface="Arial" pitchFamily="34" charset="0"/>
                <a:ea typeface="Arial" pitchFamily="34" charset="-122"/>
                <a:cs typeface="Arial" pitchFamily="34" charset="-120"/>
              </a:rPr>
              <a:t>15-Day LOS</a:t>
            </a:r>
            <a:endParaRPr lang="en-US" sz="1500" dirty="0"/>
          </a:p>
        </p:txBody>
      </p:sp>
      <p:sp>
        <p:nvSpPr>
          <p:cNvPr id="14" name="Text 12"/>
          <p:cNvSpPr/>
          <p:nvPr/>
        </p:nvSpPr>
        <p:spPr>
          <a:xfrm>
            <a:off x="800100" y="4243834"/>
            <a:ext cx="7733538"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High Bed Utilization</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0" name="Text 0">
            <a:extLst>
              <a:ext uri="{FF2B5EF4-FFF2-40B4-BE49-F238E27FC236}">
                <a16:creationId xmlns:a16="http://schemas.microsoft.com/office/drawing/2014/main" id="{975FC1D6-4AF5-8C30-2E58-39E0A6890269}"/>
              </a:ext>
            </a:extLst>
          </p:cNvPr>
          <p:cNvSpPr/>
          <p:nvPr/>
        </p:nvSpPr>
        <p:spPr>
          <a:xfrm>
            <a:off x="609600" y="948081"/>
            <a:ext cx="7924800" cy="803392"/>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21" name="Text 0">
            <a:extLst>
              <a:ext uri="{FF2B5EF4-FFF2-40B4-BE49-F238E27FC236}">
                <a16:creationId xmlns:a16="http://schemas.microsoft.com/office/drawing/2014/main" id="{68AC06A5-7BE0-9AB2-85B6-72692532915C}"/>
              </a:ext>
            </a:extLst>
          </p:cNvPr>
          <p:cNvSpPr/>
          <p:nvPr/>
        </p:nvSpPr>
        <p:spPr>
          <a:xfrm>
            <a:off x="609600" y="1947122"/>
            <a:ext cx="7924800" cy="924582"/>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22" name="Text 0">
            <a:extLst>
              <a:ext uri="{FF2B5EF4-FFF2-40B4-BE49-F238E27FC236}">
                <a16:creationId xmlns:a16="http://schemas.microsoft.com/office/drawing/2014/main" id="{F0FF7824-DCAE-8199-4C4B-557A72C3CE97}"/>
              </a:ext>
            </a:extLst>
          </p:cNvPr>
          <p:cNvSpPr/>
          <p:nvPr/>
        </p:nvSpPr>
        <p:spPr>
          <a:xfrm>
            <a:off x="609600" y="3149338"/>
            <a:ext cx="7924800" cy="832619"/>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23" name="Text 0">
            <a:extLst>
              <a:ext uri="{FF2B5EF4-FFF2-40B4-BE49-F238E27FC236}">
                <a16:creationId xmlns:a16="http://schemas.microsoft.com/office/drawing/2014/main" id="{8D5F151E-6F41-966F-773C-FD04816B8804}"/>
              </a:ext>
            </a:extLst>
          </p:cNvPr>
          <p:cNvSpPr/>
          <p:nvPr/>
        </p:nvSpPr>
        <p:spPr>
          <a:xfrm>
            <a:off x="609600" y="4216847"/>
            <a:ext cx="7924800" cy="702179"/>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2" name="Text 0"/>
          <p:cNvSpPr/>
          <p:nvPr/>
        </p:nvSpPr>
        <p:spPr>
          <a:xfrm>
            <a:off x="609600" y="5918746"/>
            <a:ext cx="7781925" cy="1596033"/>
          </a:xfrm>
          <a:prstGeom prst="roundRect">
            <a:avLst>
              <a:gd name="adj" fmla="val 22917"/>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7629079"/>
            <a:ext cx="7781925" cy="1596033"/>
          </a:xfrm>
          <a:prstGeom prst="roundRect">
            <a:avLst>
              <a:gd name="adj" fmla="val 22917"/>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9339411"/>
            <a:ext cx="7781925" cy="1596033"/>
          </a:xfrm>
          <a:prstGeom prst="roundRect">
            <a:avLst>
              <a:gd name="adj" fmla="val 22917"/>
            </a:avLst>
          </a:prstGeom>
          <a:solidFill>
            <a:srgbClr val="EF4444">
              <a:alpha val="15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367578"/>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Executive Summary: Comprehensive Overview</a:t>
            </a:r>
            <a:endParaRPr lang="en-US" sz="2700" dirty="0"/>
          </a:p>
        </p:txBody>
      </p:sp>
      <p:sp>
        <p:nvSpPr>
          <p:cNvPr id="6" name="Text 4"/>
          <p:cNvSpPr/>
          <p:nvPr/>
        </p:nvSpPr>
        <p:spPr>
          <a:xfrm>
            <a:off x="723900" y="1043890"/>
            <a:ext cx="7850124"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FINANCIAL HEALTH</a:t>
            </a:r>
            <a:endParaRPr lang="en-US" sz="1050" dirty="0"/>
          </a:p>
        </p:txBody>
      </p:sp>
      <p:sp>
        <p:nvSpPr>
          <p:cNvPr id="7" name="Text 5"/>
          <p:cNvSpPr/>
          <p:nvPr/>
        </p:nvSpPr>
        <p:spPr>
          <a:xfrm>
            <a:off x="723900" y="1229068"/>
            <a:ext cx="76962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$1.40bn revenue (+20.4% YoY) with strong per-patient revenue growth of $25.54K (+7.1%). Quarterly momentum of 2.1% demonstrates sustained growth trajectory. Monthly seasonality ($108.7M-$121.6M) requires resource planning optimization.</a:t>
            </a:r>
            <a:endParaRPr lang="en-US" sz="1050" dirty="0"/>
          </a:p>
        </p:txBody>
      </p:sp>
      <p:sp>
        <p:nvSpPr>
          <p:cNvPr id="8" name="Text 6"/>
          <p:cNvSpPr/>
          <p:nvPr/>
        </p:nvSpPr>
        <p:spPr>
          <a:xfrm>
            <a:off x="723900" y="2036153"/>
            <a:ext cx="7850124"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 OPERATIONAL EXCELLENCE</a:t>
            </a:r>
            <a:endParaRPr lang="en-US" sz="1050" dirty="0"/>
          </a:p>
        </p:txBody>
      </p:sp>
      <p:sp>
        <p:nvSpPr>
          <p:cNvPr id="9" name="Text 7"/>
          <p:cNvSpPr/>
          <p:nvPr/>
        </p:nvSpPr>
        <p:spPr>
          <a:xfrm>
            <a:off x="723900" y="2260884"/>
            <a:ext cx="7696200" cy="55989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15-day average LOS with 122 patients per bed indicates exceptional efficiency. 90%+ occupancy with balanced admission mix (33.6% Emergency, 33.5% Elective, 32.9% Urgent). Physician workload variance (12-24 patients) presents standardization opportunity.</a:t>
            </a:r>
            <a:endParaRPr lang="en-US" sz="1050" dirty="0"/>
          </a:p>
        </p:txBody>
      </p:sp>
      <p:sp>
        <p:nvSpPr>
          <p:cNvPr id="10" name="Text 8"/>
          <p:cNvSpPr/>
          <p:nvPr/>
        </p:nvSpPr>
        <p:spPr>
          <a:xfrm>
            <a:off x="723900" y="3231195"/>
            <a:ext cx="7850124" cy="186630"/>
          </a:xfrm>
          <a:prstGeom prst="rect">
            <a:avLst/>
          </a:prstGeom>
          <a:noFill/>
          <a:ln/>
        </p:spPr>
        <p:txBody>
          <a:bodyPr wrap="square" lIns="0" tIns="0" rIns="0" bIns="0" rtlCol="0" anchor="t"/>
          <a:lstStyle/>
          <a:p>
            <a:pPr marL="0" indent="0">
              <a:lnSpc>
                <a:spcPts val="1470"/>
              </a:lnSpc>
              <a:buNone/>
            </a:pPr>
            <a:r>
              <a:rPr lang="en-US" sz="1050" b="1" dirty="0">
                <a:solidFill>
                  <a:srgbClr val="CBD5E1"/>
                </a:solidFill>
                <a:latin typeface="Arial" pitchFamily="34" charset="0"/>
                <a:ea typeface="Arial" pitchFamily="34" charset="-122"/>
                <a:cs typeface="Arial" pitchFamily="34" charset="-120"/>
              </a:rPr>
              <a:t>👥 PATIENT DEMOGRAPHICS</a:t>
            </a:r>
            <a:endParaRPr lang="en-US" sz="1050" dirty="0"/>
          </a:p>
        </p:txBody>
      </p:sp>
      <p:sp>
        <p:nvSpPr>
          <p:cNvPr id="11" name="Text 9"/>
          <p:cNvSpPr/>
          <p:nvPr/>
        </p:nvSpPr>
        <p:spPr>
          <a:xfrm>
            <a:off x="723900" y="3455926"/>
            <a:ext cx="76962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48,896 total patients with perfect 50/50 gender balance. Middle-aged/senior population (avg 40-50 years) with 6 chronic disease focus (Diabetes, Obesity, Arthritis, Hypertension, Asthma, Cancer). Universal health risk factors across gender.</a:t>
            </a:r>
            <a:endParaRPr lang="en-US" sz="1050" dirty="0"/>
          </a:p>
        </p:txBody>
      </p:sp>
      <p:sp>
        <p:nvSpPr>
          <p:cNvPr id="12" name="Text 10"/>
          <p:cNvSpPr/>
          <p:nvPr/>
        </p:nvSpPr>
        <p:spPr>
          <a:xfrm>
            <a:off x="723900" y="4264101"/>
            <a:ext cx="7850124"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CRITICAL CONCERN</a:t>
            </a:r>
            <a:endParaRPr lang="en-US" sz="1050" dirty="0"/>
          </a:p>
        </p:txBody>
      </p:sp>
      <p:sp>
        <p:nvSpPr>
          <p:cNvPr id="13" name="Text 11"/>
          <p:cNvSpPr/>
          <p:nvPr/>
        </p:nvSpPr>
        <p:spPr>
          <a:xfrm>
            <a:off x="723900" y="4488831"/>
            <a:ext cx="76962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66% admission volume decline (11.2K in 2020 → 3.8K in 2024) requires urgent investigation. Potential causes: market share loss, referral pattern changes, data collection issues, or competitive pressures.</a:t>
            </a:r>
            <a:endParaRPr lang="en-US" sz="1050" dirty="0"/>
          </a:p>
        </p:txBody>
      </p:sp>
      <p:sp>
        <p:nvSpPr>
          <p:cNvPr id="14" name="Text 12"/>
          <p:cNvSpPr/>
          <p:nvPr/>
        </p:nvSpPr>
        <p:spPr>
          <a:xfrm>
            <a:off x="800100" y="6071146"/>
            <a:ext cx="7587806"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STRENGTHS</a:t>
            </a:r>
            <a:endParaRPr lang="en-US" sz="1050" dirty="0"/>
          </a:p>
        </p:txBody>
      </p:sp>
      <p:sp>
        <p:nvSpPr>
          <p:cNvPr id="15" name="Text 13"/>
          <p:cNvSpPr/>
          <p:nvPr/>
        </p:nvSpPr>
        <p:spPr>
          <a:xfrm>
            <a:off x="952500" y="6333976"/>
            <a:ext cx="72866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Strong revenue growth momentum</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High bed utilization efficiency</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Balanced admission mix</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Perfect demographic equity</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Standardized care protocols</a:t>
            </a:r>
            <a:endParaRPr lang="en-US" sz="900" dirty="0"/>
          </a:p>
        </p:txBody>
      </p:sp>
      <p:sp>
        <p:nvSpPr>
          <p:cNvPr id="16" name="Text 14"/>
          <p:cNvSpPr/>
          <p:nvPr/>
        </p:nvSpPr>
        <p:spPr>
          <a:xfrm>
            <a:off x="800100" y="7781479"/>
            <a:ext cx="7587806"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OPPORTUNITIES</a:t>
            </a:r>
            <a:endParaRPr lang="en-US" sz="1050" dirty="0"/>
          </a:p>
        </p:txBody>
      </p:sp>
      <p:sp>
        <p:nvSpPr>
          <p:cNvPr id="17" name="Text 15"/>
          <p:cNvSpPr/>
          <p:nvPr/>
        </p:nvSpPr>
        <p:spPr>
          <a:xfrm>
            <a:off x="952500" y="8044309"/>
            <a:ext cx="72866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Preventive care programs</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Workload standardization</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Surge capacity planning</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Geriatric program expansion</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Seasonal revenue optimization</a:t>
            </a:r>
            <a:endParaRPr lang="en-US" sz="900" dirty="0"/>
          </a:p>
        </p:txBody>
      </p:sp>
      <p:sp>
        <p:nvSpPr>
          <p:cNvPr id="18" name="Text 16"/>
          <p:cNvSpPr/>
          <p:nvPr/>
        </p:nvSpPr>
        <p:spPr>
          <a:xfrm>
            <a:off x="800100" y="9491811"/>
            <a:ext cx="7587806" cy="186630"/>
          </a:xfrm>
          <a:prstGeom prst="rect">
            <a:avLst/>
          </a:prstGeom>
          <a:noFill/>
          <a:ln/>
        </p:spPr>
        <p:txBody>
          <a:bodyPr wrap="square" lIns="0" tIns="0" rIns="0" bIns="0" rtlCol="0" anchor="t"/>
          <a:lstStyle/>
          <a:p>
            <a:pPr marL="0" indent="0">
              <a:lnSpc>
                <a:spcPts val="1470"/>
              </a:lnSpc>
              <a:buNone/>
            </a:pPr>
            <a:r>
              <a:rPr lang="en-US" sz="1050" b="1" dirty="0">
                <a:solidFill>
                  <a:srgbClr val="EF4444"/>
                </a:solidFill>
                <a:latin typeface="Arial" pitchFamily="34" charset="0"/>
                <a:ea typeface="Arial" pitchFamily="34" charset="-122"/>
                <a:cs typeface="Arial" pitchFamily="34" charset="-120"/>
              </a:rPr>
              <a:t>🔴 RISKS</a:t>
            </a:r>
            <a:endParaRPr lang="en-US" sz="1050" dirty="0"/>
          </a:p>
        </p:txBody>
      </p:sp>
      <p:sp>
        <p:nvSpPr>
          <p:cNvPr id="19" name="Text 17"/>
          <p:cNvSpPr/>
          <p:nvPr/>
        </p:nvSpPr>
        <p:spPr>
          <a:xfrm>
            <a:off x="952500" y="9754642"/>
            <a:ext cx="72866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Admission volume collapse</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Limited surge capacity</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Physician workload imbalance</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Chronic disease burden</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Aging population needs</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a:extLst>
            <a:ext uri="{FF2B5EF4-FFF2-40B4-BE49-F238E27FC236}">
              <a16:creationId xmlns:a16="http://schemas.microsoft.com/office/drawing/2014/main" id="{BD3F9C5F-B079-7A96-5AAA-C6E865C6078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9CB1AA3-529E-DD05-D6EC-0EC55E69B2A1}"/>
              </a:ext>
            </a:extLst>
          </p:cNvPr>
          <p:cNvSpPr/>
          <p:nvPr/>
        </p:nvSpPr>
        <p:spPr>
          <a:xfrm>
            <a:off x="2023052" y="1512689"/>
            <a:ext cx="5097745" cy="685800"/>
          </a:xfrm>
          <a:prstGeom prst="rect">
            <a:avLst/>
          </a:prstGeom>
          <a:noFill/>
          <a:ln/>
        </p:spPr>
        <p:txBody>
          <a:bodyPr wrap="square" lIns="0" tIns="0" rIns="0" bIns="0" rtlCol="0" anchor="t"/>
          <a:lstStyle/>
          <a:p>
            <a:pPr marL="0" indent="0" algn="ctr">
              <a:lnSpc>
                <a:spcPts val="5400"/>
              </a:lnSpc>
              <a:buNone/>
            </a:pPr>
            <a:r>
              <a:rPr lang="en-US" sz="4500" b="1" dirty="0">
                <a:solidFill>
                  <a:schemeClr val="accent5"/>
                </a:solidFill>
              </a:rPr>
              <a:t>Financial Performance</a:t>
            </a:r>
          </a:p>
        </p:txBody>
      </p:sp>
      <p:sp>
        <p:nvSpPr>
          <p:cNvPr id="3" name="Text 1">
            <a:extLst>
              <a:ext uri="{FF2B5EF4-FFF2-40B4-BE49-F238E27FC236}">
                <a16:creationId xmlns:a16="http://schemas.microsoft.com/office/drawing/2014/main" id="{30AA5DF1-A5BF-33B8-4348-3F8739FDD48F}"/>
              </a:ext>
            </a:extLst>
          </p:cNvPr>
          <p:cNvSpPr/>
          <p:nvPr/>
        </p:nvSpPr>
        <p:spPr>
          <a:xfrm>
            <a:off x="2952092" y="2350889"/>
            <a:ext cx="3239816" cy="319980"/>
          </a:xfrm>
          <a:prstGeom prst="rect">
            <a:avLst/>
          </a:prstGeom>
          <a:noFill/>
          <a:ln/>
        </p:spPr>
        <p:txBody>
          <a:bodyPr wrap="square" lIns="0" tIns="0" rIns="0" bIns="0" rtlCol="0" anchor="t"/>
          <a:lstStyle/>
          <a:p>
            <a:pPr marL="0" indent="0" algn="ctr">
              <a:lnSpc>
                <a:spcPts val="2520"/>
              </a:lnSpc>
              <a:buNone/>
            </a:pPr>
            <a:endParaRPr lang="en-US" sz="1800" dirty="0"/>
          </a:p>
        </p:txBody>
      </p:sp>
      <p:sp>
        <p:nvSpPr>
          <p:cNvPr id="5" name="Text 3">
            <a:extLst>
              <a:ext uri="{FF2B5EF4-FFF2-40B4-BE49-F238E27FC236}">
                <a16:creationId xmlns:a16="http://schemas.microsoft.com/office/drawing/2014/main" id="{7BFAB01F-0020-9B0A-3DE9-76316187C7A5}"/>
              </a:ext>
            </a:extLst>
          </p:cNvPr>
          <p:cNvSpPr/>
          <p:nvPr/>
        </p:nvSpPr>
        <p:spPr>
          <a:xfrm>
            <a:off x="3487739" y="3132453"/>
            <a:ext cx="2168370"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December 2025 | Healthcare Performance Analysis</a:t>
            </a:r>
            <a:endParaRPr lang="en-US" sz="1050" dirty="0"/>
          </a:p>
        </p:txBody>
      </p:sp>
    </p:spTree>
    <p:extLst>
      <p:ext uri="{BB962C8B-B14F-4D97-AF65-F5344CB8AC3E}">
        <p14:creationId xmlns:p14="http://schemas.microsoft.com/office/powerpoint/2010/main" val="13744449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64175BA-0B9D-A43A-2F2C-F4233E7EE326}"/>
            </a:ext>
          </a:extLst>
        </p:cNvPr>
        <p:cNvGrpSpPr/>
        <p:nvPr/>
      </p:nvGrpSpPr>
      <p:grpSpPr>
        <a:xfrm>
          <a:off x="0" y="0"/>
          <a:ext cx="0" cy="0"/>
          <a:chOff x="0" y="0"/>
          <a:chExt cx="0" cy="0"/>
        </a:xfrm>
      </p:grpSpPr>
      <p:pic>
        <p:nvPicPr>
          <p:cNvPr id="16" name="Picture 15" descr="A screenshot of a graph&#10;&#10;AI-generated content may be incorrect.">
            <a:extLst>
              <a:ext uri="{FF2B5EF4-FFF2-40B4-BE49-F238E27FC236}">
                <a16:creationId xmlns:a16="http://schemas.microsoft.com/office/drawing/2014/main" id="{D4B830A3-914E-3065-C0DD-0D4BDB970D8E}"/>
              </a:ext>
            </a:extLst>
          </p:cNvPr>
          <p:cNvPicPr>
            <a:picLocks noChangeAspect="1"/>
          </p:cNvPicPr>
          <p:nvPr/>
        </p:nvPicPr>
        <p:blipFill>
          <a:blip r:embed="rId3"/>
          <a:stretch>
            <a:fillRect/>
          </a:stretch>
        </p:blipFill>
        <p:spPr>
          <a:xfrm>
            <a:off x="0" y="0"/>
            <a:ext cx="9144000" cy="5126724"/>
          </a:xfrm>
          <a:prstGeom prst="rect">
            <a:avLst/>
          </a:prstGeom>
        </p:spPr>
      </p:pic>
    </p:spTree>
    <p:extLst>
      <p:ext uri="{BB962C8B-B14F-4D97-AF65-F5344CB8AC3E}">
        <p14:creationId xmlns:p14="http://schemas.microsoft.com/office/powerpoint/2010/main" val="14335603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9903B4D2-29E7-848F-26AB-A8127E450957}"/>
            </a:ext>
          </a:extLst>
        </p:cNvPr>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298CA05E-A83A-059E-F4A6-74E28E683B18}"/>
              </a:ext>
            </a:extLst>
          </p:cNvPr>
          <p:cNvPicPr>
            <a:picLocks noChangeAspect="1"/>
          </p:cNvPicPr>
          <p:nvPr/>
        </p:nvPicPr>
        <p:blipFill>
          <a:blip r:embed="rId3"/>
          <a:stretch>
            <a:fillRect/>
          </a:stretch>
        </p:blipFill>
        <p:spPr>
          <a:xfrm>
            <a:off x="4465" y="0"/>
            <a:ext cx="9135070" cy="5143500"/>
          </a:xfrm>
          <a:prstGeom prst="rect">
            <a:avLst/>
          </a:prstGeom>
        </p:spPr>
      </p:pic>
    </p:spTree>
    <p:extLst>
      <p:ext uri="{BB962C8B-B14F-4D97-AF65-F5344CB8AC3E}">
        <p14:creationId xmlns:p14="http://schemas.microsoft.com/office/powerpoint/2010/main" val="2440765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96836" y="2524968"/>
            <a:ext cx="7781925" cy="310455"/>
          </a:xfrm>
          <a:prstGeom prst="rect">
            <a:avLst/>
          </a:prstGeom>
          <a:noFill/>
          <a:ln w="9525">
            <a:solidFill>
              <a:srgbClr val="38BDF8"/>
            </a:solidFill>
          </a:ln>
        </p:spPr>
        <p:txBody>
          <a:bodyPr wrap="none" lIns="0" tIns="0" rIns="0" bIns="0" rtlCol="0" anchor="ctr">
            <a:normAutofit/>
          </a:bodyPr>
          <a:lstStyle/>
          <a:p>
            <a:pPr marL="0" indent="0">
              <a:buNone/>
            </a:pPr>
            <a:endParaRPr lang="en-US" dirty="0"/>
          </a:p>
        </p:txBody>
      </p:sp>
      <p:sp>
        <p:nvSpPr>
          <p:cNvPr id="3" name="Text 1"/>
          <p:cNvSpPr/>
          <p:nvPr/>
        </p:nvSpPr>
        <p:spPr>
          <a:xfrm>
            <a:off x="596835" y="3095426"/>
            <a:ext cx="7781925" cy="310455"/>
          </a:xfrm>
          <a:prstGeom prst="rect">
            <a:avLst/>
          </a:prstGeom>
          <a:noFill/>
          <a:ln w="9525">
            <a:solidFill>
              <a:srgbClr val="38BDF8"/>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Financial Performance: Key Metrics</a:t>
            </a:r>
            <a:endParaRPr lang="en-US" sz="2700" dirty="0"/>
          </a:p>
        </p:txBody>
      </p:sp>
      <p:sp>
        <p:nvSpPr>
          <p:cNvPr id="6" name="Text 4"/>
          <p:cNvSpPr/>
          <p:nvPr/>
        </p:nvSpPr>
        <p:spPr>
          <a:xfrm>
            <a:off x="609600" y="1367646"/>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Total Revenue</a:t>
            </a:r>
            <a:endParaRPr lang="en-US" sz="1050" dirty="0"/>
          </a:p>
        </p:txBody>
      </p:sp>
      <p:sp>
        <p:nvSpPr>
          <p:cNvPr id="7" name="Text 5"/>
          <p:cNvSpPr/>
          <p:nvPr/>
        </p:nvSpPr>
        <p:spPr>
          <a:xfrm>
            <a:off x="609600" y="1607382"/>
            <a:ext cx="7937564" cy="373261"/>
          </a:xfrm>
          <a:prstGeom prst="rect">
            <a:avLst/>
          </a:prstGeom>
          <a:noFill/>
          <a:ln/>
        </p:spPr>
        <p:txBody>
          <a:bodyPr wrap="square" lIns="0" tIns="0" rIns="0" bIns="0" rtlCol="0" anchor="t"/>
          <a:lstStyle/>
          <a:p>
            <a:pPr marL="0" indent="0">
              <a:lnSpc>
                <a:spcPts val="2940"/>
              </a:lnSpc>
              <a:buNone/>
            </a:pPr>
            <a:r>
              <a:rPr lang="en-US" sz="2100" b="1" dirty="0">
                <a:solidFill>
                  <a:srgbClr val="10B981"/>
                </a:solidFill>
                <a:latin typeface="Arial" pitchFamily="34" charset="0"/>
                <a:ea typeface="Arial" pitchFamily="34" charset="-122"/>
                <a:cs typeface="Arial" pitchFamily="34" charset="-120"/>
              </a:rPr>
              <a:t>$1.40bn</a:t>
            </a:r>
            <a:endParaRPr lang="en-US" sz="2100" dirty="0"/>
          </a:p>
        </p:txBody>
      </p:sp>
      <p:sp>
        <p:nvSpPr>
          <p:cNvPr id="8" name="Text 6"/>
          <p:cNvSpPr/>
          <p:nvPr/>
        </p:nvSpPr>
        <p:spPr>
          <a:xfrm>
            <a:off x="609600" y="2013575"/>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10B981"/>
                </a:solidFill>
                <a:latin typeface="Arial" pitchFamily="34" charset="0"/>
                <a:ea typeface="Arial" pitchFamily="34" charset="-122"/>
                <a:cs typeface="Arial" pitchFamily="34" charset="-120"/>
              </a:rPr>
              <a:t>↑ 20.4% YoY | 2.1% QoQ</a:t>
            </a:r>
            <a:endParaRPr lang="en-US" sz="1050" dirty="0"/>
          </a:p>
        </p:txBody>
      </p:sp>
      <p:sp>
        <p:nvSpPr>
          <p:cNvPr id="9" name="Text 7"/>
          <p:cNvSpPr/>
          <p:nvPr/>
        </p:nvSpPr>
        <p:spPr>
          <a:xfrm>
            <a:off x="682466" y="2592449"/>
            <a:ext cx="7937564"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Quarterly Growth:</a:t>
            </a:r>
            <a:r>
              <a:rPr lang="en-US" sz="1050" dirty="0">
                <a:solidFill>
                  <a:srgbClr val="CBD5E1"/>
                </a:solidFill>
                <a:latin typeface="Arial" pitchFamily="34" charset="0"/>
                <a:ea typeface="Arial" pitchFamily="34" charset="-122"/>
                <a:cs typeface="Arial" pitchFamily="34" charset="-120"/>
              </a:rPr>
              <a:t> Demonstrates sustained momentum quarter-over-quarter</a:t>
            </a:r>
            <a:endParaRPr lang="en-US" sz="1050" dirty="0"/>
          </a:p>
        </p:txBody>
      </p:sp>
      <p:sp>
        <p:nvSpPr>
          <p:cNvPr id="10" name="Text 8"/>
          <p:cNvSpPr/>
          <p:nvPr/>
        </p:nvSpPr>
        <p:spPr>
          <a:xfrm>
            <a:off x="682466" y="3174136"/>
            <a:ext cx="7937564"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Revenue Per Patient:</a:t>
            </a:r>
            <a:r>
              <a:rPr lang="en-US" sz="1050" dirty="0">
                <a:solidFill>
                  <a:srgbClr val="CBD5E1"/>
                </a:solidFill>
                <a:latin typeface="Arial" pitchFamily="34" charset="0"/>
                <a:ea typeface="Arial" pitchFamily="34" charset="-122"/>
                <a:cs typeface="Arial" pitchFamily="34" charset="-120"/>
              </a:rPr>
              <a:t> Growing faster (7.1%) than admission volume decline, showing improved case mix</a:t>
            </a:r>
            <a:endParaRPr lang="en-US" sz="1050" dirty="0"/>
          </a:p>
        </p:txBody>
      </p:sp>
      <p:sp>
        <p:nvSpPr>
          <p:cNvPr id="11" name="Text 9"/>
          <p:cNvSpPr/>
          <p:nvPr/>
        </p:nvSpPr>
        <p:spPr>
          <a:xfrm>
            <a:off x="596836" y="3697287"/>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Per-Patient Revenue</a:t>
            </a:r>
            <a:endParaRPr lang="en-US" sz="1050" dirty="0"/>
          </a:p>
        </p:txBody>
      </p:sp>
      <p:sp>
        <p:nvSpPr>
          <p:cNvPr id="12" name="Text 10"/>
          <p:cNvSpPr/>
          <p:nvPr/>
        </p:nvSpPr>
        <p:spPr>
          <a:xfrm>
            <a:off x="596836" y="3958495"/>
            <a:ext cx="7937564" cy="373261"/>
          </a:xfrm>
          <a:prstGeom prst="rect">
            <a:avLst/>
          </a:prstGeom>
          <a:noFill/>
          <a:ln/>
        </p:spPr>
        <p:txBody>
          <a:bodyPr wrap="square" lIns="0" tIns="0" rIns="0" bIns="0" rtlCol="0" anchor="t"/>
          <a:lstStyle/>
          <a:p>
            <a:pPr marL="0" indent="0">
              <a:lnSpc>
                <a:spcPts val="2940"/>
              </a:lnSpc>
              <a:buNone/>
            </a:pPr>
            <a:r>
              <a:rPr lang="en-US" sz="2100" b="1" dirty="0">
                <a:solidFill>
                  <a:srgbClr val="38BDF8"/>
                </a:solidFill>
                <a:latin typeface="Arial" pitchFamily="34" charset="0"/>
                <a:ea typeface="Arial" pitchFamily="34" charset="-122"/>
                <a:cs typeface="Arial" pitchFamily="34" charset="-120"/>
              </a:rPr>
              <a:t>$25.54K</a:t>
            </a:r>
            <a:endParaRPr lang="en-US" sz="2100" dirty="0"/>
          </a:p>
        </p:txBody>
      </p:sp>
      <p:sp>
        <p:nvSpPr>
          <p:cNvPr id="13" name="Text 11"/>
          <p:cNvSpPr/>
          <p:nvPr/>
        </p:nvSpPr>
        <p:spPr>
          <a:xfrm>
            <a:off x="609600" y="4385497"/>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10B981"/>
                </a:solidFill>
                <a:latin typeface="Arial" pitchFamily="34" charset="0"/>
                <a:ea typeface="Arial" pitchFamily="34" charset="-122"/>
                <a:cs typeface="Arial" pitchFamily="34" charset="-120"/>
              </a:rPr>
              <a:t>↑ 7.1% YoY</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E60246A5-F791-BA24-6487-8B536D51DD85}"/>
            </a:ext>
          </a:extLst>
        </p:cNvPr>
        <p:cNvGrpSpPr/>
        <p:nvPr/>
      </p:nvGrpSpPr>
      <p:grpSpPr>
        <a:xfrm>
          <a:off x="0" y="0"/>
          <a:ext cx="0" cy="0"/>
          <a:chOff x="0" y="0"/>
          <a:chExt cx="0" cy="0"/>
        </a:xfrm>
      </p:grpSpPr>
      <p:sp>
        <p:nvSpPr>
          <p:cNvPr id="5" name="Text 3">
            <a:extLst>
              <a:ext uri="{FF2B5EF4-FFF2-40B4-BE49-F238E27FC236}">
                <a16:creationId xmlns:a16="http://schemas.microsoft.com/office/drawing/2014/main" id="{154DEFD7-550A-70B1-3132-F38146C8B80E}"/>
              </a:ext>
            </a:extLst>
          </p:cNvPr>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Financial Performance: Key Metrics</a:t>
            </a:r>
            <a:endParaRPr lang="en-US" sz="2700" dirty="0"/>
          </a:p>
        </p:txBody>
      </p:sp>
      <p:sp>
        <p:nvSpPr>
          <p:cNvPr id="17" name="Text 12"/>
          <p:cNvSpPr/>
          <p:nvPr/>
        </p:nvSpPr>
        <p:spPr>
          <a:xfrm>
            <a:off x="603218" y="1359890"/>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Daily Revenue</a:t>
            </a:r>
            <a:endParaRPr lang="en-US" sz="1050" dirty="0"/>
          </a:p>
        </p:txBody>
      </p:sp>
      <p:sp>
        <p:nvSpPr>
          <p:cNvPr id="18" name="Text 13"/>
          <p:cNvSpPr/>
          <p:nvPr/>
        </p:nvSpPr>
        <p:spPr>
          <a:xfrm>
            <a:off x="603218" y="1606869"/>
            <a:ext cx="7937564" cy="373261"/>
          </a:xfrm>
          <a:prstGeom prst="rect">
            <a:avLst/>
          </a:prstGeom>
          <a:noFill/>
          <a:ln/>
        </p:spPr>
        <p:txBody>
          <a:bodyPr wrap="square" lIns="0" tIns="0" rIns="0" bIns="0" rtlCol="0" anchor="t"/>
          <a:lstStyle/>
          <a:p>
            <a:pPr marL="0" indent="0">
              <a:lnSpc>
                <a:spcPts val="2940"/>
              </a:lnSpc>
              <a:buNone/>
            </a:pPr>
            <a:r>
              <a:rPr lang="en-US" sz="2100" b="1" dirty="0">
                <a:solidFill>
                  <a:srgbClr val="F59E0B"/>
                </a:solidFill>
                <a:latin typeface="Arial" pitchFamily="34" charset="0"/>
                <a:ea typeface="Arial" pitchFamily="34" charset="-122"/>
                <a:cs typeface="Arial" pitchFamily="34" charset="-120"/>
              </a:rPr>
              <a:t>$769K</a:t>
            </a:r>
            <a:endParaRPr lang="en-US" sz="2100" dirty="0"/>
          </a:p>
        </p:txBody>
      </p:sp>
      <p:sp>
        <p:nvSpPr>
          <p:cNvPr id="19" name="Text 14"/>
          <p:cNvSpPr/>
          <p:nvPr/>
        </p:nvSpPr>
        <p:spPr>
          <a:xfrm>
            <a:off x="1496704" y="1755886"/>
            <a:ext cx="7937564"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Per Day Average</a:t>
            </a:r>
            <a:endParaRPr lang="en-US" sz="1050" dirty="0"/>
          </a:p>
        </p:txBody>
      </p:sp>
      <p:sp>
        <p:nvSpPr>
          <p:cNvPr id="20" name="Text 2"/>
          <p:cNvSpPr/>
          <p:nvPr/>
        </p:nvSpPr>
        <p:spPr>
          <a:xfrm>
            <a:off x="1176728" y="2281444"/>
            <a:ext cx="7007902" cy="2702785"/>
          </a:xfrm>
          <a:prstGeom prst="roundRect">
            <a:avLst>
              <a:gd name="adj" fmla="val 3714"/>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pic>
        <p:nvPicPr>
          <p:cNvPr id="22" name="Picture 21" descr="A graph showing the growth of a number of companies&#10;&#10;AI-generated content may be incorrect.">
            <a:extLst>
              <a:ext uri="{FF2B5EF4-FFF2-40B4-BE49-F238E27FC236}">
                <a16:creationId xmlns:a16="http://schemas.microsoft.com/office/drawing/2014/main" id="{9CD9D12F-2382-359A-3831-FE51229DECDF}"/>
              </a:ext>
            </a:extLst>
          </p:cNvPr>
          <p:cNvPicPr>
            <a:picLocks noChangeAspect="1"/>
          </p:cNvPicPr>
          <p:nvPr/>
        </p:nvPicPr>
        <p:blipFill>
          <a:blip r:embed="rId3"/>
          <a:stretch>
            <a:fillRect/>
          </a:stretch>
        </p:blipFill>
        <p:spPr>
          <a:xfrm>
            <a:off x="1289154" y="2340754"/>
            <a:ext cx="6775554" cy="2576020"/>
          </a:xfrm>
          <a:prstGeom prst="rect">
            <a:avLst/>
          </a:prstGeom>
        </p:spPr>
      </p:pic>
    </p:spTree>
    <p:extLst>
      <p:ext uri="{BB962C8B-B14F-4D97-AF65-F5344CB8AC3E}">
        <p14:creationId xmlns:p14="http://schemas.microsoft.com/office/powerpoint/2010/main" val="10105394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370394" y="1571923"/>
            <a:ext cx="3413387" cy="2451050"/>
          </a:xfrm>
          <a:prstGeom prst="roundRect">
            <a:avLst>
              <a:gd name="adj" fmla="val 3602"/>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Financial Findings: Growth &amp; Patterns</a:t>
            </a:r>
            <a:endParaRPr lang="en-US" sz="2700" dirty="0"/>
          </a:p>
        </p:txBody>
      </p:sp>
      <p:sp>
        <p:nvSpPr>
          <p:cNvPr id="4" name="Text 2"/>
          <p:cNvSpPr/>
          <p:nvPr/>
        </p:nvSpPr>
        <p:spPr>
          <a:xfrm>
            <a:off x="609600" y="1363861"/>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Exceptional Revenue Growth Trajectory</a:t>
            </a:r>
            <a:endParaRPr lang="en-US" sz="1200" dirty="0"/>
          </a:p>
        </p:txBody>
      </p:sp>
      <p:sp>
        <p:nvSpPr>
          <p:cNvPr id="5" name="Text 3"/>
          <p:cNvSpPr/>
          <p:nvPr/>
        </p:nvSpPr>
        <p:spPr>
          <a:xfrm>
            <a:off x="609601" y="1615232"/>
            <a:ext cx="4760794"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20.4% YoY increase in total revenue ($1.40bn) demonstrates strong market position and operational efficiency. Quarterly growth of 2.1% shows sustained momentum with no seasonal collapse.</a:t>
            </a:r>
            <a:endParaRPr lang="en-US" sz="1050" dirty="0"/>
          </a:p>
        </p:txBody>
      </p:sp>
      <p:sp>
        <p:nvSpPr>
          <p:cNvPr id="6" name="Text 4"/>
          <p:cNvSpPr/>
          <p:nvPr/>
        </p:nvSpPr>
        <p:spPr>
          <a:xfrm>
            <a:off x="609600" y="2367707"/>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Monthly Revenue Seasonality Pattern</a:t>
            </a:r>
            <a:endParaRPr lang="en-US" sz="1200" dirty="0"/>
          </a:p>
        </p:txBody>
      </p:sp>
      <p:sp>
        <p:nvSpPr>
          <p:cNvPr id="7" name="Text 5"/>
          <p:cNvSpPr/>
          <p:nvPr/>
        </p:nvSpPr>
        <p:spPr>
          <a:xfrm>
            <a:off x="609600" y="2619077"/>
            <a:ext cx="4023815"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Peak revenue: June-August ($121M). Lowest: February ($108.7M). Seasonal variance of ~$13M (11%) requires strategic workforce and resource planning adjustments for peak periods.</a:t>
            </a:r>
            <a:endParaRPr lang="en-US" sz="1050" dirty="0"/>
          </a:p>
        </p:txBody>
      </p:sp>
      <p:sp>
        <p:nvSpPr>
          <p:cNvPr id="8" name="Text 6"/>
          <p:cNvSpPr/>
          <p:nvPr/>
        </p:nvSpPr>
        <p:spPr>
          <a:xfrm>
            <a:off x="609600" y="3371552"/>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EF4444"/>
                </a:solidFill>
                <a:latin typeface="Arial" pitchFamily="34" charset="0"/>
                <a:ea typeface="Arial" pitchFamily="34" charset="-122"/>
                <a:cs typeface="Arial" pitchFamily="34" charset="-120"/>
              </a:rPr>
              <a:t>⚠️ Critical Alert: Admission Volume Decline</a:t>
            </a:r>
            <a:endParaRPr lang="en-US" sz="1200" dirty="0"/>
          </a:p>
        </p:txBody>
      </p:sp>
      <p:sp>
        <p:nvSpPr>
          <p:cNvPr id="9" name="Text 7"/>
          <p:cNvSpPr/>
          <p:nvPr/>
        </p:nvSpPr>
        <p:spPr>
          <a:xfrm>
            <a:off x="609601" y="3622923"/>
            <a:ext cx="3962400"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Sharp drop from 11.2K (2020) to 3.8K (2024). Approximately 66% decline requires urgent investigation into market share loss, referral pattern changes, or data collection issues.</a:t>
            </a:r>
            <a:endParaRPr lang="en-US" sz="1050" dirty="0"/>
          </a:p>
        </p:txBody>
      </p:sp>
      <p:pic>
        <p:nvPicPr>
          <p:cNvPr id="11" name="Picture 10" descr="A blue rectangles with white text&#10;&#10;AI-generated content may be incorrect.">
            <a:extLst>
              <a:ext uri="{FF2B5EF4-FFF2-40B4-BE49-F238E27FC236}">
                <a16:creationId xmlns:a16="http://schemas.microsoft.com/office/drawing/2014/main" id="{16009BCC-A097-F193-B3B1-0DF7AA0CB097}"/>
              </a:ext>
            </a:extLst>
          </p:cNvPr>
          <p:cNvPicPr>
            <a:picLocks noChangeAspect="1"/>
          </p:cNvPicPr>
          <p:nvPr/>
        </p:nvPicPr>
        <p:blipFill>
          <a:blip r:embed="rId3"/>
          <a:stretch>
            <a:fillRect/>
          </a:stretch>
        </p:blipFill>
        <p:spPr>
          <a:xfrm>
            <a:off x="5444665" y="1669473"/>
            <a:ext cx="3248231" cy="227907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475949" y="2249838"/>
            <a:ext cx="3136270" cy="2705885"/>
          </a:xfrm>
          <a:prstGeom prst="roundRect">
            <a:avLst>
              <a:gd name="adj" fmla="val 6187"/>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531780" y="612462"/>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Financial Findings: Revenue Drivers</a:t>
            </a:r>
            <a:endParaRPr lang="en-US" sz="2700" dirty="0"/>
          </a:p>
        </p:txBody>
      </p:sp>
      <p:sp>
        <p:nvSpPr>
          <p:cNvPr id="4" name="Text 2"/>
          <p:cNvSpPr/>
          <p:nvPr/>
        </p:nvSpPr>
        <p:spPr>
          <a:xfrm>
            <a:off x="525398" y="1351704"/>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Condition-Based Revenue Distribution</a:t>
            </a:r>
            <a:endParaRPr lang="en-US" sz="1200" dirty="0"/>
          </a:p>
        </p:txBody>
      </p:sp>
      <p:sp>
        <p:nvSpPr>
          <p:cNvPr id="5" name="Text 3"/>
          <p:cNvSpPr/>
          <p:nvPr/>
        </p:nvSpPr>
        <p:spPr>
          <a:xfrm>
            <a:off x="525398" y="1702520"/>
            <a:ext cx="6196124" cy="400050"/>
          </a:xfrm>
          <a:prstGeom prst="rect">
            <a:avLst/>
          </a:prstGeom>
          <a:noFill/>
          <a:ln/>
        </p:spPr>
        <p:txBody>
          <a:bodyPr wrap="square" lIns="0" tIns="0" rIns="0" bIns="0" rtlCol="0" anchor="t"/>
          <a:lstStyle/>
          <a:p>
            <a:pPr marL="0" indent="0">
              <a:lnSpc>
                <a:spcPts val="1575"/>
              </a:lnSpc>
              <a:buNone/>
            </a:pPr>
            <a:r>
              <a:rPr lang="en-US" sz="1050" b="1" dirty="0">
                <a:solidFill>
                  <a:srgbClr val="CBD5E1"/>
                </a:solidFill>
                <a:latin typeface="Arial" pitchFamily="34" charset="0"/>
                <a:ea typeface="Arial" pitchFamily="34" charset="-122"/>
                <a:cs typeface="Arial" pitchFamily="34" charset="-120"/>
              </a:rPr>
              <a:t>Top 6 Conditions:</a:t>
            </a:r>
            <a:r>
              <a:rPr lang="en-US" sz="1050" dirty="0">
                <a:solidFill>
                  <a:srgbClr val="CBD5E1"/>
                </a:solidFill>
                <a:latin typeface="Arial" pitchFamily="34" charset="0"/>
                <a:ea typeface="Arial" pitchFamily="34" charset="-122"/>
                <a:cs typeface="Arial" pitchFamily="34" charset="-120"/>
              </a:rPr>
              <a:t> Diabetes $238.19M (17.0%), Obesity $235.27M (16.8%), Arthritis $235.18M (16.8%), Hypertension $232.98M (16.6%), Asthma $232.84M (16.6%), Cancer $229.61M (16.4%). Balanced distribution across chronic diseases.</a:t>
            </a:r>
            <a:endParaRPr lang="en-US" sz="1050" dirty="0"/>
          </a:p>
        </p:txBody>
      </p:sp>
      <p:sp>
        <p:nvSpPr>
          <p:cNvPr id="6" name="Text 4"/>
          <p:cNvSpPr/>
          <p:nvPr/>
        </p:nvSpPr>
        <p:spPr>
          <a:xfrm>
            <a:off x="525398" y="2393159"/>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Length of Stay (LOS) Trend</a:t>
            </a:r>
            <a:endParaRPr lang="en-US" sz="1200" dirty="0"/>
          </a:p>
        </p:txBody>
      </p:sp>
      <p:sp>
        <p:nvSpPr>
          <p:cNvPr id="7" name="Text 5"/>
          <p:cNvSpPr/>
          <p:nvPr/>
        </p:nvSpPr>
        <p:spPr>
          <a:xfrm>
            <a:off x="531781" y="2787559"/>
            <a:ext cx="4511068"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LOS decreased from 16 days (2019-2020) to 15 days (2021-2022), then increased back to 16 days (2024). Reversal suggests potential increase in clinical complexity or care model changes.</a:t>
            </a:r>
            <a:endParaRPr lang="en-US" sz="1050" dirty="0"/>
          </a:p>
        </p:txBody>
      </p:sp>
      <p:sp>
        <p:nvSpPr>
          <p:cNvPr id="8" name="Text 6"/>
          <p:cNvSpPr/>
          <p:nvPr/>
        </p:nvSpPr>
        <p:spPr>
          <a:xfrm>
            <a:off x="453961" y="3496871"/>
            <a:ext cx="3487657"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Per-Patient Revenue Optimization</a:t>
            </a:r>
            <a:endParaRPr lang="en-US" sz="1200" dirty="0"/>
          </a:p>
        </p:txBody>
      </p:sp>
      <p:sp>
        <p:nvSpPr>
          <p:cNvPr id="9" name="Text 7"/>
          <p:cNvSpPr/>
          <p:nvPr/>
        </p:nvSpPr>
        <p:spPr>
          <a:xfrm>
            <a:off x="603218" y="3928616"/>
            <a:ext cx="3136269"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$25.54K average revenue per patient with 7.1% YoY growth outpaces admission volume changes, indicating improved payer mix and higher case complexity.</a:t>
            </a:r>
            <a:endParaRPr lang="en-US" sz="1050" dirty="0"/>
          </a:p>
        </p:txBody>
      </p:sp>
      <p:pic>
        <p:nvPicPr>
          <p:cNvPr id="13" name="Picture 12" descr="A graph of health care costs&#10;&#10;AI-generated content may be incorrect.">
            <a:extLst>
              <a:ext uri="{FF2B5EF4-FFF2-40B4-BE49-F238E27FC236}">
                <a16:creationId xmlns:a16="http://schemas.microsoft.com/office/drawing/2014/main" id="{94E7C751-F8B7-96A9-289F-41D9F5322278}"/>
              </a:ext>
            </a:extLst>
          </p:cNvPr>
          <p:cNvPicPr>
            <a:picLocks noChangeAspect="1"/>
          </p:cNvPicPr>
          <p:nvPr/>
        </p:nvPicPr>
        <p:blipFill>
          <a:blip r:embed="rId3"/>
          <a:stretch>
            <a:fillRect/>
          </a:stretch>
        </p:blipFill>
        <p:spPr>
          <a:xfrm>
            <a:off x="5624945" y="2327085"/>
            <a:ext cx="2838017" cy="247351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818852"/>
          </a:xfrm>
          <a:prstGeom prst="roundRect">
            <a:avLst>
              <a:gd name="adj" fmla="val 44667"/>
            </a:avLst>
          </a:prstGeom>
          <a:solidFill>
            <a:srgbClr val="10B981">
              <a:alpha val="10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182713"/>
            <a:ext cx="7924800" cy="818852"/>
          </a:xfrm>
          <a:prstGeom prst="roundRect">
            <a:avLst>
              <a:gd name="adj" fmla="val 44667"/>
            </a:avLst>
          </a:prstGeom>
          <a:solidFill>
            <a:srgbClr val="38BDF8">
              <a:alpha val="10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115866"/>
            <a:ext cx="7924800" cy="818852"/>
          </a:xfrm>
          <a:prstGeom prst="roundRect">
            <a:avLst>
              <a:gd name="adj" fmla="val 44667"/>
            </a:avLst>
          </a:prstGeom>
          <a:solidFill>
            <a:srgbClr val="EF4444">
              <a:alpha val="10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4049018"/>
            <a:ext cx="7924800" cy="818852"/>
          </a:xfrm>
          <a:prstGeom prst="roundRect">
            <a:avLst>
              <a:gd name="adj" fmla="val 44667"/>
            </a:avLst>
          </a:prstGeom>
          <a:solidFill>
            <a:srgbClr val="F59E0B">
              <a:alpha val="10000"/>
            </a:srgbClr>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5194995"/>
            <a:ext cx="7781925" cy="2105025"/>
          </a:xfrm>
          <a:prstGeom prst="roundRect">
            <a:avLst>
              <a:gd name="adj" fmla="val 17376"/>
            </a:avLst>
          </a:prstGeom>
          <a:solidFill>
            <a:srgbClr val="1E293B"/>
          </a:solidFill>
          <a:ln/>
        </p:spPr>
        <p:txBody>
          <a:bodyPr wrap="none" lIns="0" tIns="0" rIns="0" bIns="0" rtlCol="0" anchor="ctr">
            <a:normAutofit/>
          </a:bodyPr>
          <a:lstStyle/>
          <a:p>
            <a:pPr marL="0" indent="0">
              <a:buNone/>
            </a:pPr>
            <a:endParaRPr lang="en-US" dirty="0"/>
          </a:p>
        </p:txBody>
      </p:sp>
      <p:sp>
        <p:nvSpPr>
          <p:cNvPr id="7" name="Text 5"/>
          <p:cNvSpPr/>
          <p:nvPr/>
        </p:nvSpPr>
        <p:spPr>
          <a:xfrm>
            <a:off x="762000" y="5610225"/>
            <a:ext cx="7477125" cy="461665"/>
          </a:xfrm>
          <a:prstGeom prst="roundRect">
            <a:avLst>
              <a:gd name="adj" fmla="val 59420"/>
            </a:avLst>
          </a:prstGeom>
          <a:solidFill>
            <a:srgbClr val="38BDF8">
              <a:alpha val="15000"/>
            </a:srgbClr>
          </a:solidFill>
          <a:ln/>
        </p:spPr>
        <p:txBody>
          <a:bodyPr wrap="none" lIns="0" tIns="0" rIns="0" bIns="0" rtlCol="0" anchor="ctr">
            <a:normAutofit/>
          </a:bodyPr>
          <a:lstStyle/>
          <a:p>
            <a:pPr marL="0" indent="0">
              <a:buNone/>
            </a:pPr>
            <a:endParaRPr lang="en-US" dirty="0"/>
          </a:p>
        </p:txBody>
      </p:sp>
      <p:sp>
        <p:nvSpPr>
          <p:cNvPr id="8" name="Text 6"/>
          <p:cNvSpPr/>
          <p:nvPr/>
        </p:nvSpPr>
        <p:spPr>
          <a:xfrm>
            <a:off x="762000" y="6148090"/>
            <a:ext cx="7477125" cy="461665"/>
          </a:xfrm>
          <a:prstGeom prst="roundRect">
            <a:avLst>
              <a:gd name="adj" fmla="val 59420"/>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9" name="Text 7"/>
          <p:cNvSpPr/>
          <p:nvPr/>
        </p:nvSpPr>
        <p:spPr>
          <a:xfrm>
            <a:off x="762000" y="6685955"/>
            <a:ext cx="7477125" cy="461665"/>
          </a:xfrm>
          <a:prstGeom prst="roundRect">
            <a:avLst>
              <a:gd name="adj" fmla="val 59420"/>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10" name="Text 8"/>
          <p:cNvSpPr/>
          <p:nvPr/>
        </p:nvSpPr>
        <p:spPr>
          <a:xfrm>
            <a:off x="609600" y="7414320"/>
            <a:ext cx="7781925" cy="1596033"/>
          </a:xfrm>
          <a:prstGeom prst="roundRect">
            <a:avLst>
              <a:gd name="adj" fmla="val 22917"/>
            </a:avLst>
          </a:prstGeom>
          <a:solidFill>
            <a:srgbClr val="1E293B"/>
          </a:solidFill>
          <a:ln/>
        </p:spPr>
        <p:txBody>
          <a:bodyPr wrap="none" lIns="0" tIns="0" rIns="0" bIns="0" rtlCol="0" anchor="ctr">
            <a:normAutofit/>
          </a:bodyPr>
          <a:lstStyle/>
          <a:p>
            <a:pPr marL="0" indent="0">
              <a:buNone/>
            </a:pPr>
            <a:endParaRPr lang="en-US" dirty="0"/>
          </a:p>
        </p:txBody>
      </p:sp>
      <p:sp>
        <p:nvSpPr>
          <p:cNvPr id="11" name="Text 9"/>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Financial Recommendations &amp; Action Plan</a:t>
            </a:r>
            <a:endParaRPr lang="en-US" sz="2700" dirty="0"/>
          </a:p>
        </p:txBody>
      </p:sp>
      <p:sp>
        <p:nvSpPr>
          <p:cNvPr id="12" name="Text 10"/>
          <p:cNvSpPr/>
          <p:nvPr/>
        </p:nvSpPr>
        <p:spPr>
          <a:xfrm>
            <a:off x="762000" y="1363861"/>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Revenue Optimization Strategy</a:t>
            </a:r>
            <a:endParaRPr lang="en-US" sz="1050" dirty="0"/>
          </a:p>
        </p:txBody>
      </p:sp>
      <p:sp>
        <p:nvSpPr>
          <p:cNvPr id="13" name="Text 11"/>
          <p:cNvSpPr/>
          <p:nvPr/>
        </p:nvSpPr>
        <p:spPr>
          <a:xfrm>
            <a:off x="762000" y="1588591"/>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Capitalize on 7.1% per-patient revenue growth momentum. Expand high-revenue service lines (Diabetes $238.19M, Obesity $235.27M). Develop payer mix strategy to maintain per-patient revenue growth trajectory while addressing admission volume decline.</a:t>
            </a:r>
            <a:endParaRPr lang="en-US" sz="900" dirty="0"/>
          </a:p>
        </p:txBody>
      </p:sp>
      <p:sp>
        <p:nvSpPr>
          <p:cNvPr id="14" name="Text 12"/>
          <p:cNvSpPr/>
          <p:nvPr/>
        </p:nvSpPr>
        <p:spPr>
          <a:xfrm>
            <a:off x="762000" y="2297013"/>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 Seasonal Revenue Management</a:t>
            </a:r>
            <a:endParaRPr lang="en-US" sz="1050" dirty="0"/>
          </a:p>
        </p:txBody>
      </p:sp>
      <p:sp>
        <p:nvSpPr>
          <p:cNvPr id="15" name="Text 13"/>
          <p:cNvSpPr/>
          <p:nvPr/>
        </p:nvSpPr>
        <p:spPr>
          <a:xfrm>
            <a:off x="762000" y="2521744"/>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Implement dynamic pricing and promotional strategies to address $13M seasonal variance (Feb low $108.7M vs June-August peak $121.6M). Develop flexible staffing models aligned to seasonal demand patterns. Target 5-7% variance reduction through demand smoothing.</a:t>
            </a:r>
            <a:endParaRPr lang="en-US" sz="900" dirty="0"/>
          </a:p>
        </p:txBody>
      </p:sp>
      <p:sp>
        <p:nvSpPr>
          <p:cNvPr id="16" name="Text 14"/>
          <p:cNvSpPr/>
          <p:nvPr/>
        </p:nvSpPr>
        <p:spPr>
          <a:xfrm>
            <a:off x="762000" y="3230166"/>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EF4444"/>
                </a:solidFill>
                <a:latin typeface="Arial" pitchFamily="34" charset="0"/>
                <a:ea typeface="Arial" pitchFamily="34" charset="-122"/>
                <a:cs typeface="Arial" pitchFamily="34" charset="-120"/>
              </a:rPr>
              <a:t>🔴 URGENT: Admission Volume Recovery</a:t>
            </a:r>
            <a:endParaRPr lang="en-US" sz="1050" dirty="0"/>
          </a:p>
        </p:txBody>
      </p:sp>
      <p:sp>
        <p:nvSpPr>
          <p:cNvPr id="17" name="Text 15"/>
          <p:cNvSpPr/>
          <p:nvPr/>
        </p:nvSpPr>
        <p:spPr>
          <a:xfrm>
            <a:off x="762000" y="3454896"/>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Launch immediate market recovery initiative. Conduct referral pattern analysis to identify market share loss drivers. Develop outreach programs to top referral sources. Target: reverse 66% admission decline with 25% recovery in 12 months (return to 9.5K admissions).</a:t>
            </a:r>
            <a:endParaRPr lang="en-US" sz="900" dirty="0"/>
          </a:p>
        </p:txBody>
      </p:sp>
      <p:sp>
        <p:nvSpPr>
          <p:cNvPr id="18" name="Text 16"/>
          <p:cNvSpPr/>
          <p:nvPr/>
        </p:nvSpPr>
        <p:spPr>
          <a:xfrm>
            <a:off x="762000" y="4163318"/>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Cost Efficiency Program</a:t>
            </a:r>
            <a:endParaRPr lang="en-US" sz="1050" dirty="0"/>
          </a:p>
        </p:txBody>
      </p:sp>
      <p:sp>
        <p:nvSpPr>
          <p:cNvPr id="19" name="Text 17"/>
          <p:cNvSpPr/>
          <p:nvPr/>
        </p:nvSpPr>
        <p:spPr>
          <a:xfrm>
            <a:off x="762000" y="4388048"/>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Benchmark cost per patient against peers. Target 3-5% operational cost reduction through supply chain optimization and staff efficiency. Maintain quality while improving margins as per-patient revenue grows.</a:t>
            </a:r>
            <a:endParaRPr lang="en-US" sz="900" dirty="0"/>
          </a:p>
        </p:txBody>
      </p:sp>
      <p:sp>
        <p:nvSpPr>
          <p:cNvPr id="20" name="Text 18"/>
          <p:cNvSpPr/>
          <p:nvPr/>
        </p:nvSpPr>
        <p:spPr>
          <a:xfrm>
            <a:off x="762000" y="5347395"/>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PRIORITY ACTIONS</a:t>
            </a:r>
            <a:endParaRPr lang="en-US" sz="1050" dirty="0"/>
          </a:p>
        </p:txBody>
      </p:sp>
      <p:sp>
        <p:nvSpPr>
          <p:cNvPr id="21" name="Text 19"/>
          <p:cNvSpPr/>
          <p:nvPr/>
        </p:nvSpPr>
        <p:spPr>
          <a:xfrm>
            <a:off x="838200" y="568642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38BDF8"/>
                </a:solidFill>
                <a:latin typeface="Arial" pitchFamily="34" charset="0"/>
                <a:ea typeface="Arial" pitchFamily="34" charset="-122"/>
                <a:cs typeface="Arial" pitchFamily="34" charset="-120"/>
              </a:rPr>
              <a:t>Timeline: Q1 2026</a:t>
            </a:r>
            <a:endParaRPr lang="en-US" sz="900" dirty="0"/>
          </a:p>
        </p:txBody>
      </p:sp>
      <p:sp>
        <p:nvSpPr>
          <p:cNvPr id="22" name="Text 20"/>
          <p:cNvSpPr/>
          <p:nvPr/>
        </p:nvSpPr>
        <p:spPr>
          <a:xfrm>
            <a:off x="838200" y="584641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Market analysis, referral recovery program launch, seasonal demand forecast</a:t>
            </a:r>
            <a:endParaRPr lang="en-US" sz="840" dirty="0"/>
          </a:p>
        </p:txBody>
      </p:sp>
      <p:sp>
        <p:nvSpPr>
          <p:cNvPr id="23" name="Text 21"/>
          <p:cNvSpPr/>
          <p:nvPr/>
        </p:nvSpPr>
        <p:spPr>
          <a:xfrm>
            <a:off x="838200" y="6224290"/>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10B981"/>
                </a:solidFill>
                <a:latin typeface="Arial" pitchFamily="34" charset="0"/>
                <a:ea typeface="Arial" pitchFamily="34" charset="-122"/>
                <a:cs typeface="Arial" pitchFamily="34" charset="-120"/>
              </a:rPr>
              <a:t>Timeline: Q2-Q3 2026</a:t>
            </a:r>
            <a:endParaRPr lang="en-US" sz="900" dirty="0"/>
          </a:p>
        </p:txBody>
      </p:sp>
      <p:sp>
        <p:nvSpPr>
          <p:cNvPr id="24" name="Text 22"/>
          <p:cNvSpPr/>
          <p:nvPr/>
        </p:nvSpPr>
        <p:spPr>
          <a:xfrm>
            <a:off x="838200" y="6384280"/>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Payer mix optimization, cost reduction implementation, surge pricing model</a:t>
            </a:r>
            <a:endParaRPr lang="en-US" sz="840" dirty="0"/>
          </a:p>
        </p:txBody>
      </p:sp>
      <p:sp>
        <p:nvSpPr>
          <p:cNvPr id="25" name="Text 23"/>
          <p:cNvSpPr/>
          <p:nvPr/>
        </p:nvSpPr>
        <p:spPr>
          <a:xfrm>
            <a:off x="838200" y="676215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F59E0B"/>
                </a:solidFill>
                <a:latin typeface="Arial" pitchFamily="34" charset="0"/>
                <a:ea typeface="Arial" pitchFamily="34" charset="-122"/>
                <a:cs typeface="Arial" pitchFamily="34" charset="-120"/>
              </a:rPr>
              <a:t>Timeline: Q4 2026</a:t>
            </a:r>
            <a:endParaRPr lang="en-US" sz="900" dirty="0"/>
          </a:p>
        </p:txBody>
      </p:sp>
      <p:sp>
        <p:nvSpPr>
          <p:cNvPr id="26" name="Text 24"/>
          <p:cNvSpPr/>
          <p:nvPr/>
        </p:nvSpPr>
        <p:spPr>
          <a:xfrm>
            <a:off x="838200" y="692214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Performance review, admission recovery tracking, revenue impact analysis</a:t>
            </a:r>
            <a:endParaRPr lang="en-US" sz="840" dirty="0"/>
          </a:p>
        </p:txBody>
      </p:sp>
      <p:sp>
        <p:nvSpPr>
          <p:cNvPr id="27" name="Text 25"/>
          <p:cNvSpPr/>
          <p:nvPr/>
        </p:nvSpPr>
        <p:spPr>
          <a:xfrm>
            <a:off x="762000" y="7566720"/>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SUCCESS METRICS</a:t>
            </a:r>
            <a:endParaRPr lang="en-US" sz="1050" dirty="0"/>
          </a:p>
        </p:txBody>
      </p:sp>
      <p:sp>
        <p:nvSpPr>
          <p:cNvPr id="28" name="Text 26"/>
          <p:cNvSpPr/>
          <p:nvPr/>
        </p:nvSpPr>
        <p:spPr>
          <a:xfrm>
            <a:off x="914400" y="7829550"/>
            <a:ext cx="73247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Admission volume: 9.5K+ (25% recovery)</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Per-patient revenue: $27K+ (6% growth)</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Revenue variance: &lt;8% (from 11%)</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Total revenue target: $1.50bn+</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Cost per patient: -3% to -5%</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a:extLst>
            <a:ext uri="{FF2B5EF4-FFF2-40B4-BE49-F238E27FC236}">
              <a16:creationId xmlns:a16="http://schemas.microsoft.com/office/drawing/2014/main" id="{8721C95E-B073-A2D1-912D-68B1952ABE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D5D7FD4-87F0-93CB-EE80-D203360A71C1}"/>
              </a:ext>
            </a:extLst>
          </p:cNvPr>
          <p:cNvSpPr/>
          <p:nvPr/>
        </p:nvSpPr>
        <p:spPr>
          <a:xfrm>
            <a:off x="2023052" y="1512689"/>
            <a:ext cx="5097745" cy="685800"/>
          </a:xfrm>
          <a:prstGeom prst="rect">
            <a:avLst/>
          </a:prstGeom>
          <a:noFill/>
          <a:ln/>
        </p:spPr>
        <p:txBody>
          <a:bodyPr wrap="square" lIns="0" tIns="0" rIns="0" bIns="0" rtlCol="0" anchor="t"/>
          <a:lstStyle/>
          <a:p>
            <a:pPr marL="0" indent="0" algn="ctr">
              <a:lnSpc>
                <a:spcPts val="5400"/>
              </a:lnSpc>
              <a:buNone/>
            </a:pPr>
            <a:r>
              <a:rPr lang="en-US" sz="4500" b="1" dirty="0">
                <a:solidFill>
                  <a:schemeClr val="accent5"/>
                </a:solidFill>
              </a:rPr>
              <a:t>Operational Performance</a:t>
            </a:r>
          </a:p>
        </p:txBody>
      </p:sp>
      <p:sp>
        <p:nvSpPr>
          <p:cNvPr id="3" name="Text 1">
            <a:extLst>
              <a:ext uri="{FF2B5EF4-FFF2-40B4-BE49-F238E27FC236}">
                <a16:creationId xmlns:a16="http://schemas.microsoft.com/office/drawing/2014/main" id="{A3AE5A56-173D-F055-44E4-83EF67E4104D}"/>
              </a:ext>
            </a:extLst>
          </p:cNvPr>
          <p:cNvSpPr/>
          <p:nvPr/>
        </p:nvSpPr>
        <p:spPr>
          <a:xfrm>
            <a:off x="2952092" y="2350889"/>
            <a:ext cx="3239816" cy="319980"/>
          </a:xfrm>
          <a:prstGeom prst="rect">
            <a:avLst/>
          </a:prstGeom>
          <a:noFill/>
          <a:ln/>
        </p:spPr>
        <p:txBody>
          <a:bodyPr wrap="square" lIns="0" tIns="0" rIns="0" bIns="0" rtlCol="0" anchor="t"/>
          <a:lstStyle/>
          <a:p>
            <a:pPr marL="0" indent="0" algn="ctr">
              <a:lnSpc>
                <a:spcPts val="2520"/>
              </a:lnSpc>
              <a:buNone/>
            </a:pPr>
            <a:endParaRPr lang="en-US" sz="1800" dirty="0"/>
          </a:p>
        </p:txBody>
      </p:sp>
      <p:sp>
        <p:nvSpPr>
          <p:cNvPr id="5" name="Text 3">
            <a:extLst>
              <a:ext uri="{FF2B5EF4-FFF2-40B4-BE49-F238E27FC236}">
                <a16:creationId xmlns:a16="http://schemas.microsoft.com/office/drawing/2014/main" id="{EDC39148-40D6-F4D2-3726-F76EC2465B6F}"/>
              </a:ext>
            </a:extLst>
          </p:cNvPr>
          <p:cNvSpPr/>
          <p:nvPr/>
        </p:nvSpPr>
        <p:spPr>
          <a:xfrm>
            <a:off x="3487739" y="3132453"/>
            <a:ext cx="2168370"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December 2025 | Healthcare Performance Analysis</a:t>
            </a:r>
            <a:endParaRPr lang="en-US" sz="1050" dirty="0"/>
          </a:p>
        </p:txBody>
      </p:sp>
    </p:spTree>
    <p:extLst>
      <p:ext uri="{BB962C8B-B14F-4D97-AF65-F5344CB8AC3E}">
        <p14:creationId xmlns:p14="http://schemas.microsoft.com/office/powerpoint/2010/main" val="27707258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0" name="Text 0">
            <a:extLst>
              <a:ext uri="{FF2B5EF4-FFF2-40B4-BE49-F238E27FC236}">
                <a16:creationId xmlns:a16="http://schemas.microsoft.com/office/drawing/2014/main" id="{5124E382-C7C3-3B05-7905-AE87B88BE2DB}"/>
              </a:ext>
            </a:extLst>
          </p:cNvPr>
          <p:cNvSpPr/>
          <p:nvPr/>
        </p:nvSpPr>
        <p:spPr>
          <a:xfrm>
            <a:off x="352323" y="3153262"/>
            <a:ext cx="2668503" cy="100950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14" name="Text 0">
            <a:extLst>
              <a:ext uri="{FF2B5EF4-FFF2-40B4-BE49-F238E27FC236}">
                <a16:creationId xmlns:a16="http://schemas.microsoft.com/office/drawing/2014/main" id="{13B7147E-9CB2-D5CF-8EE4-19816586D89C}"/>
              </a:ext>
            </a:extLst>
          </p:cNvPr>
          <p:cNvSpPr/>
          <p:nvPr/>
        </p:nvSpPr>
        <p:spPr>
          <a:xfrm>
            <a:off x="451104" y="1029444"/>
            <a:ext cx="1553570" cy="1009501"/>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2" name="Text 0"/>
          <p:cNvSpPr/>
          <p:nvPr/>
        </p:nvSpPr>
        <p:spPr>
          <a:xfrm>
            <a:off x="2238232" y="993856"/>
            <a:ext cx="6795039" cy="1017091"/>
          </a:xfrm>
          <a:prstGeom prst="roundRect">
            <a:avLst>
              <a:gd name="adj" fmla="val 35961"/>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3278103" y="2737882"/>
            <a:ext cx="5612355" cy="1924860"/>
          </a:xfrm>
          <a:prstGeom prst="roundRect">
            <a:avLst>
              <a:gd name="adj" fmla="val 2376"/>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4" name="Text 2"/>
          <p:cNvSpPr/>
          <p:nvPr/>
        </p:nvSpPr>
        <p:spPr>
          <a:xfrm>
            <a:off x="530352" y="115193"/>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Operational Performance: Efficiency Metrics</a:t>
            </a:r>
            <a:endParaRPr lang="en-US" sz="2700" dirty="0"/>
          </a:p>
        </p:txBody>
      </p:sp>
      <p:sp>
        <p:nvSpPr>
          <p:cNvPr id="5" name="Text 3"/>
          <p:cNvSpPr/>
          <p:nvPr/>
        </p:nvSpPr>
        <p:spPr>
          <a:xfrm>
            <a:off x="609600" y="1123727"/>
            <a:ext cx="1307910" cy="186630"/>
          </a:xfrm>
          <a:prstGeom prst="rect">
            <a:avLst/>
          </a:prstGeom>
          <a:noFill/>
          <a:ln/>
        </p:spPr>
        <p:txBody>
          <a:bodyPr wrap="square" lIns="0" tIns="0" rIns="0" bIns="0" rtlCol="0" anchor="t"/>
          <a:lstStyle/>
          <a:p>
            <a:pPr marL="0" indent="0">
              <a:lnSpc>
                <a:spcPts val="1470"/>
              </a:lnSpc>
              <a:buNone/>
            </a:pPr>
            <a:r>
              <a:rPr lang="en-US" sz="1050" dirty="0">
                <a:solidFill>
                  <a:schemeClr val="bg1"/>
                </a:solidFill>
                <a:latin typeface="Arial" pitchFamily="34" charset="0"/>
                <a:ea typeface="Arial" pitchFamily="34" charset="-122"/>
                <a:cs typeface="Arial" pitchFamily="34" charset="-120"/>
              </a:rPr>
              <a:t>Avg Bed Occupancy</a:t>
            </a:r>
            <a:endParaRPr lang="en-US" sz="1050" dirty="0">
              <a:solidFill>
                <a:schemeClr val="bg1"/>
              </a:solidFill>
            </a:endParaRPr>
          </a:p>
        </p:txBody>
      </p:sp>
      <p:sp>
        <p:nvSpPr>
          <p:cNvPr id="6" name="Text 4"/>
          <p:cNvSpPr/>
          <p:nvPr/>
        </p:nvSpPr>
        <p:spPr>
          <a:xfrm>
            <a:off x="684662" y="1357842"/>
            <a:ext cx="1157785" cy="373261"/>
          </a:xfrm>
          <a:prstGeom prst="rect">
            <a:avLst/>
          </a:prstGeom>
          <a:noFill/>
          <a:ln/>
        </p:spPr>
        <p:txBody>
          <a:bodyPr wrap="square" lIns="0" tIns="0" rIns="0" bIns="0" rtlCol="0" anchor="t"/>
          <a:lstStyle/>
          <a:p>
            <a:pPr marL="0" indent="0">
              <a:lnSpc>
                <a:spcPts val="2940"/>
              </a:lnSpc>
              <a:buNone/>
            </a:pPr>
            <a:r>
              <a:rPr lang="en-US" sz="2100" b="1" dirty="0">
                <a:solidFill>
                  <a:srgbClr val="10B981"/>
                </a:solidFill>
                <a:latin typeface="Arial" pitchFamily="34" charset="0"/>
                <a:ea typeface="Arial" pitchFamily="34" charset="-122"/>
                <a:cs typeface="Arial" pitchFamily="34" charset="-120"/>
              </a:rPr>
              <a:t>15 Days</a:t>
            </a:r>
            <a:endParaRPr lang="en-US" sz="2100" b="1" dirty="0"/>
          </a:p>
        </p:txBody>
      </p:sp>
      <p:sp>
        <p:nvSpPr>
          <p:cNvPr id="7" name="Text 5"/>
          <p:cNvSpPr/>
          <p:nvPr/>
        </p:nvSpPr>
        <p:spPr>
          <a:xfrm>
            <a:off x="855258" y="1792337"/>
            <a:ext cx="987189" cy="186630"/>
          </a:xfrm>
          <a:prstGeom prst="rect">
            <a:avLst/>
          </a:prstGeom>
          <a:noFill/>
          <a:ln/>
        </p:spPr>
        <p:txBody>
          <a:bodyPr wrap="square" lIns="0" tIns="0" rIns="0" bIns="0" rtlCol="0" anchor="t"/>
          <a:lstStyle/>
          <a:p>
            <a:pPr marL="0" indent="0">
              <a:lnSpc>
                <a:spcPts val="1470"/>
              </a:lnSpc>
              <a:buNone/>
            </a:pPr>
            <a:r>
              <a:rPr lang="en-US" sz="800" b="1" dirty="0">
                <a:solidFill>
                  <a:schemeClr val="accent4"/>
                </a:solidFill>
                <a:latin typeface="Arial" pitchFamily="34" charset="0"/>
                <a:ea typeface="Arial" pitchFamily="34" charset="-122"/>
                <a:cs typeface="Arial" pitchFamily="34" charset="-120"/>
              </a:rPr>
              <a:t>High Utilization</a:t>
            </a:r>
            <a:endParaRPr lang="en-US" sz="800" b="1" dirty="0">
              <a:solidFill>
                <a:schemeClr val="accent4"/>
              </a:solidFill>
            </a:endParaRPr>
          </a:p>
        </p:txBody>
      </p:sp>
      <p:sp>
        <p:nvSpPr>
          <p:cNvPr id="8" name="Text 6"/>
          <p:cNvSpPr/>
          <p:nvPr/>
        </p:nvSpPr>
        <p:spPr>
          <a:xfrm>
            <a:off x="4806696" y="1123727"/>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Admission Mix</a:t>
            </a:r>
            <a:endParaRPr lang="en-US" sz="1200" dirty="0"/>
          </a:p>
        </p:txBody>
      </p:sp>
      <p:sp>
        <p:nvSpPr>
          <p:cNvPr id="9" name="Text 7"/>
          <p:cNvSpPr/>
          <p:nvPr/>
        </p:nvSpPr>
        <p:spPr>
          <a:xfrm>
            <a:off x="3723617" y="1436191"/>
            <a:ext cx="7772400" cy="186630"/>
          </a:xfrm>
          <a:prstGeom prst="rect">
            <a:avLst/>
          </a:prstGeom>
          <a:noFill/>
          <a:ln/>
        </p:spPr>
        <p:txBody>
          <a:bodyPr wrap="square" lIns="0" tIns="0" rIns="0" bIns="0" rtlCol="0" anchor="t"/>
          <a:lstStyle/>
          <a:p>
            <a:pPr marL="0" indent="0">
              <a:lnSpc>
                <a:spcPts val="1470"/>
              </a:lnSpc>
              <a:buNone/>
            </a:pPr>
            <a:r>
              <a:rPr lang="en-US" sz="1050" b="1" dirty="0">
                <a:solidFill>
                  <a:srgbClr val="CBD5E1"/>
                </a:solidFill>
                <a:latin typeface="Arial" pitchFamily="34" charset="0"/>
                <a:ea typeface="Arial" pitchFamily="34" charset="-122"/>
                <a:cs typeface="Arial" pitchFamily="34" charset="-120"/>
              </a:rPr>
              <a:t>Emergency:</a:t>
            </a:r>
            <a:r>
              <a:rPr lang="en-US" sz="1050" dirty="0">
                <a:solidFill>
                  <a:srgbClr val="CBD5E1"/>
                </a:solidFill>
                <a:latin typeface="Arial" pitchFamily="34" charset="0"/>
                <a:ea typeface="Arial" pitchFamily="34" charset="-122"/>
                <a:cs typeface="Arial" pitchFamily="34" charset="-120"/>
              </a:rPr>
              <a:t> 33.61% | </a:t>
            </a:r>
            <a:r>
              <a:rPr lang="en-US" sz="1050" b="1" dirty="0">
                <a:solidFill>
                  <a:srgbClr val="CBD5E1"/>
                </a:solidFill>
                <a:latin typeface="Arial" pitchFamily="34" charset="0"/>
                <a:ea typeface="Arial" pitchFamily="34" charset="-122"/>
                <a:cs typeface="Arial" pitchFamily="34" charset="-120"/>
              </a:rPr>
              <a:t>Elective:</a:t>
            </a:r>
            <a:r>
              <a:rPr lang="en-US" sz="1050" dirty="0">
                <a:solidFill>
                  <a:srgbClr val="CBD5E1"/>
                </a:solidFill>
                <a:latin typeface="Arial" pitchFamily="34" charset="0"/>
                <a:ea typeface="Arial" pitchFamily="34" charset="-122"/>
                <a:cs typeface="Arial" pitchFamily="34" charset="-120"/>
              </a:rPr>
              <a:t> 33.46% | </a:t>
            </a:r>
            <a:r>
              <a:rPr lang="en-US" sz="1050" b="1" dirty="0">
                <a:solidFill>
                  <a:srgbClr val="CBD5E1"/>
                </a:solidFill>
                <a:latin typeface="Arial" pitchFamily="34" charset="0"/>
                <a:ea typeface="Arial" pitchFamily="34" charset="-122"/>
                <a:cs typeface="Arial" pitchFamily="34" charset="-120"/>
              </a:rPr>
              <a:t>Urgent:</a:t>
            </a:r>
            <a:r>
              <a:rPr lang="en-US" sz="1050" dirty="0">
                <a:solidFill>
                  <a:srgbClr val="CBD5E1"/>
                </a:solidFill>
                <a:latin typeface="Arial" pitchFamily="34" charset="0"/>
                <a:ea typeface="Arial" pitchFamily="34" charset="-122"/>
                <a:cs typeface="Arial" pitchFamily="34" charset="-120"/>
              </a:rPr>
              <a:t> 32.93%</a:t>
            </a:r>
            <a:endParaRPr lang="en-US" sz="1050" dirty="0"/>
          </a:p>
        </p:txBody>
      </p:sp>
      <p:sp>
        <p:nvSpPr>
          <p:cNvPr id="10" name="Text 8"/>
          <p:cNvSpPr/>
          <p:nvPr/>
        </p:nvSpPr>
        <p:spPr>
          <a:xfrm>
            <a:off x="4314898" y="1730092"/>
            <a:ext cx="7772400" cy="15999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Only 0.68pp variance - balanced and optimized</a:t>
            </a:r>
            <a:endParaRPr lang="en-US" sz="900" dirty="0"/>
          </a:p>
        </p:txBody>
      </p:sp>
      <p:sp>
        <p:nvSpPr>
          <p:cNvPr id="11" name="Text 9"/>
          <p:cNvSpPr/>
          <p:nvPr/>
        </p:nvSpPr>
        <p:spPr>
          <a:xfrm>
            <a:off x="1005816" y="3222423"/>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Top Doctor Patients</a:t>
            </a:r>
            <a:endParaRPr lang="en-US" sz="1050" dirty="0"/>
          </a:p>
        </p:txBody>
      </p:sp>
      <p:sp>
        <p:nvSpPr>
          <p:cNvPr id="12" name="Text 10"/>
          <p:cNvSpPr/>
          <p:nvPr/>
        </p:nvSpPr>
        <p:spPr>
          <a:xfrm>
            <a:off x="928721" y="3433751"/>
            <a:ext cx="8083296" cy="373261"/>
          </a:xfrm>
          <a:prstGeom prst="rect">
            <a:avLst/>
          </a:prstGeom>
          <a:noFill/>
          <a:ln/>
        </p:spPr>
        <p:txBody>
          <a:bodyPr wrap="square" lIns="0" tIns="0" rIns="0" bIns="0" rtlCol="0" anchor="t"/>
          <a:lstStyle/>
          <a:p>
            <a:pPr marL="0" indent="0">
              <a:lnSpc>
                <a:spcPts val="2940"/>
              </a:lnSpc>
              <a:buNone/>
            </a:pPr>
            <a:r>
              <a:rPr lang="en-US" sz="2100" b="1" dirty="0">
                <a:solidFill>
                  <a:srgbClr val="F59E0B"/>
                </a:solidFill>
                <a:latin typeface="Arial" pitchFamily="34" charset="0"/>
                <a:ea typeface="Arial" pitchFamily="34" charset="-122"/>
                <a:cs typeface="Arial" pitchFamily="34" charset="-120"/>
              </a:rPr>
              <a:t>24 Patients</a:t>
            </a:r>
            <a:endParaRPr lang="en-US" sz="2100" dirty="0"/>
          </a:p>
        </p:txBody>
      </p:sp>
      <p:sp>
        <p:nvSpPr>
          <p:cNvPr id="13" name="Text 11"/>
          <p:cNvSpPr/>
          <p:nvPr/>
        </p:nvSpPr>
        <p:spPr>
          <a:xfrm>
            <a:off x="530352" y="3849793"/>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Michael Smith | Workload Range: 12-24</a:t>
            </a:r>
            <a:endParaRPr lang="en-US" sz="1050" dirty="0"/>
          </a:p>
        </p:txBody>
      </p:sp>
      <p:pic>
        <p:nvPicPr>
          <p:cNvPr id="19" name="Picture 18" descr="A blue and white bar chart">
            <a:extLst>
              <a:ext uri="{FF2B5EF4-FFF2-40B4-BE49-F238E27FC236}">
                <a16:creationId xmlns:a16="http://schemas.microsoft.com/office/drawing/2014/main" id="{D1C4963A-12DD-3C4E-9E00-C7068F9770F3}"/>
              </a:ext>
            </a:extLst>
          </p:cNvPr>
          <p:cNvPicPr>
            <a:picLocks noChangeAspect="1"/>
          </p:cNvPicPr>
          <p:nvPr/>
        </p:nvPicPr>
        <p:blipFill>
          <a:blip r:embed="rId3"/>
          <a:stretch>
            <a:fillRect/>
          </a:stretch>
        </p:blipFill>
        <p:spPr>
          <a:xfrm>
            <a:off x="3370425" y="2804453"/>
            <a:ext cx="5421252" cy="179171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674356" y="2643637"/>
            <a:ext cx="4339988" cy="2264132"/>
          </a:xfrm>
          <a:prstGeom prst="roundRect">
            <a:avLst>
              <a:gd name="adj" fmla="val 8582"/>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609600" y="382344"/>
            <a:ext cx="4071582" cy="1092089"/>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Operational Findings: Admission &amp; Utilization</a:t>
            </a:r>
            <a:endParaRPr lang="en-US" sz="2700" dirty="0"/>
          </a:p>
        </p:txBody>
      </p:sp>
      <p:sp>
        <p:nvSpPr>
          <p:cNvPr id="4" name="Text 2"/>
          <p:cNvSpPr/>
          <p:nvPr/>
        </p:nvSpPr>
        <p:spPr>
          <a:xfrm>
            <a:off x="609600" y="1363861"/>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Exceptional Admission Type Balance</a:t>
            </a:r>
            <a:endParaRPr lang="en-US" sz="1200" dirty="0"/>
          </a:p>
        </p:txBody>
      </p:sp>
      <p:sp>
        <p:nvSpPr>
          <p:cNvPr id="5" name="Text 3"/>
          <p:cNvSpPr/>
          <p:nvPr/>
        </p:nvSpPr>
        <p:spPr>
          <a:xfrm>
            <a:off x="609601" y="1615232"/>
            <a:ext cx="4173940"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Emergency (33.61%), Elective (33.46%), Urgent (32.93%). Only 0.68pp variance indicates optimized scheduling and effective triage processes. No overemphasis on any admission pathway.</a:t>
            </a:r>
            <a:endParaRPr lang="en-US" sz="1050" dirty="0"/>
          </a:p>
        </p:txBody>
      </p:sp>
      <p:sp>
        <p:nvSpPr>
          <p:cNvPr id="6" name="Text 4"/>
          <p:cNvSpPr/>
          <p:nvPr/>
        </p:nvSpPr>
        <p:spPr>
          <a:xfrm>
            <a:off x="609600" y="2367707"/>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High Bed Occupancy Utilization</a:t>
            </a:r>
            <a:endParaRPr lang="en-US" sz="1200" dirty="0"/>
          </a:p>
        </p:txBody>
      </p:sp>
      <p:sp>
        <p:nvSpPr>
          <p:cNvPr id="7" name="Text 5"/>
          <p:cNvSpPr/>
          <p:nvPr/>
        </p:nvSpPr>
        <p:spPr>
          <a:xfrm>
            <a:off x="609602" y="2619077"/>
            <a:ext cx="3764506"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15-day average LOS combined with balanced admissions indicates ~90% bed occupancy. Positive: highly efficient resource utilization. Concern: limited surge capacity for unexpected emergency volume spikes.</a:t>
            </a:r>
            <a:endParaRPr lang="en-US" sz="1050" dirty="0"/>
          </a:p>
        </p:txBody>
      </p:sp>
      <p:sp>
        <p:nvSpPr>
          <p:cNvPr id="8" name="Text 6"/>
          <p:cNvSpPr/>
          <p:nvPr/>
        </p:nvSpPr>
        <p:spPr>
          <a:xfrm>
            <a:off x="609601" y="3649761"/>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F59E0B"/>
                </a:solidFill>
                <a:latin typeface="Arial" pitchFamily="34" charset="0"/>
                <a:ea typeface="Arial" pitchFamily="34" charset="-122"/>
                <a:cs typeface="Arial" pitchFamily="34" charset="-120"/>
              </a:rPr>
              <a:t>📊 Physician Performance Variance</a:t>
            </a:r>
            <a:endParaRPr lang="en-US" sz="1200" dirty="0"/>
          </a:p>
        </p:txBody>
      </p:sp>
      <p:sp>
        <p:nvSpPr>
          <p:cNvPr id="9" name="Text 7"/>
          <p:cNvSpPr/>
          <p:nvPr/>
        </p:nvSpPr>
        <p:spPr>
          <a:xfrm>
            <a:off x="609600" y="3920484"/>
            <a:ext cx="3215524"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Range: 12-24 patients per physician (100% variance). Michael Smith performs double the workload of lower performers. Opportunity for best practice standardization and workload rebalancing.</a:t>
            </a:r>
            <a:endParaRPr lang="en-US" sz="1050" dirty="0"/>
          </a:p>
        </p:txBody>
      </p:sp>
      <p:pic>
        <p:nvPicPr>
          <p:cNvPr id="11" name="Picture 10" descr="A blue and white circle with numbers&#10;&#10;AI-generated content may be incorrect.">
            <a:extLst>
              <a:ext uri="{FF2B5EF4-FFF2-40B4-BE49-F238E27FC236}">
                <a16:creationId xmlns:a16="http://schemas.microsoft.com/office/drawing/2014/main" id="{E97D67B9-5449-F8B5-4D5E-252EA15AE85B}"/>
              </a:ext>
            </a:extLst>
          </p:cNvPr>
          <p:cNvPicPr>
            <a:picLocks noChangeAspect="1"/>
          </p:cNvPicPr>
          <p:nvPr/>
        </p:nvPicPr>
        <p:blipFill>
          <a:blip r:embed="rId3"/>
          <a:stretch>
            <a:fillRect/>
          </a:stretch>
        </p:blipFill>
        <p:spPr>
          <a:xfrm>
            <a:off x="4783541" y="2777790"/>
            <a:ext cx="4121623" cy="1957212"/>
          </a:xfrm>
          <a:prstGeom prst="rect">
            <a:avLst/>
          </a:prstGeom>
        </p:spPr>
      </p:pic>
      <p:sp>
        <p:nvSpPr>
          <p:cNvPr id="12" name="Text 0">
            <a:extLst>
              <a:ext uri="{FF2B5EF4-FFF2-40B4-BE49-F238E27FC236}">
                <a16:creationId xmlns:a16="http://schemas.microsoft.com/office/drawing/2014/main" id="{B391AA7C-BF2B-3C0D-0175-8FC847C4857A}"/>
              </a:ext>
            </a:extLst>
          </p:cNvPr>
          <p:cNvSpPr/>
          <p:nvPr/>
        </p:nvSpPr>
        <p:spPr>
          <a:xfrm>
            <a:off x="4674357" y="484496"/>
            <a:ext cx="4339988" cy="2015368"/>
          </a:xfrm>
          <a:prstGeom prst="roundRect">
            <a:avLst>
              <a:gd name="adj" fmla="val 7091"/>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pic>
        <p:nvPicPr>
          <p:cNvPr id="14" name="Picture 13" descr="A graph with numbers and a circle">
            <a:extLst>
              <a:ext uri="{FF2B5EF4-FFF2-40B4-BE49-F238E27FC236}">
                <a16:creationId xmlns:a16="http://schemas.microsoft.com/office/drawing/2014/main" id="{936EB3F5-A5EC-9076-A4E9-227830128652}"/>
              </a:ext>
            </a:extLst>
          </p:cNvPr>
          <p:cNvPicPr>
            <a:picLocks noChangeAspect="1"/>
          </p:cNvPicPr>
          <p:nvPr/>
        </p:nvPicPr>
        <p:blipFill>
          <a:blip r:embed="rId4"/>
          <a:stretch>
            <a:fillRect/>
          </a:stretch>
        </p:blipFill>
        <p:spPr>
          <a:xfrm>
            <a:off x="4783541" y="595312"/>
            <a:ext cx="4155741" cy="177239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1622822"/>
          </a:xfrm>
          <a:prstGeom prst="roundRect">
            <a:avLst>
              <a:gd name="adj" fmla="val 33808"/>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986683"/>
            <a:ext cx="7924800" cy="944612"/>
          </a:xfrm>
          <a:prstGeom prst="roundRect">
            <a:avLst>
              <a:gd name="adj" fmla="val 38721"/>
            </a:avLst>
          </a:prstGeom>
          <a:solidFill>
            <a:srgbClr val="10B981">
              <a:alpha val="10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4045595"/>
            <a:ext cx="7924800" cy="731341"/>
          </a:xfrm>
          <a:prstGeom prst="roundRect">
            <a:avLst>
              <a:gd name="adj" fmla="val 50012"/>
            </a:avLst>
          </a:prstGeom>
          <a:solidFill>
            <a:srgbClr val="38BDF8">
              <a:alpha val="10000"/>
            </a:srgbClr>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Bed Efficiency: Patients Per Bed Metric</a:t>
            </a:r>
            <a:endParaRPr lang="en-US" sz="2700" dirty="0"/>
          </a:p>
        </p:txBody>
      </p:sp>
      <p:sp>
        <p:nvSpPr>
          <p:cNvPr id="7" name="Text 5"/>
          <p:cNvSpPr/>
          <p:nvPr/>
        </p:nvSpPr>
        <p:spPr>
          <a:xfrm>
            <a:off x="802005" y="1478161"/>
            <a:ext cx="7578090" cy="186630"/>
          </a:xfrm>
          <a:prstGeom prst="rect">
            <a:avLst/>
          </a:prstGeom>
          <a:noFill/>
          <a:ln/>
        </p:spPr>
        <p:txBody>
          <a:bodyPr wrap="square" lIns="0" tIns="0" rIns="0" bIns="0" rtlCol="0" anchor="t"/>
          <a:lstStyle/>
          <a:p>
            <a:pPr marL="0" indent="0" algn="ctr">
              <a:lnSpc>
                <a:spcPts val="1470"/>
              </a:lnSpc>
              <a:buNone/>
            </a:pPr>
            <a:r>
              <a:rPr lang="en-US" sz="1050" b="1" dirty="0">
                <a:solidFill>
                  <a:srgbClr val="94A3B8"/>
                </a:solidFill>
                <a:latin typeface="Arial" pitchFamily="34" charset="0"/>
                <a:ea typeface="Arial" pitchFamily="34" charset="-122"/>
                <a:cs typeface="Arial" pitchFamily="34" charset="-120"/>
              </a:rPr>
              <a:t>PATIENTS PER BED</a:t>
            </a:r>
            <a:endParaRPr lang="en-US" sz="1050" dirty="0"/>
          </a:p>
        </p:txBody>
      </p:sp>
      <p:sp>
        <p:nvSpPr>
          <p:cNvPr id="8" name="Text 6"/>
          <p:cNvSpPr/>
          <p:nvPr/>
        </p:nvSpPr>
        <p:spPr>
          <a:xfrm>
            <a:off x="802005" y="1740991"/>
            <a:ext cx="7578090" cy="639961"/>
          </a:xfrm>
          <a:prstGeom prst="rect">
            <a:avLst/>
          </a:prstGeom>
          <a:noFill/>
          <a:ln/>
        </p:spPr>
        <p:txBody>
          <a:bodyPr wrap="square" lIns="0" tIns="0" rIns="0" bIns="0" rtlCol="0" anchor="t"/>
          <a:lstStyle/>
          <a:p>
            <a:pPr marL="0" indent="0" algn="ctr">
              <a:lnSpc>
                <a:spcPts val="5040"/>
              </a:lnSpc>
              <a:buNone/>
            </a:pPr>
            <a:r>
              <a:rPr lang="en-US" sz="3600" b="1" dirty="0">
                <a:solidFill>
                  <a:srgbClr val="10B981"/>
                </a:solidFill>
                <a:latin typeface="Arial" pitchFamily="34" charset="0"/>
                <a:ea typeface="Arial" pitchFamily="34" charset="-122"/>
                <a:cs typeface="Arial" pitchFamily="34" charset="-120"/>
              </a:rPr>
              <a:t>122</a:t>
            </a:r>
            <a:endParaRPr lang="en-US" sz="3600" dirty="0"/>
          </a:p>
        </p:txBody>
      </p:sp>
      <p:sp>
        <p:nvSpPr>
          <p:cNvPr id="9" name="Text 7"/>
          <p:cNvSpPr/>
          <p:nvPr/>
        </p:nvSpPr>
        <p:spPr>
          <a:xfrm>
            <a:off x="802005" y="2457152"/>
            <a:ext cx="7578090" cy="186630"/>
          </a:xfrm>
          <a:prstGeom prst="rect">
            <a:avLst/>
          </a:prstGeom>
          <a:noFill/>
          <a:ln/>
        </p:spPr>
        <p:txBody>
          <a:bodyPr wrap="square" lIns="0" tIns="0" rIns="0" bIns="0" rtlCol="0" anchor="t"/>
          <a:lstStyle/>
          <a:p>
            <a:pPr marL="0" indent="0" algn="ctr">
              <a:lnSpc>
                <a:spcPts val="1470"/>
              </a:lnSpc>
              <a:buNone/>
            </a:pPr>
            <a:r>
              <a:rPr lang="en-US" sz="1050" dirty="0">
                <a:solidFill>
                  <a:srgbClr val="CBD5E1"/>
                </a:solidFill>
                <a:latin typeface="Arial" pitchFamily="34" charset="0"/>
                <a:cs typeface="Arial" pitchFamily="34" charset="-120"/>
              </a:rPr>
              <a:t>For Different Patients</a:t>
            </a:r>
            <a:endParaRPr lang="en-US" sz="1050" dirty="0"/>
          </a:p>
        </p:txBody>
      </p:sp>
      <p:sp>
        <p:nvSpPr>
          <p:cNvPr id="10" name="Text 8"/>
          <p:cNvSpPr/>
          <p:nvPr/>
        </p:nvSpPr>
        <p:spPr>
          <a:xfrm>
            <a:off x="762000" y="3139083"/>
            <a:ext cx="7620000" cy="639812"/>
          </a:xfrm>
          <a:prstGeom prst="rect">
            <a:avLst/>
          </a:prstGeom>
          <a:noFill/>
          <a:ln/>
        </p:spPr>
        <p:txBody>
          <a:bodyPr wrap="square" lIns="0" tIns="0" rIns="0" bIns="0" rtlCol="0" anchor="t"/>
          <a:lstStyle/>
          <a:p>
            <a:pPr marL="0" indent="0">
              <a:lnSpc>
                <a:spcPts val="1680"/>
              </a:lnSpc>
              <a:buNone/>
            </a:pPr>
            <a:r>
              <a:rPr lang="en-US" sz="1050" b="1" dirty="0">
                <a:solidFill>
                  <a:srgbClr val="10B981"/>
                </a:solidFill>
                <a:latin typeface="Arial" pitchFamily="34" charset="0"/>
                <a:ea typeface="Arial" pitchFamily="34" charset="-122"/>
                <a:cs typeface="Arial" pitchFamily="34" charset="-120"/>
              </a:rPr>
              <a:t>Key Insight:</a:t>
            </a:r>
            <a:r>
              <a:rPr lang="en-US" sz="1050" dirty="0">
                <a:solidFill>
                  <a:srgbClr val="CBD5E1"/>
                </a:solidFill>
                <a:latin typeface="Arial" pitchFamily="34" charset="0"/>
                <a:ea typeface="Arial" pitchFamily="34" charset="-122"/>
                <a:cs typeface="Arial" pitchFamily="34" charset="-120"/>
              </a:rPr>
              <a:t> With 122 patients served per bed daily and consistent 15-day average length of stay, the facility demonstrates exceptional bed efficiency and high patient throughput. This metric indicates optimal resource utilization and effective care delivery processes.</a:t>
            </a:r>
            <a:endParaRPr lang="en-US" sz="1050" dirty="0"/>
          </a:p>
        </p:txBody>
      </p:sp>
      <p:sp>
        <p:nvSpPr>
          <p:cNvPr id="11" name="Text 9"/>
          <p:cNvSpPr/>
          <p:nvPr/>
        </p:nvSpPr>
        <p:spPr>
          <a:xfrm>
            <a:off x="762000" y="4197995"/>
            <a:ext cx="7620000" cy="426541"/>
          </a:xfrm>
          <a:prstGeom prst="rect">
            <a:avLst/>
          </a:prstGeom>
          <a:noFill/>
          <a:ln/>
        </p:spPr>
        <p:txBody>
          <a:bodyPr wrap="square" lIns="0" tIns="0" rIns="0" bIns="0" rtlCol="0" anchor="t"/>
          <a:lstStyle/>
          <a:p>
            <a:pPr marL="0" indent="0">
              <a:lnSpc>
                <a:spcPts val="1680"/>
              </a:lnSpc>
              <a:buNone/>
            </a:pPr>
            <a:r>
              <a:rPr lang="en-US" sz="1050" b="1" dirty="0">
                <a:solidFill>
                  <a:srgbClr val="38BDF8"/>
                </a:solidFill>
                <a:latin typeface="Arial" pitchFamily="34" charset="0"/>
                <a:ea typeface="Arial" pitchFamily="34" charset="-122"/>
                <a:cs typeface="Arial" pitchFamily="34" charset="-120"/>
              </a:rPr>
              <a:t>Operational Implication:</a:t>
            </a:r>
            <a:r>
              <a:rPr lang="en-US" sz="1050" dirty="0">
                <a:solidFill>
                  <a:srgbClr val="CBD5E1"/>
                </a:solidFill>
                <a:latin typeface="Arial" pitchFamily="34" charset="0"/>
                <a:ea typeface="Arial" pitchFamily="34" charset="-122"/>
                <a:cs typeface="Arial" pitchFamily="34" charset="-120"/>
              </a:rPr>
              <a:t> Each bed serves 122 patients , indicating rapid turnaround and recovery cycles. Combined with 90%+ occupancy, this validates the facility's strong operational efficiency and patient flow management.</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818852"/>
          </a:xfrm>
          <a:prstGeom prst="roundRect">
            <a:avLst>
              <a:gd name="adj" fmla="val 44667"/>
            </a:avLst>
          </a:prstGeom>
          <a:solidFill>
            <a:srgbClr val="10B981">
              <a:alpha val="10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182713"/>
            <a:ext cx="7924800" cy="818852"/>
          </a:xfrm>
          <a:prstGeom prst="roundRect">
            <a:avLst>
              <a:gd name="adj" fmla="val 44667"/>
            </a:avLst>
          </a:prstGeom>
          <a:solidFill>
            <a:srgbClr val="38BDF8">
              <a:alpha val="10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115866"/>
            <a:ext cx="7924800" cy="818852"/>
          </a:xfrm>
          <a:prstGeom prst="roundRect">
            <a:avLst>
              <a:gd name="adj" fmla="val 44667"/>
            </a:avLst>
          </a:prstGeom>
          <a:solidFill>
            <a:srgbClr val="EF4444">
              <a:alpha val="10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4049018"/>
            <a:ext cx="7924800" cy="818852"/>
          </a:xfrm>
          <a:prstGeom prst="roundRect">
            <a:avLst>
              <a:gd name="adj" fmla="val 44667"/>
            </a:avLst>
          </a:prstGeom>
          <a:solidFill>
            <a:srgbClr val="F59E0B">
              <a:alpha val="10000"/>
            </a:srgbClr>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5194995"/>
            <a:ext cx="7781925" cy="2105025"/>
          </a:xfrm>
          <a:prstGeom prst="roundRect">
            <a:avLst>
              <a:gd name="adj" fmla="val 17376"/>
            </a:avLst>
          </a:prstGeom>
          <a:solidFill>
            <a:srgbClr val="1E293B"/>
          </a:solidFill>
          <a:ln/>
        </p:spPr>
        <p:txBody>
          <a:bodyPr wrap="none" lIns="0" tIns="0" rIns="0" bIns="0" rtlCol="0" anchor="ctr">
            <a:normAutofit/>
          </a:bodyPr>
          <a:lstStyle/>
          <a:p>
            <a:pPr marL="0" indent="0">
              <a:buNone/>
            </a:pPr>
            <a:endParaRPr lang="en-US" dirty="0"/>
          </a:p>
        </p:txBody>
      </p:sp>
      <p:sp>
        <p:nvSpPr>
          <p:cNvPr id="7" name="Text 5"/>
          <p:cNvSpPr/>
          <p:nvPr/>
        </p:nvSpPr>
        <p:spPr>
          <a:xfrm>
            <a:off x="762000" y="5610225"/>
            <a:ext cx="7477125" cy="461665"/>
          </a:xfrm>
          <a:prstGeom prst="roundRect">
            <a:avLst>
              <a:gd name="adj" fmla="val 59420"/>
            </a:avLst>
          </a:prstGeom>
          <a:solidFill>
            <a:srgbClr val="38BDF8">
              <a:alpha val="15000"/>
            </a:srgbClr>
          </a:solidFill>
          <a:ln/>
        </p:spPr>
        <p:txBody>
          <a:bodyPr wrap="none" lIns="0" tIns="0" rIns="0" bIns="0" rtlCol="0" anchor="ctr">
            <a:normAutofit/>
          </a:bodyPr>
          <a:lstStyle/>
          <a:p>
            <a:pPr marL="0" indent="0">
              <a:buNone/>
            </a:pPr>
            <a:endParaRPr lang="en-US" dirty="0"/>
          </a:p>
        </p:txBody>
      </p:sp>
      <p:sp>
        <p:nvSpPr>
          <p:cNvPr id="8" name="Text 6"/>
          <p:cNvSpPr/>
          <p:nvPr/>
        </p:nvSpPr>
        <p:spPr>
          <a:xfrm>
            <a:off x="762000" y="6148090"/>
            <a:ext cx="7477125" cy="461665"/>
          </a:xfrm>
          <a:prstGeom prst="roundRect">
            <a:avLst>
              <a:gd name="adj" fmla="val 59420"/>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9" name="Text 7"/>
          <p:cNvSpPr/>
          <p:nvPr/>
        </p:nvSpPr>
        <p:spPr>
          <a:xfrm>
            <a:off x="762000" y="6685955"/>
            <a:ext cx="7477125" cy="461665"/>
          </a:xfrm>
          <a:prstGeom prst="roundRect">
            <a:avLst>
              <a:gd name="adj" fmla="val 59420"/>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10" name="Text 8"/>
          <p:cNvSpPr/>
          <p:nvPr/>
        </p:nvSpPr>
        <p:spPr>
          <a:xfrm>
            <a:off x="609600" y="7414320"/>
            <a:ext cx="7781925" cy="1596033"/>
          </a:xfrm>
          <a:prstGeom prst="roundRect">
            <a:avLst>
              <a:gd name="adj" fmla="val 22917"/>
            </a:avLst>
          </a:prstGeom>
          <a:solidFill>
            <a:srgbClr val="1E293B"/>
          </a:solidFill>
          <a:ln/>
        </p:spPr>
        <p:txBody>
          <a:bodyPr wrap="none" lIns="0" tIns="0" rIns="0" bIns="0" rtlCol="0" anchor="ctr">
            <a:normAutofit/>
          </a:bodyPr>
          <a:lstStyle/>
          <a:p>
            <a:pPr marL="0" indent="0">
              <a:buNone/>
            </a:pPr>
            <a:endParaRPr lang="en-US" dirty="0"/>
          </a:p>
        </p:txBody>
      </p:sp>
      <p:sp>
        <p:nvSpPr>
          <p:cNvPr id="11" name="Text 9"/>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Operational Recommendations &amp; Action Plan</a:t>
            </a:r>
            <a:endParaRPr lang="en-US" sz="2700" dirty="0"/>
          </a:p>
        </p:txBody>
      </p:sp>
      <p:sp>
        <p:nvSpPr>
          <p:cNvPr id="12" name="Text 10"/>
          <p:cNvSpPr/>
          <p:nvPr/>
        </p:nvSpPr>
        <p:spPr>
          <a:xfrm>
            <a:off x="762000" y="1363861"/>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Physician Workload Standardization</a:t>
            </a:r>
            <a:endParaRPr lang="en-US" sz="1050" dirty="0"/>
          </a:p>
        </p:txBody>
      </p:sp>
      <p:sp>
        <p:nvSpPr>
          <p:cNvPr id="13" name="Text 11"/>
          <p:cNvSpPr/>
          <p:nvPr/>
        </p:nvSpPr>
        <p:spPr>
          <a:xfrm>
            <a:off x="762000" y="1588591"/>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Address 100% variance in physician patient loads (12-24 patients). Benchmark Michael Smith's best practices (24 patients) as operational standard. Implement workload rebalancing program with goal of 18-20 patients per physician. Conduct productivity training for underperforming providers.</a:t>
            </a:r>
            <a:endParaRPr lang="en-US" sz="900" dirty="0"/>
          </a:p>
        </p:txBody>
      </p:sp>
      <p:sp>
        <p:nvSpPr>
          <p:cNvPr id="14" name="Text 12"/>
          <p:cNvSpPr/>
          <p:nvPr/>
        </p:nvSpPr>
        <p:spPr>
          <a:xfrm>
            <a:off x="762000" y="2297013"/>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 Emergency Surge Capacity Planning</a:t>
            </a:r>
            <a:endParaRPr lang="en-US" sz="1050" dirty="0"/>
          </a:p>
        </p:txBody>
      </p:sp>
      <p:sp>
        <p:nvSpPr>
          <p:cNvPr id="15" name="Text 13"/>
          <p:cNvSpPr/>
          <p:nvPr/>
        </p:nvSpPr>
        <p:spPr>
          <a:xfrm>
            <a:off x="762000" y="2521744"/>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Current 90%+ occupancy leaves minimal surge buffer. Develop tiered surge protocols for 10%, 20%, 50% volume increases. Identify temporary bed expansion solutions. Establish mutual aid agreements with partner facilities. Target: maintain 15-20% surge capacity buffer.</a:t>
            </a:r>
            <a:endParaRPr lang="en-US" sz="900" dirty="0"/>
          </a:p>
        </p:txBody>
      </p:sp>
      <p:sp>
        <p:nvSpPr>
          <p:cNvPr id="16" name="Text 14"/>
          <p:cNvSpPr/>
          <p:nvPr/>
        </p:nvSpPr>
        <p:spPr>
          <a:xfrm>
            <a:off x="762000" y="3230166"/>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EF4444"/>
                </a:solidFill>
                <a:latin typeface="Arial" pitchFamily="34" charset="0"/>
                <a:ea typeface="Arial" pitchFamily="34" charset="-122"/>
                <a:cs typeface="Arial" pitchFamily="34" charset="-120"/>
              </a:rPr>
              <a:t>📋 Care Process Optimization</a:t>
            </a:r>
            <a:endParaRPr lang="en-US" sz="1050" dirty="0"/>
          </a:p>
        </p:txBody>
      </p:sp>
      <p:sp>
        <p:nvSpPr>
          <p:cNvPr id="17" name="Text 15"/>
          <p:cNvSpPr/>
          <p:nvPr/>
        </p:nvSpPr>
        <p:spPr>
          <a:xfrm>
            <a:off x="762000" y="3454896"/>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Current 15-day average LOS is stable across conditions. Identify condition-specific LOS reduction opportunities (target: -1 day for Asthma, Arthritis). Implement lean process improvements. Target 2-3% LOS reduction = 1-1.5 additional patients per bed annually.</a:t>
            </a:r>
            <a:endParaRPr lang="en-US" sz="900" dirty="0"/>
          </a:p>
        </p:txBody>
      </p:sp>
      <p:sp>
        <p:nvSpPr>
          <p:cNvPr id="18" name="Text 16"/>
          <p:cNvSpPr/>
          <p:nvPr/>
        </p:nvSpPr>
        <p:spPr>
          <a:xfrm>
            <a:off x="762000" y="4163318"/>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Admission Mix Optimization</a:t>
            </a:r>
            <a:endParaRPr lang="en-US" sz="1050" dirty="0"/>
          </a:p>
        </p:txBody>
      </p:sp>
      <p:sp>
        <p:nvSpPr>
          <p:cNvPr id="19" name="Text 17"/>
          <p:cNvSpPr/>
          <p:nvPr/>
        </p:nvSpPr>
        <p:spPr>
          <a:xfrm>
            <a:off x="762000" y="4388048"/>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Current balance (33.6% Emergency, 33.5% Elective, 32.9% Urgent) is well-optimized. Maintain current triage protocols. Fine-tune elective scheduling to smooth daily admission patterns. Target: ±1% variance maintenance.</a:t>
            </a:r>
            <a:endParaRPr lang="en-US" sz="900" dirty="0"/>
          </a:p>
        </p:txBody>
      </p:sp>
      <p:sp>
        <p:nvSpPr>
          <p:cNvPr id="20" name="Text 18"/>
          <p:cNvSpPr/>
          <p:nvPr/>
        </p:nvSpPr>
        <p:spPr>
          <a:xfrm>
            <a:off x="762000" y="5347395"/>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PRIORITY ACTIONS</a:t>
            </a:r>
            <a:endParaRPr lang="en-US" sz="1050" dirty="0"/>
          </a:p>
        </p:txBody>
      </p:sp>
      <p:sp>
        <p:nvSpPr>
          <p:cNvPr id="21" name="Text 19"/>
          <p:cNvSpPr/>
          <p:nvPr/>
        </p:nvSpPr>
        <p:spPr>
          <a:xfrm>
            <a:off x="838200" y="568642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38BDF8"/>
                </a:solidFill>
                <a:latin typeface="Arial" pitchFamily="34" charset="0"/>
                <a:ea typeface="Arial" pitchFamily="34" charset="-122"/>
                <a:cs typeface="Arial" pitchFamily="34" charset="-120"/>
              </a:rPr>
              <a:t>Timeline: Q1 2026</a:t>
            </a:r>
            <a:endParaRPr lang="en-US" sz="900" dirty="0"/>
          </a:p>
        </p:txBody>
      </p:sp>
      <p:sp>
        <p:nvSpPr>
          <p:cNvPr id="22" name="Text 20"/>
          <p:cNvSpPr/>
          <p:nvPr/>
        </p:nvSpPr>
        <p:spPr>
          <a:xfrm>
            <a:off x="838200" y="584641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Workload analysis, surge protocol design, LOS benchmarking</a:t>
            </a:r>
            <a:endParaRPr lang="en-US" sz="840" dirty="0"/>
          </a:p>
        </p:txBody>
      </p:sp>
      <p:sp>
        <p:nvSpPr>
          <p:cNvPr id="23" name="Text 21"/>
          <p:cNvSpPr/>
          <p:nvPr/>
        </p:nvSpPr>
        <p:spPr>
          <a:xfrm>
            <a:off x="838200" y="6224290"/>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10B981"/>
                </a:solidFill>
                <a:latin typeface="Arial" pitchFamily="34" charset="0"/>
                <a:ea typeface="Arial" pitchFamily="34" charset="-122"/>
                <a:cs typeface="Arial" pitchFamily="34" charset="-120"/>
              </a:rPr>
              <a:t>Timeline: Q2-Q3 2026</a:t>
            </a:r>
            <a:endParaRPr lang="en-US" sz="900" dirty="0"/>
          </a:p>
        </p:txBody>
      </p:sp>
      <p:sp>
        <p:nvSpPr>
          <p:cNvPr id="24" name="Text 22"/>
          <p:cNvSpPr/>
          <p:nvPr/>
        </p:nvSpPr>
        <p:spPr>
          <a:xfrm>
            <a:off x="838200" y="6384280"/>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Workload rebalancing, process improvements, staff training</a:t>
            </a:r>
            <a:endParaRPr lang="en-US" sz="840" dirty="0"/>
          </a:p>
        </p:txBody>
      </p:sp>
      <p:sp>
        <p:nvSpPr>
          <p:cNvPr id="25" name="Text 23"/>
          <p:cNvSpPr/>
          <p:nvPr/>
        </p:nvSpPr>
        <p:spPr>
          <a:xfrm>
            <a:off x="838200" y="676215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F59E0B"/>
                </a:solidFill>
                <a:latin typeface="Arial" pitchFamily="34" charset="0"/>
                <a:ea typeface="Arial" pitchFamily="34" charset="-122"/>
                <a:cs typeface="Arial" pitchFamily="34" charset="-120"/>
              </a:rPr>
              <a:t>Timeline: Q4 2026</a:t>
            </a:r>
            <a:endParaRPr lang="en-US" sz="900" dirty="0"/>
          </a:p>
        </p:txBody>
      </p:sp>
      <p:sp>
        <p:nvSpPr>
          <p:cNvPr id="26" name="Text 24"/>
          <p:cNvSpPr/>
          <p:nvPr/>
        </p:nvSpPr>
        <p:spPr>
          <a:xfrm>
            <a:off x="838200" y="692214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Performance tracking, surge capacity validation, efficiency gains</a:t>
            </a:r>
            <a:endParaRPr lang="en-US" sz="840" dirty="0"/>
          </a:p>
        </p:txBody>
      </p:sp>
      <p:sp>
        <p:nvSpPr>
          <p:cNvPr id="27" name="Text 25"/>
          <p:cNvSpPr/>
          <p:nvPr/>
        </p:nvSpPr>
        <p:spPr>
          <a:xfrm>
            <a:off x="762000" y="7566720"/>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SUCCESS METRICS</a:t>
            </a:r>
            <a:endParaRPr lang="en-US" sz="1050" dirty="0"/>
          </a:p>
        </p:txBody>
      </p:sp>
      <p:sp>
        <p:nvSpPr>
          <p:cNvPr id="28" name="Text 26"/>
          <p:cNvSpPr/>
          <p:nvPr/>
        </p:nvSpPr>
        <p:spPr>
          <a:xfrm>
            <a:off x="914400" y="7829550"/>
            <a:ext cx="73247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Physician workload: 18-20 patients (std)</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Surge capacity: 15-20% buffer maintained</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LOS reduction: 1-1.5% (0.15-0.22 days)</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Patient throughput: +1-1.5 per bed/year</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Admission variance: ±1% maintained</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a:extLst>
            <a:ext uri="{FF2B5EF4-FFF2-40B4-BE49-F238E27FC236}">
              <a16:creationId xmlns:a16="http://schemas.microsoft.com/office/drawing/2014/main" id="{7F922B56-6A08-4015-BB6F-08E19532C34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2A6EDEB-8C5C-AF5D-DA1C-E305F32203A8}"/>
              </a:ext>
            </a:extLst>
          </p:cNvPr>
          <p:cNvSpPr/>
          <p:nvPr/>
        </p:nvSpPr>
        <p:spPr>
          <a:xfrm>
            <a:off x="2023052" y="1512689"/>
            <a:ext cx="5097745" cy="685800"/>
          </a:xfrm>
          <a:prstGeom prst="rect">
            <a:avLst/>
          </a:prstGeom>
          <a:noFill/>
          <a:ln/>
        </p:spPr>
        <p:txBody>
          <a:bodyPr wrap="square" lIns="0" tIns="0" rIns="0" bIns="0" rtlCol="0" anchor="t"/>
          <a:lstStyle/>
          <a:p>
            <a:pPr algn="ctr">
              <a:lnSpc>
                <a:spcPts val="5400"/>
              </a:lnSpc>
            </a:pPr>
            <a:r>
              <a:rPr lang="en-US" sz="4800" b="1" dirty="0">
                <a:solidFill>
                  <a:srgbClr val="38BDF8"/>
                </a:solidFill>
                <a:latin typeface="Arial" pitchFamily="34" charset="0"/>
                <a:ea typeface="Arial" pitchFamily="34" charset="-122"/>
                <a:cs typeface="Arial" pitchFamily="34" charset="-120"/>
              </a:rPr>
              <a:t> Demographical</a:t>
            </a:r>
            <a:r>
              <a:rPr lang="en-US" sz="4500" b="1" dirty="0">
                <a:solidFill>
                  <a:schemeClr val="accent5"/>
                </a:solidFill>
              </a:rPr>
              <a:t> Performance</a:t>
            </a:r>
          </a:p>
        </p:txBody>
      </p:sp>
      <p:sp>
        <p:nvSpPr>
          <p:cNvPr id="3" name="Text 1">
            <a:extLst>
              <a:ext uri="{FF2B5EF4-FFF2-40B4-BE49-F238E27FC236}">
                <a16:creationId xmlns:a16="http://schemas.microsoft.com/office/drawing/2014/main" id="{DE08EF08-C5F7-6BF0-6CCC-F7C17D59FCE0}"/>
              </a:ext>
            </a:extLst>
          </p:cNvPr>
          <p:cNvSpPr/>
          <p:nvPr/>
        </p:nvSpPr>
        <p:spPr>
          <a:xfrm>
            <a:off x="2952092" y="2350889"/>
            <a:ext cx="3239816" cy="319980"/>
          </a:xfrm>
          <a:prstGeom prst="rect">
            <a:avLst/>
          </a:prstGeom>
          <a:noFill/>
          <a:ln/>
        </p:spPr>
        <p:txBody>
          <a:bodyPr wrap="square" lIns="0" tIns="0" rIns="0" bIns="0" rtlCol="0" anchor="t"/>
          <a:lstStyle/>
          <a:p>
            <a:pPr marL="0" indent="0" algn="ctr">
              <a:lnSpc>
                <a:spcPts val="2520"/>
              </a:lnSpc>
              <a:buNone/>
            </a:pPr>
            <a:endParaRPr lang="en-US" sz="1800" dirty="0"/>
          </a:p>
        </p:txBody>
      </p:sp>
      <p:sp>
        <p:nvSpPr>
          <p:cNvPr id="5" name="Text 3">
            <a:extLst>
              <a:ext uri="{FF2B5EF4-FFF2-40B4-BE49-F238E27FC236}">
                <a16:creationId xmlns:a16="http://schemas.microsoft.com/office/drawing/2014/main" id="{DE31259F-C625-39CE-7586-6537527F770F}"/>
              </a:ext>
            </a:extLst>
          </p:cNvPr>
          <p:cNvSpPr/>
          <p:nvPr/>
        </p:nvSpPr>
        <p:spPr>
          <a:xfrm>
            <a:off x="3487739" y="3132453"/>
            <a:ext cx="2168370"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December 2025 | Healthcare Performance Analysis</a:t>
            </a:r>
            <a:endParaRPr lang="en-US" sz="1050" dirty="0"/>
          </a:p>
        </p:txBody>
      </p:sp>
    </p:spTree>
    <p:extLst>
      <p:ext uri="{BB962C8B-B14F-4D97-AF65-F5344CB8AC3E}">
        <p14:creationId xmlns:p14="http://schemas.microsoft.com/office/powerpoint/2010/main" val="41979244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15" name="Text 0">
            <a:extLst>
              <a:ext uri="{FF2B5EF4-FFF2-40B4-BE49-F238E27FC236}">
                <a16:creationId xmlns:a16="http://schemas.microsoft.com/office/drawing/2014/main" id="{72F1BED0-A896-86BF-37F3-042779634457}"/>
              </a:ext>
            </a:extLst>
          </p:cNvPr>
          <p:cNvSpPr/>
          <p:nvPr/>
        </p:nvSpPr>
        <p:spPr>
          <a:xfrm>
            <a:off x="609600" y="1190475"/>
            <a:ext cx="1934665" cy="1017091"/>
          </a:xfrm>
          <a:prstGeom prst="roundRect">
            <a:avLst>
              <a:gd name="adj" fmla="val 35961"/>
            </a:avLst>
          </a:prstGeom>
          <a:solidFill>
            <a:srgbClr val="1E293B"/>
          </a:solidFill>
          <a:ln/>
        </p:spPr>
        <p:txBody>
          <a:bodyPr wrap="none" lIns="0" tIns="0" rIns="0" bIns="0" rtlCol="0" anchor="ctr">
            <a:normAutofit/>
          </a:bodyPr>
          <a:lstStyle/>
          <a:p>
            <a:pPr marL="0" indent="0">
              <a:buNone/>
            </a:pPr>
            <a:endParaRPr lang="en-US" dirty="0"/>
          </a:p>
        </p:txBody>
      </p:sp>
      <p:sp>
        <p:nvSpPr>
          <p:cNvPr id="2" name="Text 0"/>
          <p:cNvSpPr/>
          <p:nvPr/>
        </p:nvSpPr>
        <p:spPr>
          <a:xfrm>
            <a:off x="3126414" y="1169491"/>
            <a:ext cx="5110168" cy="1017091"/>
          </a:xfrm>
          <a:prstGeom prst="roundRect">
            <a:avLst>
              <a:gd name="adj" fmla="val 35961"/>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3126414" y="2489616"/>
            <a:ext cx="4977545" cy="2333622"/>
          </a:xfrm>
          <a:prstGeom prst="roundRect">
            <a:avLst>
              <a:gd name="adj" fmla="val 2642"/>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4" name="Text 2"/>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Demographic Analysis: Patient Population</a:t>
            </a:r>
            <a:endParaRPr lang="en-US" sz="2700" dirty="0"/>
          </a:p>
        </p:txBody>
      </p:sp>
      <p:sp>
        <p:nvSpPr>
          <p:cNvPr id="5" name="Text 3"/>
          <p:cNvSpPr/>
          <p:nvPr/>
        </p:nvSpPr>
        <p:spPr>
          <a:xfrm>
            <a:off x="1060704" y="1249561"/>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Total Patients</a:t>
            </a:r>
            <a:endParaRPr lang="en-US" sz="1050" dirty="0"/>
          </a:p>
        </p:txBody>
      </p:sp>
      <p:sp>
        <p:nvSpPr>
          <p:cNvPr id="6" name="Text 4"/>
          <p:cNvSpPr/>
          <p:nvPr/>
        </p:nvSpPr>
        <p:spPr>
          <a:xfrm>
            <a:off x="1060704" y="1512391"/>
            <a:ext cx="8083296" cy="373261"/>
          </a:xfrm>
          <a:prstGeom prst="rect">
            <a:avLst/>
          </a:prstGeom>
          <a:noFill/>
          <a:ln/>
        </p:spPr>
        <p:txBody>
          <a:bodyPr wrap="square" lIns="0" tIns="0" rIns="0" bIns="0" rtlCol="0" anchor="t"/>
          <a:lstStyle/>
          <a:p>
            <a:pPr marL="0" indent="0">
              <a:lnSpc>
                <a:spcPts val="2940"/>
              </a:lnSpc>
              <a:buNone/>
            </a:pPr>
            <a:r>
              <a:rPr lang="en-US" sz="2100" b="1" dirty="0">
                <a:solidFill>
                  <a:srgbClr val="10B981"/>
                </a:solidFill>
                <a:latin typeface="Arial" pitchFamily="34" charset="0"/>
                <a:ea typeface="Arial" pitchFamily="34" charset="-122"/>
                <a:cs typeface="Arial" pitchFamily="34" charset="-120"/>
              </a:rPr>
              <a:t>48,896</a:t>
            </a:r>
            <a:endParaRPr lang="en-US" sz="2100" dirty="0"/>
          </a:p>
        </p:txBody>
      </p:sp>
      <p:sp>
        <p:nvSpPr>
          <p:cNvPr id="7" name="Text 5"/>
          <p:cNvSpPr/>
          <p:nvPr/>
        </p:nvSpPr>
        <p:spPr>
          <a:xfrm>
            <a:off x="907418" y="1952569"/>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Across All Conditions</a:t>
            </a:r>
            <a:endParaRPr lang="en-US" sz="1050" dirty="0"/>
          </a:p>
        </p:txBody>
      </p:sp>
      <p:sp>
        <p:nvSpPr>
          <p:cNvPr id="8" name="Text 6"/>
          <p:cNvSpPr/>
          <p:nvPr/>
        </p:nvSpPr>
        <p:spPr>
          <a:xfrm>
            <a:off x="3358617" y="1322132"/>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Gender Distribution</a:t>
            </a:r>
            <a:endParaRPr lang="en-US" sz="1200" dirty="0"/>
          </a:p>
        </p:txBody>
      </p:sp>
      <p:sp>
        <p:nvSpPr>
          <p:cNvPr id="9" name="Text 7"/>
          <p:cNvSpPr/>
          <p:nvPr/>
        </p:nvSpPr>
        <p:spPr>
          <a:xfrm>
            <a:off x="3358617" y="1821860"/>
            <a:ext cx="7772400" cy="186630"/>
          </a:xfrm>
          <a:prstGeom prst="rect">
            <a:avLst/>
          </a:prstGeom>
          <a:noFill/>
          <a:ln/>
        </p:spPr>
        <p:txBody>
          <a:bodyPr wrap="square" lIns="0" tIns="0" rIns="0" bIns="0" rtlCol="0" anchor="t"/>
          <a:lstStyle/>
          <a:p>
            <a:pPr marL="0" indent="0">
              <a:lnSpc>
                <a:spcPts val="1470"/>
              </a:lnSpc>
              <a:buNone/>
            </a:pPr>
            <a:r>
              <a:rPr lang="en-US" sz="1050" b="1" dirty="0">
                <a:solidFill>
                  <a:srgbClr val="CBD5E1"/>
                </a:solidFill>
                <a:latin typeface="Arial" pitchFamily="34" charset="0"/>
                <a:ea typeface="Arial" pitchFamily="34" charset="-122"/>
                <a:cs typeface="Arial" pitchFamily="34" charset="-120"/>
              </a:rPr>
              <a:t>Female:</a:t>
            </a:r>
            <a:r>
              <a:rPr lang="en-US" sz="1050" dirty="0">
                <a:solidFill>
                  <a:srgbClr val="CBD5E1"/>
                </a:solidFill>
                <a:latin typeface="Arial" pitchFamily="34" charset="0"/>
                <a:ea typeface="Arial" pitchFamily="34" charset="-122"/>
                <a:cs typeface="Arial" pitchFamily="34" charset="-120"/>
              </a:rPr>
              <a:t> 50.02% | </a:t>
            </a:r>
            <a:r>
              <a:rPr lang="en-US" sz="1050" b="1" dirty="0">
                <a:solidFill>
                  <a:srgbClr val="CBD5E1"/>
                </a:solidFill>
                <a:latin typeface="Arial" pitchFamily="34" charset="0"/>
                <a:ea typeface="Arial" pitchFamily="34" charset="-122"/>
                <a:cs typeface="Arial" pitchFamily="34" charset="-120"/>
              </a:rPr>
              <a:t>Male:</a:t>
            </a:r>
            <a:r>
              <a:rPr lang="en-US" sz="1050" dirty="0">
                <a:solidFill>
                  <a:srgbClr val="CBD5E1"/>
                </a:solidFill>
                <a:latin typeface="Arial" pitchFamily="34" charset="0"/>
                <a:ea typeface="Arial" pitchFamily="34" charset="-122"/>
                <a:cs typeface="Arial" pitchFamily="34" charset="-120"/>
              </a:rPr>
              <a:t> 49.98%</a:t>
            </a:r>
            <a:endParaRPr lang="en-US" sz="1050" dirty="0"/>
          </a:p>
        </p:txBody>
      </p:sp>
      <p:sp>
        <p:nvSpPr>
          <p:cNvPr id="10" name="Text 8"/>
          <p:cNvSpPr/>
          <p:nvPr/>
        </p:nvSpPr>
        <p:spPr>
          <a:xfrm>
            <a:off x="3358617" y="1567532"/>
            <a:ext cx="7772400" cy="15999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Perfect demographic balance</a:t>
            </a:r>
            <a:endParaRPr lang="en-US" sz="900" dirty="0"/>
          </a:p>
        </p:txBody>
      </p:sp>
      <p:pic>
        <p:nvPicPr>
          <p:cNvPr id="17" name="Picture 16" descr="A blue circle with text&#10;&#10;AI-generated content may be incorrect.">
            <a:extLst>
              <a:ext uri="{FF2B5EF4-FFF2-40B4-BE49-F238E27FC236}">
                <a16:creationId xmlns:a16="http://schemas.microsoft.com/office/drawing/2014/main" id="{90D27051-A22C-46BF-A0C8-5DF1A1EF3E66}"/>
              </a:ext>
            </a:extLst>
          </p:cNvPr>
          <p:cNvPicPr>
            <a:picLocks noChangeAspect="1"/>
          </p:cNvPicPr>
          <p:nvPr/>
        </p:nvPicPr>
        <p:blipFill>
          <a:blip r:embed="rId3"/>
          <a:stretch>
            <a:fillRect/>
          </a:stretch>
        </p:blipFill>
        <p:spPr>
          <a:xfrm>
            <a:off x="3245424" y="2577237"/>
            <a:ext cx="4739523" cy="2158379"/>
          </a:xfrm>
          <a:prstGeom prst="rect">
            <a:avLst/>
          </a:prstGeom>
        </p:spPr>
      </p:pic>
      <p:sp>
        <p:nvSpPr>
          <p:cNvPr id="19" name="Text 2"/>
          <p:cNvSpPr/>
          <p:nvPr/>
        </p:nvSpPr>
        <p:spPr>
          <a:xfrm>
            <a:off x="682466" y="2832467"/>
            <a:ext cx="2381821"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Perfect Gender Distribution</a:t>
            </a:r>
            <a:endParaRPr lang="en-US" sz="1200" dirty="0"/>
          </a:p>
        </p:txBody>
      </p:sp>
      <p:sp>
        <p:nvSpPr>
          <p:cNvPr id="20" name="Text 3">
            <a:extLst>
              <a:ext uri="{FF2B5EF4-FFF2-40B4-BE49-F238E27FC236}">
                <a16:creationId xmlns:a16="http://schemas.microsoft.com/office/drawing/2014/main" id="{C80F1024-2EE9-8AA8-9382-AF9833C2E331}"/>
              </a:ext>
            </a:extLst>
          </p:cNvPr>
          <p:cNvSpPr/>
          <p:nvPr/>
        </p:nvSpPr>
        <p:spPr>
          <a:xfrm>
            <a:off x="703486" y="3113935"/>
            <a:ext cx="2217361"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50.02% Female vs 49.98% Male shows exceptional demographic balance. No gender-based bias in admission patterns. Supports equitable healthcare access and eliminates gender-based disparities.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448729" y="1769727"/>
            <a:ext cx="4488723" cy="2875873"/>
          </a:xfrm>
          <a:prstGeom prst="roundRect">
            <a:avLst>
              <a:gd name="adj" fmla="val 1920"/>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Demographic Findings: Distribution &amp; Balance</a:t>
            </a:r>
            <a:endParaRPr lang="en-US" sz="2700" dirty="0"/>
          </a:p>
        </p:txBody>
      </p:sp>
      <p:sp>
        <p:nvSpPr>
          <p:cNvPr id="6" name="Text 4"/>
          <p:cNvSpPr/>
          <p:nvPr/>
        </p:nvSpPr>
        <p:spPr>
          <a:xfrm>
            <a:off x="596837" y="1618440"/>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Physician Workload Distribution</a:t>
            </a:r>
            <a:endParaRPr lang="en-US" sz="1200" dirty="0"/>
          </a:p>
        </p:txBody>
      </p:sp>
      <p:sp>
        <p:nvSpPr>
          <p:cNvPr id="7" name="Text 5"/>
          <p:cNvSpPr/>
          <p:nvPr/>
        </p:nvSpPr>
        <p:spPr>
          <a:xfrm>
            <a:off x="556399" y="1865785"/>
            <a:ext cx="3784979" cy="400050"/>
          </a:xfrm>
          <a:prstGeom prst="rect">
            <a:avLst/>
          </a:prstGeom>
          <a:noFill/>
          <a:ln/>
        </p:spPr>
        <p:txBody>
          <a:bodyPr wrap="square" lIns="0" tIns="0" rIns="0" bIns="0" rtlCol="0" anchor="t"/>
          <a:lstStyle/>
          <a:p>
            <a:pPr marL="0" indent="0">
              <a:lnSpc>
                <a:spcPts val="1575"/>
              </a:lnSpc>
              <a:buNone/>
            </a:pPr>
            <a:r>
              <a:rPr lang="en-US" sz="1050" b="1" dirty="0">
                <a:solidFill>
                  <a:srgbClr val="CBD5E1"/>
                </a:solidFill>
                <a:latin typeface="Arial" pitchFamily="34" charset="0"/>
                <a:ea typeface="Arial" pitchFamily="34" charset="-122"/>
                <a:cs typeface="Arial" pitchFamily="34" charset="-120"/>
              </a:rPr>
              <a:t>Top 5:</a:t>
            </a:r>
            <a:r>
              <a:rPr lang="en-US" sz="1050" dirty="0">
                <a:solidFill>
                  <a:srgbClr val="CBD5E1"/>
                </a:solidFill>
                <a:latin typeface="Arial" pitchFamily="34" charset="0"/>
                <a:ea typeface="Arial" pitchFamily="34" charset="-122"/>
                <a:cs typeface="Arial" pitchFamily="34" charset="-120"/>
              </a:rPr>
              <a:t> Michael Smith (28), John Smith (21), Michael Johnson (19), Robert Smith (19), David Smith (18). 100% variance suggests need for workload standardization and productivity benchmarking.</a:t>
            </a:r>
            <a:endParaRPr lang="en-US" sz="1050" dirty="0"/>
          </a:p>
        </p:txBody>
      </p:sp>
      <p:sp>
        <p:nvSpPr>
          <p:cNvPr id="8" name="Text 6"/>
          <p:cNvSpPr/>
          <p:nvPr/>
        </p:nvSpPr>
        <p:spPr>
          <a:xfrm>
            <a:off x="596837" y="2877666"/>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Blood Type Admission Patterns</a:t>
            </a:r>
            <a:endParaRPr lang="en-US" sz="1200" dirty="0"/>
          </a:p>
        </p:txBody>
      </p:sp>
      <p:sp>
        <p:nvSpPr>
          <p:cNvPr id="9" name="Text 7"/>
          <p:cNvSpPr/>
          <p:nvPr/>
        </p:nvSpPr>
        <p:spPr>
          <a:xfrm>
            <a:off x="556399" y="3180030"/>
            <a:ext cx="3368722" cy="752474"/>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A+ highest (6,900), O+ (6,875), B+ (6,800), declining to O- lowest (6,800). Only 100-patient variance suggests representative sampling with minimal clinical planning impact.</a:t>
            </a:r>
            <a:endParaRPr lang="en-US" sz="1050" dirty="0"/>
          </a:p>
        </p:txBody>
      </p:sp>
      <p:pic>
        <p:nvPicPr>
          <p:cNvPr id="11" name="Picture 10" descr="A graph of a line">
            <a:extLst>
              <a:ext uri="{FF2B5EF4-FFF2-40B4-BE49-F238E27FC236}">
                <a16:creationId xmlns:a16="http://schemas.microsoft.com/office/drawing/2014/main" id="{50FEDB88-2FC3-07BE-B512-323558EE74B6}"/>
              </a:ext>
            </a:extLst>
          </p:cNvPr>
          <p:cNvPicPr>
            <a:picLocks noChangeAspect="1"/>
          </p:cNvPicPr>
          <p:nvPr/>
        </p:nvPicPr>
        <p:blipFill>
          <a:blip r:embed="rId3"/>
          <a:stretch>
            <a:fillRect/>
          </a:stretch>
        </p:blipFill>
        <p:spPr>
          <a:xfrm>
            <a:off x="4572000" y="1862920"/>
            <a:ext cx="4258101" cy="2625012"/>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5001491" y="1618172"/>
            <a:ext cx="3976254" cy="2226463"/>
          </a:xfrm>
          <a:prstGeom prst="roundRect">
            <a:avLst>
              <a:gd name="adj" fmla="val 4382"/>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r>
              <a:rPr lang="en-US" sz="1050" dirty="0">
                <a:solidFill>
                  <a:srgbClr val="CBD5E1"/>
                </a:solidFill>
                <a:latin typeface="Arial" pitchFamily="34" charset="0"/>
                <a:ea typeface="Arial" pitchFamily="34" charset="-122"/>
                <a:cs typeface="Arial" pitchFamily="34" charset="-120"/>
              </a:rPr>
              <a:t>[Chart: Age by Medical Condition]</a:t>
            </a:r>
            <a:endParaRPr lang="en-US" sz="1050" dirty="0"/>
          </a:p>
        </p:txBody>
      </p:sp>
      <p:sp>
        <p:nvSpPr>
          <p:cNvPr id="3" name="Text 1"/>
          <p:cNvSpPr/>
          <p:nvPr/>
        </p:nvSpPr>
        <p:spPr>
          <a:xfrm>
            <a:off x="609600" y="254124"/>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Demographic Findings: Population Profile</a:t>
            </a:r>
            <a:endParaRPr lang="en-US" sz="2700" dirty="0"/>
          </a:p>
        </p:txBody>
      </p:sp>
      <p:sp>
        <p:nvSpPr>
          <p:cNvPr id="4" name="Text 2"/>
          <p:cNvSpPr/>
          <p:nvPr/>
        </p:nvSpPr>
        <p:spPr>
          <a:xfrm>
            <a:off x="531778" y="986491"/>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Physician Specialization Concentration</a:t>
            </a:r>
            <a:endParaRPr lang="en-US" sz="1200" dirty="0"/>
          </a:p>
        </p:txBody>
      </p:sp>
      <p:sp>
        <p:nvSpPr>
          <p:cNvPr id="5" name="Text 3"/>
          <p:cNvSpPr/>
          <p:nvPr/>
        </p:nvSpPr>
        <p:spPr>
          <a:xfrm>
            <a:off x="531780" y="1203073"/>
            <a:ext cx="4370811" cy="626986"/>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Top 10 physicians handle ~120 patients (0.25% of total 48,896). Pattern suggests two-tier system: specialist consultants vs. primary/generalist providers. Opportunity for tier standardization.</a:t>
            </a:r>
            <a:endParaRPr lang="en-US" sz="1050" dirty="0"/>
          </a:p>
        </p:txBody>
      </p:sp>
      <p:sp>
        <p:nvSpPr>
          <p:cNvPr id="6" name="Text 4"/>
          <p:cNvSpPr/>
          <p:nvPr/>
        </p:nvSpPr>
        <p:spPr>
          <a:xfrm>
            <a:off x="531778" y="2016948"/>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Age Profile Across Conditions</a:t>
            </a:r>
            <a:endParaRPr lang="en-US" sz="1200" dirty="0"/>
          </a:p>
        </p:txBody>
      </p:sp>
      <p:sp>
        <p:nvSpPr>
          <p:cNvPr id="7" name="Text 5"/>
          <p:cNvSpPr/>
          <p:nvPr/>
        </p:nvSpPr>
        <p:spPr>
          <a:xfrm>
            <a:off x="531778" y="2285058"/>
            <a:ext cx="4216067" cy="66231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Asthma: ~48 yrs | Hypertension: ~47 yrs | Arthritis: ~46 yrs | Diabetes: ~45 yrs. Population is middle-aged/senior (avg 46+ years), requiring geriatric protocols and age-appropriate facility design.</a:t>
            </a:r>
            <a:endParaRPr lang="en-US" sz="1050" dirty="0"/>
          </a:p>
        </p:txBody>
      </p:sp>
      <p:sp>
        <p:nvSpPr>
          <p:cNvPr id="8" name="Text 6"/>
          <p:cNvSpPr/>
          <p:nvPr/>
        </p:nvSpPr>
        <p:spPr>
          <a:xfrm>
            <a:off x="531778" y="3195362"/>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Condition-Gender Parity</a:t>
            </a:r>
            <a:endParaRPr lang="en-US" sz="1200" dirty="0"/>
          </a:p>
        </p:txBody>
      </p:sp>
      <p:sp>
        <p:nvSpPr>
          <p:cNvPr id="9" name="Text 7"/>
          <p:cNvSpPr/>
          <p:nvPr/>
        </p:nvSpPr>
        <p:spPr>
          <a:xfrm>
            <a:off x="531779" y="3463472"/>
            <a:ext cx="3772936" cy="797074"/>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Female vs Male counts nearly identical across all conditions (~20K each). No gender-specific disease clustering indicates universal health risk factors rather than gender-based disease prevalence patterns.</a:t>
            </a:r>
            <a:endParaRPr lang="en-US" sz="1050" dirty="0"/>
          </a:p>
        </p:txBody>
      </p:sp>
      <p:pic>
        <p:nvPicPr>
          <p:cNvPr id="11" name="Picture 10" descr="A graph with blue lines&#10;&#10;AI-generated content may be incorrect.">
            <a:extLst>
              <a:ext uri="{FF2B5EF4-FFF2-40B4-BE49-F238E27FC236}">
                <a16:creationId xmlns:a16="http://schemas.microsoft.com/office/drawing/2014/main" id="{181D066D-894E-A2EB-9CA2-A59469312C39}"/>
              </a:ext>
            </a:extLst>
          </p:cNvPr>
          <p:cNvPicPr>
            <a:picLocks noChangeAspect="1"/>
          </p:cNvPicPr>
          <p:nvPr/>
        </p:nvPicPr>
        <p:blipFill>
          <a:blip r:embed="rId3"/>
          <a:stretch>
            <a:fillRect/>
          </a:stretch>
        </p:blipFill>
        <p:spPr>
          <a:xfrm>
            <a:off x="5063603" y="1697182"/>
            <a:ext cx="3852030" cy="2036617"/>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818852"/>
          </a:xfrm>
          <a:prstGeom prst="roundRect">
            <a:avLst>
              <a:gd name="adj" fmla="val 44667"/>
            </a:avLst>
          </a:prstGeom>
          <a:solidFill>
            <a:srgbClr val="10B981">
              <a:alpha val="10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182713"/>
            <a:ext cx="7924800" cy="818852"/>
          </a:xfrm>
          <a:prstGeom prst="roundRect">
            <a:avLst>
              <a:gd name="adj" fmla="val 44667"/>
            </a:avLst>
          </a:prstGeom>
          <a:solidFill>
            <a:srgbClr val="38BDF8">
              <a:alpha val="10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115866"/>
            <a:ext cx="7924800" cy="818852"/>
          </a:xfrm>
          <a:prstGeom prst="roundRect">
            <a:avLst>
              <a:gd name="adj" fmla="val 44667"/>
            </a:avLst>
          </a:prstGeom>
          <a:solidFill>
            <a:srgbClr val="EF4444">
              <a:alpha val="10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4049018"/>
            <a:ext cx="7924800" cy="818852"/>
          </a:xfrm>
          <a:prstGeom prst="roundRect">
            <a:avLst>
              <a:gd name="adj" fmla="val 44667"/>
            </a:avLst>
          </a:prstGeom>
          <a:solidFill>
            <a:srgbClr val="F59E0B">
              <a:alpha val="10000"/>
            </a:srgbClr>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5194995"/>
            <a:ext cx="7781925" cy="2105025"/>
          </a:xfrm>
          <a:prstGeom prst="roundRect">
            <a:avLst>
              <a:gd name="adj" fmla="val 17376"/>
            </a:avLst>
          </a:prstGeom>
          <a:solidFill>
            <a:srgbClr val="1E293B"/>
          </a:solidFill>
          <a:ln/>
        </p:spPr>
        <p:txBody>
          <a:bodyPr wrap="none" lIns="0" tIns="0" rIns="0" bIns="0" rtlCol="0" anchor="ctr">
            <a:normAutofit/>
          </a:bodyPr>
          <a:lstStyle/>
          <a:p>
            <a:pPr marL="0" indent="0">
              <a:buNone/>
            </a:pPr>
            <a:endParaRPr lang="en-US" dirty="0"/>
          </a:p>
        </p:txBody>
      </p:sp>
      <p:sp>
        <p:nvSpPr>
          <p:cNvPr id="7" name="Text 5"/>
          <p:cNvSpPr/>
          <p:nvPr/>
        </p:nvSpPr>
        <p:spPr>
          <a:xfrm>
            <a:off x="762000" y="5610225"/>
            <a:ext cx="7477125" cy="461665"/>
          </a:xfrm>
          <a:prstGeom prst="roundRect">
            <a:avLst>
              <a:gd name="adj" fmla="val 59420"/>
            </a:avLst>
          </a:prstGeom>
          <a:solidFill>
            <a:srgbClr val="38BDF8">
              <a:alpha val="15000"/>
            </a:srgbClr>
          </a:solidFill>
          <a:ln/>
        </p:spPr>
        <p:txBody>
          <a:bodyPr wrap="none" lIns="0" tIns="0" rIns="0" bIns="0" rtlCol="0" anchor="ctr">
            <a:normAutofit/>
          </a:bodyPr>
          <a:lstStyle/>
          <a:p>
            <a:pPr marL="0" indent="0">
              <a:buNone/>
            </a:pPr>
            <a:endParaRPr lang="en-US" dirty="0"/>
          </a:p>
        </p:txBody>
      </p:sp>
      <p:sp>
        <p:nvSpPr>
          <p:cNvPr id="8" name="Text 6"/>
          <p:cNvSpPr/>
          <p:nvPr/>
        </p:nvSpPr>
        <p:spPr>
          <a:xfrm>
            <a:off x="762000" y="6148090"/>
            <a:ext cx="7477125" cy="461665"/>
          </a:xfrm>
          <a:prstGeom prst="roundRect">
            <a:avLst>
              <a:gd name="adj" fmla="val 59420"/>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9" name="Text 7"/>
          <p:cNvSpPr/>
          <p:nvPr/>
        </p:nvSpPr>
        <p:spPr>
          <a:xfrm>
            <a:off x="762000" y="6685955"/>
            <a:ext cx="7477125" cy="461665"/>
          </a:xfrm>
          <a:prstGeom prst="roundRect">
            <a:avLst>
              <a:gd name="adj" fmla="val 59420"/>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10" name="Text 8"/>
          <p:cNvSpPr/>
          <p:nvPr/>
        </p:nvSpPr>
        <p:spPr>
          <a:xfrm>
            <a:off x="609600" y="7414320"/>
            <a:ext cx="7781925" cy="1596033"/>
          </a:xfrm>
          <a:prstGeom prst="roundRect">
            <a:avLst>
              <a:gd name="adj" fmla="val 22917"/>
            </a:avLst>
          </a:prstGeom>
          <a:solidFill>
            <a:srgbClr val="1E293B"/>
          </a:solidFill>
          <a:ln/>
        </p:spPr>
        <p:txBody>
          <a:bodyPr wrap="none" lIns="0" tIns="0" rIns="0" bIns="0" rtlCol="0" anchor="ctr">
            <a:normAutofit/>
          </a:bodyPr>
          <a:lstStyle/>
          <a:p>
            <a:pPr marL="0" indent="0">
              <a:buNone/>
            </a:pPr>
            <a:endParaRPr lang="en-US" dirty="0"/>
          </a:p>
        </p:txBody>
      </p:sp>
      <p:sp>
        <p:nvSpPr>
          <p:cNvPr id="11" name="Text 9"/>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Demographic Recommendations &amp; Action Plan</a:t>
            </a:r>
            <a:endParaRPr lang="en-US" sz="2700" dirty="0"/>
          </a:p>
        </p:txBody>
      </p:sp>
      <p:sp>
        <p:nvSpPr>
          <p:cNvPr id="12" name="Text 10"/>
          <p:cNvSpPr/>
          <p:nvPr/>
        </p:nvSpPr>
        <p:spPr>
          <a:xfrm>
            <a:off x="762000" y="1363861"/>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Geriatric Medicine Program Enhancement</a:t>
            </a:r>
            <a:endParaRPr lang="en-US" sz="1050" dirty="0"/>
          </a:p>
        </p:txBody>
      </p:sp>
      <p:sp>
        <p:nvSpPr>
          <p:cNvPr id="13" name="Text 11"/>
          <p:cNvSpPr/>
          <p:nvPr/>
        </p:nvSpPr>
        <p:spPr>
          <a:xfrm>
            <a:off x="762000" y="1588591"/>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Patient population average age 40-50 years requires specialized geriatric care. Recruit 2-3 board-certified geriatric specialists. Implement fall prevention protocols, polypharmacy management programs, and age-appropriate facility designs. Develop senior-focused care pathways.</a:t>
            </a:r>
            <a:endParaRPr lang="en-US" sz="900" dirty="0"/>
          </a:p>
        </p:txBody>
      </p:sp>
      <p:sp>
        <p:nvSpPr>
          <p:cNvPr id="14" name="Text 12"/>
          <p:cNvSpPr/>
          <p:nvPr/>
        </p:nvSpPr>
        <p:spPr>
          <a:xfrm>
            <a:off x="762000" y="2297013"/>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 Equitable Care Delivery (Leverage Strength)</a:t>
            </a:r>
            <a:endParaRPr lang="en-US" sz="1050" dirty="0"/>
          </a:p>
        </p:txBody>
      </p:sp>
      <p:sp>
        <p:nvSpPr>
          <p:cNvPr id="15" name="Text 13"/>
          <p:cNvSpPr/>
          <p:nvPr/>
        </p:nvSpPr>
        <p:spPr>
          <a:xfrm>
            <a:off x="762000" y="2521744"/>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Perfect 50/50 gender balance indicates excellent demographic equity. Document and publicize equitable care practices. Ensure no gender-based disparities emerge in clinical outcomes. Monitor admission patterns across all demographics. Maintain equitable access programs.</a:t>
            </a:r>
            <a:endParaRPr lang="en-US" sz="900" dirty="0"/>
          </a:p>
        </p:txBody>
      </p:sp>
      <p:sp>
        <p:nvSpPr>
          <p:cNvPr id="16" name="Text 14"/>
          <p:cNvSpPr/>
          <p:nvPr/>
        </p:nvSpPr>
        <p:spPr>
          <a:xfrm>
            <a:off x="762000" y="3230166"/>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EF4444"/>
                </a:solidFill>
                <a:latin typeface="Arial" pitchFamily="34" charset="0"/>
                <a:ea typeface="Arial" pitchFamily="34" charset="-122"/>
                <a:cs typeface="Arial" pitchFamily="34" charset="-120"/>
              </a:rPr>
              <a:t>📊 Population-Specific Marketing</a:t>
            </a:r>
            <a:endParaRPr lang="en-US" sz="1050" dirty="0"/>
          </a:p>
        </p:txBody>
      </p:sp>
      <p:sp>
        <p:nvSpPr>
          <p:cNvPr id="17" name="Text 15"/>
          <p:cNvSpPr/>
          <p:nvPr/>
        </p:nvSpPr>
        <p:spPr>
          <a:xfrm>
            <a:off x="762000" y="3454896"/>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Target senior population (40-50 age group) with condition-specific outreach. Develop marketing campaigns for chronic disease management services. Partner with primary care practices and community organizations. Emphasize geriatric expertise and age-appropriate care.</a:t>
            </a:r>
            <a:endParaRPr lang="en-US" sz="900" dirty="0"/>
          </a:p>
        </p:txBody>
      </p:sp>
      <p:sp>
        <p:nvSpPr>
          <p:cNvPr id="18" name="Text 16"/>
          <p:cNvSpPr/>
          <p:nvPr/>
        </p:nvSpPr>
        <p:spPr>
          <a:xfrm>
            <a:off x="762000" y="4163318"/>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Blood Type &amp; Health Equity Tracking</a:t>
            </a:r>
            <a:endParaRPr lang="en-US" sz="1050" dirty="0"/>
          </a:p>
        </p:txBody>
      </p:sp>
      <p:sp>
        <p:nvSpPr>
          <p:cNvPr id="19" name="Text 17"/>
          <p:cNvSpPr/>
          <p:nvPr/>
        </p:nvSpPr>
        <p:spPr>
          <a:xfrm>
            <a:off x="762000" y="4388048"/>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Monitor blood type distribution patterns and any emerging health disparities. Maintain robust data collection for demographic subgroups. Ensure equitable resource allocation across all patient populations. Conduct annual equity audits.</a:t>
            </a:r>
            <a:endParaRPr lang="en-US" sz="900" dirty="0"/>
          </a:p>
        </p:txBody>
      </p:sp>
      <p:sp>
        <p:nvSpPr>
          <p:cNvPr id="20" name="Text 18"/>
          <p:cNvSpPr/>
          <p:nvPr/>
        </p:nvSpPr>
        <p:spPr>
          <a:xfrm>
            <a:off x="762000" y="5347395"/>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PRIORITY ACTIONS</a:t>
            </a:r>
            <a:endParaRPr lang="en-US" sz="1050" dirty="0"/>
          </a:p>
        </p:txBody>
      </p:sp>
      <p:sp>
        <p:nvSpPr>
          <p:cNvPr id="21" name="Text 19"/>
          <p:cNvSpPr/>
          <p:nvPr/>
        </p:nvSpPr>
        <p:spPr>
          <a:xfrm>
            <a:off x="838200" y="568642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38BDF8"/>
                </a:solidFill>
                <a:latin typeface="Arial" pitchFamily="34" charset="0"/>
                <a:ea typeface="Arial" pitchFamily="34" charset="-122"/>
                <a:cs typeface="Arial" pitchFamily="34" charset="-120"/>
              </a:rPr>
              <a:t>Timeline: Q1 2026</a:t>
            </a:r>
            <a:endParaRPr lang="en-US" sz="900" dirty="0"/>
          </a:p>
        </p:txBody>
      </p:sp>
      <p:sp>
        <p:nvSpPr>
          <p:cNvPr id="22" name="Text 20"/>
          <p:cNvSpPr/>
          <p:nvPr/>
        </p:nvSpPr>
        <p:spPr>
          <a:xfrm>
            <a:off x="838200" y="584641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Geriatric program planning, recruitment initiation, equity audit</a:t>
            </a:r>
            <a:endParaRPr lang="en-US" sz="840" dirty="0"/>
          </a:p>
        </p:txBody>
      </p:sp>
      <p:sp>
        <p:nvSpPr>
          <p:cNvPr id="23" name="Text 21"/>
          <p:cNvSpPr/>
          <p:nvPr/>
        </p:nvSpPr>
        <p:spPr>
          <a:xfrm>
            <a:off x="838200" y="6224290"/>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10B981"/>
                </a:solidFill>
                <a:latin typeface="Arial" pitchFamily="34" charset="0"/>
                <a:ea typeface="Arial" pitchFamily="34" charset="-122"/>
                <a:cs typeface="Arial" pitchFamily="34" charset="-120"/>
              </a:rPr>
              <a:t>Timeline: Q2-Q3 2026</a:t>
            </a:r>
            <a:endParaRPr lang="en-US" sz="900" dirty="0"/>
          </a:p>
        </p:txBody>
      </p:sp>
      <p:sp>
        <p:nvSpPr>
          <p:cNvPr id="24" name="Text 22"/>
          <p:cNvSpPr/>
          <p:nvPr/>
        </p:nvSpPr>
        <p:spPr>
          <a:xfrm>
            <a:off x="838200" y="6384280"/>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Specialist recruitment, fall prevention program launch, marketing rollout</a:t>
            </a:r>
            <a:endParaRPr lang="en-US" sz="840" dirty="0"/>
          </a:p>
        </p:txBody>
      </p:sp>
      <p:sp>
        <p:nvSpPr>
          <p:cNvPr id="25" name="Text 23"/>
          <p:cNvSpPr/>
          <p:nvPr/>
        </p:nvSpPr>
        <p:spPr>
          <a:xfrm>
            <a:off x="838200" y="676215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F59E0B"/>
                </a:solidFill>
                <a:latin typeface="Arial" pitchFamily="34" charset="0"/>
                <a:ea typeface="Arial" pitchFamily="34" charset="-122"/>
                <a:cs typeface="Arial" pitchFamily="34" charset="-120"/>
              </a:rPr>
              <a:t>Timeline: Q4 2026</a:t>
            </a:r>
            <a:endParaRPr lang="en-US" sz="900" dirty="0"/>
          </a:p>
        </p:txBody>
      </p:sp>
      <p:sp>
        <p:nvSpPr>
          <p:cNvPr id="26" name="Text 24"/>
          <p:cNvSpPr/>
          <p:nvPr/>
        </p:nvSpPr>
        <p:spPr>
          <a:xfrm>
            <a:off x="838200" y="692214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Program evaluation, outcomes tracking, policy refinement</a:t>
            </a:r>
            <a:endParaRPr lang="en-US" sz="840" dirty="0"/>
          </a:p>
        </p:txBody>
      </p:sp>
      <p:sp>
        <p:nvSpPr>
          <p:cNvPr id="27" name="Text 25"/>
          <p:cNvSpPr/>
          <p:nvPr/>
        </p:nvSpPr>
        <p:spPr>
          <a:xfrm>
            <a:off x="762000" y="7566720"/>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SUCCESS METRICS</a:t>
            </a:r>
            <a:endParaRPr lang="en-US" sz="1050" dirty="0"/>
          </a:p>
        </p:txBody>
      </p:sp>
      <p:sp>
        <p:nvSpPr>
          <p:cNvPr id="28" name="Text 26"/>
          <p:cNvSpPr/>
          <p:nvPr/>
        </p:nvSpPr>
        <p:spPr>
          <a:xfrm>
            <a:off x="914400" y="7829550"/>
            <a:ext cx="73247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Geriatric specialists hired: 2-3</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Fall reduction: -30% year-over-year</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Gender equity maintained: 49-51% ratio</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Senior patient satisfaction: 4.2+/5.0</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Demographic diversity: ≥95% equity</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a:extLst>
            <a:ext uri="{FF2B5EF4-FFF2-40B4-BE49-F238E27FC236}">
              <a16:creationId xmlns:a16="http://schemas.microsoft.com/office/drawing/2014/main" id="{9EDC2089-18AD-CCFC-7DCC-41C4CA0C719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432623-8617-65E5-6EDD-A9399F0A4801}"/>
              </a:ext>
            </a:extLst>
          </p:cNvPr>
          <p:cNvSpPr/>
          <p:nvPr/>
        </p:nvSpPr>
        <p:spPr>
          <a:xfrm>
            <a:off x="2023052" y="1512689"/>
            <a:ext cx="5097745" cy="685800"/>
          </a:xfrm>
          <a:prstGeom prst="rect">
            <a:avLst/>
          </a:prstGeom>
          <a:noFill/>
          <a:ln/>
        </p:spPr>
        <p:txBody>
          <a:bodyPr wrap="square" lIns="0" tIns="0" rIns="0" bIns="0" rtlCol="0" anchor="t"/>
          <a:lstStyle/>
          <a:p>
            <a:pPr algn="ctr">
              <a:lnSpc>
                <a:spcPts val="5400"/>
              </a:lnSpc>
            </a:pPr>
            <a:r>
              <a:rPr lang="en-US" sz="4800" b="1" dirty="0">
                <a:solidFill>
                  <a:schemeClr val="accent5"/>
                </a:solidFill>
                <a:latin typeface="Arial" pitchFamily="34" charset="0"/>
                <a:ea typeface="Arial" pitchFamily="34" charset="-122"/>
                <a:cs typeface="Arial" pitchFamily="34" charset="-120"/>
              </a:rPr>
              <a:t>Clinical</a:t>
            </a:r>
            <a:r>
              <a:rPr lang="en-US" sz="4500" b="1" dirty="0">
                <a:solidFill>
                  <a:schemeClr val="accent5"/>
                </a:solidFill>
              </a:rPr>
              <a:t>                Performance</a:t>
            </a:r>
          </a:p>
        </p:txBody>
      </p:sp>
      <p:sp>
        <p:nvSpPr>
          <p:cNvPr id="3" name="Text 1">
            <a:extLst>
              <a:ext uri="{FF2B5EF4-FFF2-40B4-BE49-F238E27FC236}">
                <a16:creationId xmlns:a16="http://schemas.microsoft.com/office/drawing/2014/main" id="{938E0B7A-A180-70D1-AC4E-D719AF8D6DA5}"/>
              </a:ext>
            </a:extLst>
          </p:cNvPr>
          <p:cNvSpPr/>
          <p:nvPr/>
        </p:nvSpPr>
        <p:spPr>
          <a:xfrm>
            <a:off x="2952092" y="2350889"/>
            <a:ext cx="3239816" cy="319980"/>
          </a:xfrm>
          <a:prstGeom prst="rect">
            <a:avLst/>
          </a:prstGeom>
          <a:noFill/>
          <a:ln/>
        </p:spPr>
        <p:txBody>
          <a:bodyPr wrap="square" lIns="0" tIns="0" rIns="0" bIns="0" rtlCol="0" anchor="t"/>
          <a:lstStyle/>
          <a:p>
            <a:pPr marL="0" indent="0" algn="ctr">
              <a:lnSpc>
                <a:spcPts val="2520"/>
              </a:lnSpc>
              <a:buNone/>
            </a:pPr>
            <a:endParaRPr lang="en-US" sz="1800" dirty="0"/>
          </a:p>
        </p:txBody>
      </p:sp>
      <p:sp>
        <p:nvSpPr>
          <p:cNvPr id="5" name="Text 3">
            <a:extLst>
              <a:ext uri="{FF2B5EF4-FFF2-40B4-BE49-F238E27FC236}">
                <a16:creationId xmlns:a16="http://schemas.microsoft.com/office/drawing/2014/main" id="{53B95AE9-DAAC-27D3-B928-91A97B69EEBC}"/>
              </a:ext>
            </a:extLst>
          </p:cNvPr>
          <p:cNvSpPr/>
          <p:nvPr/>
        </p:nvSpPr>
        <p:spPr>
          <a:xfrm>
            <a:off x="3487739" y="3132453"/>
            <a:ext cx="2168370"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December 2025 | Healthcare Performance Analysis</a:t>
            </a:r>
            <a:endParaRPr lang="en-US" sz="1050" dirty="0"/>
          </a:p>
        </p:txBody>
      </p:sp>
    </p:spTree>
    <p:extLst>
      <p:ext uri="{BB962C8B-B14F-4D97-AF65-F5344CB8AC3E}">
        <p14:creationId xmlns:p14="http://schemas.microsoft.com/office/powerpoint/2010/main" val="37189030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206092" y="2757857"/>
            <a:ext cx="4663206" cy="1017091"/>
          </a:xfrm>
          <a:prstGeom prst="roundRect">
            <a:avLst>
              <a:gd name="adj" fmla="val 35961"/>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5025710" y="1184409"/>
            <a:ext cx="3819586" cy="2999663"/>
          </a:xfrm>
          <a:prstGeom prst="roundRect">
            <a:avLst>
              <a:gd name="adj" fmla="val 2565"/>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4" name="Text 2"/>
          <p:cNvSpPr/>
          <p:nvPr/>
        </p:nvSpPr>
        <p:spPr>
          <a:xfrm>
            <a:off x="530352" y="313536"/>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Clinical Performance: Patient Care Quality</a:t>
            </a:r>
            <a:endParaRPr lang="en-US" sz="2700" dirty="0"/>
          </a:p>
        </p:txBody>
      </p:sp>
      <p:sp>
        <p:nvSpPr>
          <p:cNvPr id="5" name="Text 3"/>
          <p:cNvSpPr/>
          <p:nvPr/>
        </p:nvSpPr>
        <p:spPr>
          <a:xfrm>
            <a:off x="609600" y="1097161"/>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Avg LOS Overall</a:t>
            </a:r>
            <a:endParaRPr lang="en-US" sz="1050" dirty="0"/>
          </a:p>
        </p:txBody>
      </p:sp>
      <p:sp>
        <p:nvSpPr>
          <p:cNvPr id="6" name="Text 4"/>
          <p:cNvSpPr/>
          <p:nvPr/>
        </p:nvSpPr>
        <p:spPr>
          <a:xfrm>
            <a:off x="530352" y="1271656"/>
            <a:ext cx="8083296" cy="373261"/>
          </a:xfrm>
          <a:prstGeom prst="rect">
            <a:avLst/>
          </a:prstGeom>
          <a:noFill/>
          <a:ln/>
        </p:spPr>
        <p:txBody>
          <a:bodyPr wrap="square" lIns="0" tIns="0" rIns="0" bIns="0" rtlCol="0" anchor="t"/>
          <a:lstStyle/>
          <a:p>
            <a:pPr marL="0" indent="0">
              <a:lnSpc>
                <a:spcPts val="2940"/>
              </a:lnSpc>
              <a:buNone/>
            </a:pPr>
            <a:r>
              <a:rPr lang="en-US" sz="2100" b="1" dirty="0">
                <a:solidFill>
                  <a:srgbClr val="10B981"/>
                </a:solidFill>
                <a:latin typeface="Arial" pitchFamily="34" charset="0"/>
                <a:ea typeface="Arial" pitchFamily="34" charset="-122"/>
                <a:cs typeface="Arial" pitchFamily="34" charset="-120"/>
              </a:rPr>
              <a:t>15.50 Days</a:t>
            </a:r>
            <a:endParaRPr lang="en-US" sz="2100" dirty="0"/>
          </a:p>
        </p:txBody>
      </p:sp>
      <p:sp>
        <p:nvSpPr>
          <p:cNvPr id="7" name="Text 5"/>
          <p:cNvSpPr/>
          <p:nvPr/>
        </p:nvSpPr>
        <p:spPr>
          <a:xfrm>
            <a:off x="530352" y="1697267"/>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Standardized Protocols</a:t>
            </a:r>
            <a:endParaRPr lang="en-US" sz="1050" dirty="0"/>
          </a:p>
        </p:txBody>
      </p:sp>
      <p:sp>
        <p:nvSpPr>
          <p:cNvPr id="8" name="Text 6"/>
          <p:cNvSpPr/>
          <p:nvPr/>
        </p:nvSpPr>
        <p:spPr>
          <a:xfrm>
            <a:off x="530352" y="2859509"/>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Chronic Disease Burden</a:t>
            </a:r>
            <a:endParaRPr lang="en-US" sz="1200" dirty="0"/>
          </a:p>
        </p:txBody>
      </p:sp>
      <p:sp>
        <p:nvSpPr>
          <p:cNvPr id="9" name="Text 7"/>
          <p:cNvSpPr/>
          <p:nvPr/>
        </p:nvSpPr>
        <p:spPr>
          <a:xfrm>
            <a:off x="530352" y="3113707"/>
            <a:ext cx="4745033" cy="275184"/>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Asthma, Hypertension, Arthritis, Diabetes, Cancer, Obesity dominate admissions</a:t>
            </a:r>
            <a:endParaRPr lang="en-US" sz="1050" dirty="0"/>
          </a:p>
        </p:txBody>
      </p:sp>
      <p:sp>
        <p:nvSpPr>
          <p:cNvPr id="10" name="Text 8"/>
          <p:cNvSpPr/>
          <p:nvPr/>
        </p:nvSpPr>
        <p:spPr>
          <a:xfrm>
            <a:off x="530352" y="3504995"/>
            <a:ext cx="7772400" cy="159990"/>
          </a:xfrm>
          <a:prstGeom prst="rect">
            <a:avLst/>
          </a:prstGeom>
          <a:noFill/>
          <a:ln/>
        </p:spPr>
        <p:txBody>
          <a:bodyPr wrap="square" lIns="0" tIns="0" rIns="0" bIns="0" rtlCol="0" anchor="t"/>
          <a:lstStyle/>
          <a:p>
            <a:pPr marL="0" indent="0">
              <a:lnSpc>
                <a:spcPts val="1260"/>
              </a:lnSpc>
              <a:buNone/>
            </a:pPr>
            <a:r>
              <a:rPr lang="en-US" sz="900" dirty="0">
                <a:solidFill>
                  <a:srgbClr val="94A3B8"/>
                </a:solidFill>
                <a:latin typeface="Arial" pitchFamily="34" charset="0"/>
                <a:ea typeface="Arial" pitchFamily="34" charset="-122"/>
                <a:cs typeface="Arial" pitchFamily="34" charset="-120"/>
              </a:rPr>
              <a:t>6 chronic conditions account for 70%+ of cases</a:t>
            </a:r>
            <a:endParaRPr lang="en-US" sz="900" dirty="0"/>
          </a:p>
        </p:txBody>
      </p:sp>
      <p:sp>
        <p:nvSpPr>
          <p:cNvPr id="11" name="Text 9"/>
          <p:cNvSpPr/>
          <p:nvPr/>
        </p:nvSpPr>
        <p:spPr>
          <a:xfrm>
            <a:off x="2579077" y="1091094"/>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94A3B8"/>
                </a:solidFill>
                <a:latin typeface="Arial" pitchFamily="34" charset="0"/>
                <a:ea typeface="Arial" pitchFamily="34" charset="-122"/>
                <a:cs typeface="Arial" pitchFamily="34" charset="-120"/>
              </a:rPr>
              <a:t>Primary Conditions</a:t>
            </a:r>
            <a:endParaRPr lang="en-US" sz="1050" dirty="0"/>
          </a:p>
        </p:txBody>
      </p:sp>
      <p:sp>
        <p:nvSpPr>
          <p:cNvPr id="12" name="Text 10"/>
          <p:cNvSpPr/>
          <p:nvPr/>
        </p:nvSpPr>
        <p:spPr>
          <a:xfrm>
            <a:off x="2579077" y="1283079"/>
            <a:ext cx="8083296" cy="373261"/>
          </a:xfrm>
          <a:prstGeom prst="rect">
            <a:avLst/>
          </a:prstGeom>
          <a:noFill/>
          <a:ln/>
        </p:spPr>
        <p:txBody>
          <a:bodyPr wrap="square" lIns="0" tIns="0" rIns="0" bIns="0" rtlCol="0" anchor="t"/>
          <a:lstStyle/>
          <a:p>
            <a:pPr marL="0" indent="0">
              <a:lnSpc>
                <a:spcPts val="2940"/>
              </a:lnSpc>
              <a:buNone/>
            </a:pPr>
            <a:r>
              <a:rPr lang="en-US" sz="2100" b="1" dirty="0">
                <a:solidFill>
                  <a:srgbClr val="F59E0B"/>
                </a:solidFill>
                <a:latin typeface="Arial" pitchFamily="34" charset="0"/>
                <a:ea typeface="Arial" pitchFamily="34" charset="-122"/>
                <a:cs typeface="Arial" pitchFamily="34" charset="-120"/>
              </a:rPr>
              <a:t>6 Chronic</a:t>
            </a:r>
            <a:endParaRPr lang="en-US" sz="2100" dirty="0"/>
          </a:p>
        </p:txBody>
      </p:sp>
      <p:sp>
        <p:nvSpPr>
          <p:cNvPr id="13" name="Text 11"/>
          <p:cNvSpPr/>
          <p:nvPr/>
        </p:nvSpPr>
        <p:spPr>
          <a:xfrm>
            <a:off x="2703485" y="1722539"/>
            <a:ext cx="8083296"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Disease Focus</a:t>
            </a:r>
            <a:endParaRPr lang="en-US" sz="1050" dirty="0"/>
          </a:p>
        </p:txBody>
      </p:sp>
      <p:pic>
        <p:nvPicPr>
          <p:cNvPr id="17" name="Picture 16" descr="A graph of a number of blue bars&#10;&#10;AI-generated content may be incorrect.">
            <a:extLst>
              <a:ext uri="{FF2B5EF4-FFF2-40B4-BE49-F238E27FC236}">
                <a16:creationId xmlns:a16="http://schemas.microsoft.com/office/drawing/2014/main" id="{5C7FB0E9-0AFD-ACE0-68A8-534A5756E9D2}"/>
              </a:ext>
            </a:extLst>
          </p:cNvPr>
          <p:cNvPicPr>
            <a:picLocks noChangeAspect="1"/>
          </p:cNvPicPr>
          <p:nvPr/>
        </p:nvPicPr>
        <p:blipFill>
          <a:blip r:embed="rId3"/>
          <a:stretch>
            <a:fillRect/>
          </a:stretch>
        </p:blipFill>
        <p:spPr>
          <a:xfrm>
            <a:off x="5099804" y="1277724"/>
            <a:ext cx="3670256" cy="2768615"/>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3943643" y="1550278"/>
            <a:ext cx="4965042" cy="2748807"/>
          </a:xfrm>
          <a:prstGeom prst="roundRect">
            <a:avLst>
              <a:gd name="adj" fmla="val 6179"/>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Clinical Findings: Disease Profile &amp; Opportunity</a:t>
            </a:r>
            <a:endParaRPr lang="en-US" sz="2700" dirty="0"/>
          </a:p>
        </p:txBody>
      </p:sp>
      <p:sp>
        <p:nvSpPr>
          <p:cNvPr id="4" name="Text 2"/>
          <p:cNvSpPr/>
          <p:nvPr/>
        </p:nvSpPr>
        <p:spPr>
          <a:xfrm>
            <a:off x="539262" y="1178984"/>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Chronic Disease Prevalence</a:t>
            </a:r>
            <a:endParaRPr lang="en-US" sz="1200" dirty="0"/>
          </a:p>
        </p:txBody>
      </p:sp>
      <p:sp>
        <p:nvSpPr>
          <p:cNvPr id="5" name="Text 3"/>
          <p:cNvSpPr/>
          <p:nvPr/>
        </p:nvSpPr>
        <p:spPr>
          <a:xfrm>
            <a:off x="539262" y="1369059"/>
            <a:ext cx="2956560" cy="1035572"/>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Asthma, Hypertension, Arthritis, Diabetes, Cancer, Obesity dominate patient population. All are preventable/manageable, indicating major opportunity for primary care intervention and community health programs.</a:t>
            </a:r>
            <a:endParaRPr lang="en-US" sz="1050" dirty="0"/>
          </a:p>
        </p:txBody>
      </p:sp>
      <p:sp>
        <p:nvSpPr>
          <p:cNvPr id="6" name="Text 4"/>
          <p:cNvSpPr/>
          <p:nvPr/>
        </p:nvSpPr>
        <p:spPr>
          <a:xfrm>
            <a:off x="539262" y="2633651"/>
            <a:ext cx="3153508" cy="204043"/>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Standardized Care Protocols Effective</a:t>
            </a:r>
            <a:endParaRPr lang="en-US" sz="1200" dirty="0"/>
          </a:p>
        </p:txBody>
      </p:sp>
      <p:sp>
        <p:nvSpPr>
          <p:cNvPr id="7" name="Text 5"/>
          <p:cNvSpPr/>
          <p:nvPr/>
        </p:nvSpPr>
        <p:spPr>
          <a:xfrm>
            <a:off x="539262" y="2855137"/>
            <a:ext cx="3404381" cy="40005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Consistent 15-day LOS across conditions (variance: 2 days) indicates standardized evidence-based protocols successfully implemented. Requires verification that outliers aren't being masked by averages.</a:t>
            </a:r>
            <a:endParaRPr lang="en-US" sz="1050" dirty="0"/>
          </a:p>
        </p:txBody>
      </p:sp>
      <p:sp>
        <p:nvSpPr>
          <p:cNvPr id="8" name="Text 6"/>
          <p:cNvSpPr/>
          <p:nvPr/>
        </p:nvSpPr>
        <p:spPr>
          <a:xfrm>
            <a:off x="539262" y="3789514"/>
            <a:ext cx="2515665" cy="213271"/>
          </a:xfrm>
          <a:prstGeom prst="rect">
            <a:avLst/>
          </a:prstGeom>
          <a:noFill/>
          <a:ln/>
        </p:spPr>
        <p:txBody>
          <a:bodyPr wrap="square" lIns="0" tIns="0" rIns="0" bIns="0" rtlCol="0" anchor="t"/>
          <a:lstStyle/>
          <a:p>
            <a:pPr marL="0" indent="0">
              <a:lnSpc>
                <a:spcPts val="1680"/>
              </a:lnSpc>
              <a:buNone/>
            </a:pPr>
            <a:r>
              <a:rPr lang="en-US" sz="1200" b="1" dirty="0">
                <a:solidFill>
                  <a:srgbClr val="F59E0B"/>
                </a:solidFill>
                <a:latin typeface="Arial" pitchFamily="34" charset="0"/>
                <a:ea typeface="Arial" pitchFamily="34" charset="-122"/>
                <a:cs typeface="Arial" pitchFamily="34" charset="-120"/>
              </a:rPr>
              <a:t>👴 Aging Patient Population </a:t>
            </a:r>
            <a:endParaRPr lang="en-US" sz="1200" dirty="0"/>
          </a:p>
        </p:txBody>
      </p:sp>
      <p:sp>
        <p:nvSpPr>
          <p:cNvPr id="9" name="Text 7"/>
          <p:cNvSpPr/>
          <p:nvPr/>
        </p:nvSpPr>
        <p:spPr>
          <a:xfrm>
            <a:off x="539262" y="4020228"/>
            <a:ext cx="2956561" cy="910977"/>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Average age 40-50 indicates geriatric/senior-focused practice. Requires: geriatric specialists, fall prevention programs, polypharmacy management, age-appropriate facility design.</a:t>
            </a:r>
            <a:endParaRPr lang="en-US" sz="1050" dirty="0"/>
          </a:p>
        </p:txBody>
      </p:sp>
      <p:pic>
        <p:nvPicPr>
          <p:cNvPr id="11" name="Picture 10" descr="A graph of a number of people with age&#10;&#10;AI-generated content may be incorrect.">
            <a:extLst>
              <a:ext uri="{FF2B5EF4-FFF2-40B4-BE49-F238E27FC236}">
                <a16:creationId xmlns:a16="http://schemas.microsoft.com/office/drawing/2014/main" id="{97619F37-2F63-AEC2-84E2-49DAF4A6E7BB}"/>
              </a:ext>
            </a:extLst>
          </p:cNvPr>
          <p:cNvPicPr>
            <a:picLocks noChangeAspect="1"/>
          </p:cNvPicPr>
          <p:nvPr/>
        </p:nvPicPr>
        <p:blipFill>
          <a:blip r:embed="rId3"/>
          <a:stretch>
            <a:fillRect/>
          </a:stretch>
        </p:blipFill>
        <p:spPr>
          <a:xfrm>
            <a:off x="4046646" y="1663917"/>
            <a:ext cx="4759036" cy="2521528"/>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740343" y="1170709"/>
            <a:ext cx="3855017" cy="3009724"/>
          </a:xfrm>
          <a:prstGeom prst="roundRect">
            <a:avLst>
              <a:gd name="adj" fmla="val 7569"/>
            </a:avLst>
          </a:prstGeom>
          <a:solidFill>
            <a:srgbClr val="38BDF8">
              <a:alpha val="10000"/>
            </a:srgbClr>
          </a:solidFill>
          <a:ln w="19050">
            <a:solidFill>
              <a:srgbClr val="38BDF8"/>
            </a:solidFill>
          </a:ln>
        </p:spPr>
        <p:txBody>
          <a:bodyPr wrap="square" lIns="0" tIns="0" rIns="0" bIns="0" rtlCol="0" anchor="ctr">
            <a:normAutofit/>
          </a:bodyPr>
          <a:lstStyle/>
          <a:p>
            <a:pPr marL="0" indent="0" algn="l">
              <a:buNone/>
            </a:pPr>
            <a:endParaRPr lang="en-US" sz="1050" dirty="0"/>
          </a:p>
        </p:txBody>
      </p:sp>
      <p:sp>
        <p:nvSpPr>
          <p:cNvPr id="3" name="Text 1"/>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Clinical Findings: Admission Mix &amp; Outcomes</a:t>
            </a:r>
            <a:endParaRPr lang="en-US" sz="2700" dirty="0"/>
          </a:p>
        </p:txBody>
      </p:sp>
      <p:sp>
        <p:nvSpPr>
          <p:cNvPr id="4" name="Text 2"/>
          <p:cNvSpPr/>
          <p:nvPr/>
        </p:nvSpPr>
        <p:spPr>
          <a:xfrm>
            <a:off x="548640" y="1363861"/>
            <a:ext cx="3378591" cy="2513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Admission Type Distribution - Risk Profile</a:t>
            </a:r>
            <a:endParaRPr lang="en-US" sz="1200" dirty="0"/>
          </a:p>
        </p:txBody>
      </p:sp>
      <p:sp>
        <p:nvSpPr>
          <p:cNvPr id="5" name="Text 3"/>
          <p:cNvSpPr/>
          <p:nvPr/>
        </p:nvSpPr>
        <p:spPr>
          <a:xfrm>
            <a:off x="520505" y="1577132"/>
            <a:ext cx="3883153" cy="603024"/>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Nearly equal emergency (33.61%), elective (33.46%), urgent (32.93%) distribution suggests balanced case mix. Indicates diverse patient complexity, not just emergency-driven operations.</a:t>
            </a:r>
            <a:endParaRPr lang="en-US" sz="1050" dirty="0"/>
          </a:p>
        </p:txBody>
      </p:sp>
      <p:sp>
        <p:nvSpPr>
          <p:cNvPr id="6" name="Text 4"/>
          <p:cNvSpPr/>
          <p:nvPr/>
        </p:nvSpPr>
        <p:spPr>
          <a:xfrm>
            <a:off x="520505" y="2367707"/>
            <a:ext cx="3090203" cy="204043"/>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Gender Equity in Clinical Outcomes</a:t>
            </a:r>
            <a:endParaRPr lang="en-US" sz="1200" dirty="0"/>
          </a:p>
        </p:txBody>
      </p:sp>
      <p:sp>
        <p:nvSpPr>
          <p:cNvPr id="7" name="Text 5"/>
          <p:cNvSpPr/>
          <p:nvPr/>
        </p:nvSpPr>
        <p:spPr>
          <a:xfrm>
            <a:off x="520505" y="2621932"/>
            <a:ext cx="3406726" cy="813440"/>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Male and female patients equally distributed across all conditions. No gender-based disparities in diagnosis or treatment pathways. Supports equitable care delivery and eliminates clinical bias.</a:t>
            </a:r>
            <a:endParaRPr lang="en-US" sz="1050" dirty="0"/>
          </a:p>
        </p:txBody>
      </p:sp>
      <p:sp>
        <p:nvSpPr>
          <p:cNvPr id="8" name="Text 6"/>
          <p:cNvSpPr/>
          <p:nvPr/>
        </p:nvSpPr>
        <p:spPr>
          <a:xfrm>
            <a:off x="520505" y="3584823"/>
            <a:ext cx="7937564"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Length of Stay Variation by Condition</a:t>
            </a:r>
            <a:endParaRPr lang="en-US" sz="1200" dirty="0"/>
          </a:p>
        </p:txBody>
      </p:sp>
      <p:sp>
        <p:nvSpPr>
          <p:cNvPr id="9" name="Text 7"/>
          <p:cNvSpPr/>
          <p:nvPr/>
        </p:nvSpPr>
        <p:spPr>
          <a:xfrm>
            <a:off x="520505" y="3836193"/>
            <a:ext cx="3242604" cy="910977"/>
          </a:xfrm>
          <a:prstGeom prst="rect">
            <a:avLst/>
          </a:prstGeom>
          <a:noFill/>
          <a:ln/>
        </p:spPr>
        <p:txBody>
          <a:bodyPr wrap="square" lIns="0" tIns="0" rIns="0" bIns="0" rtlCol="0" anchor="t"/>
          <a:lstStyle/>
          <a:p>
            <a:pPr marL="0" indent="0">
              <a:lnSpc>
                <a:spcPts val="1575"/>
              </a:lnSpc>
              <a:buNone/>
            </a:pPr>
            <a:r>
              <a:rPr lang="en-US" sz="1050" dirty="0">
                <a:solidFill>
                  <a:srgbClr val="CBD5E1"/>
                </a:solidFill>
                <a:latin typeface="Arial" pitchFamily="34" charset="0"/>
                <a:ea typeface="Arial" pitchFamily="34" charset="-122"/>
                <a:cs typeface="Arial" pitchFamily="34" charset="-120"/>
              </a:rPr>
              <a:t>Highest LOS: Asthma &amp; Arthritis (~15.5 days) | Lowest: Hypertension &amp; Diabetes (~14.5 days). 1-day difference justifies condition-specific resource allocation and case management protocols.</a:t>
            </a:r>
            <a:endParaRPr lang="en-US" sz="1050" dirty="0"/>
          </a:p>
        </p:txBody>
      </p:sp>
      <p:pic>
        <p:nvPicPr>
          <p:cNvPr id="15" name="Picture 14" descr="A row of rectangular black rectangles&#10;&#10;AI-generated content may be incorrect.">
            <a:extLst>
              <a:ext uri="{FF2B5EF4-FFF2-40B4-BE49-F238E27FC236}">
                <a16:creationId xmlns:a16="http://schemas.microsoft.com/office/drawing/2014/main" id="{CDE85451-78CF-CDD4-2ED0-9E85B85438FE}"/>
              </a:ext>
            </a:extLst>
          </p:cNvPr>
          <p:cNvPicPr>
            <a:picLocks noChangeAspect="1"/>
          </p:cNvPicPr>
          <p:nvPr/>
        </p:nvPicPr>
        <p:blipFill>
          <a:blip r:embed="rId3"/>
          <a:stretch>
            <a:fillRect/>
          </a:stretch>
        </p:blipFill>
        <p:spPr>
          <a:xfrm>
            <a:off x="4861046" y="1297330"/>
            <a:ext cx="3597023" cy="275648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032692"/>
            <a:ext cx="7924800" cy="1001613"/>
          </a:xfrm>
          <a:prstGeom prst="roundRect">
            <a:avLst>
              <a:gd name="adj" fmla="val 36517"/>
            </a:avLst>
          </a:prstGeom>
          <a:solidFill>
            <a:srgbClr val="10B981">
              <a:alpha val="10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148605"/>
            <a:ext cx="7924800" cy="818852"/>
          </a:xfrm>
          <a:prstGeom prst="roundRect">
            <a:avLst>
              <a:gd name="adj" fmla="val 44667"/>
            </a:avLst>
          </a:prstGeom>
          <a:solidFill>
            <a:srgbClr val="38BDF8">
              <a:alpha val="10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081758"/>
            <a:ext cx="7924800" cy="818852"/>
          </a:xfrm>
          <a:prstGeom prst="roundRect">
            <a:avLst>
              <a:gd name="adj" fmla="val 44667"/>
            </a:avLst>
          </a:prstGeom>
          <a:solidFill>
            <a:srgbClr val="EF4444">
              <a:alpha val="10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4014910"/>
            <a:ext cx="7924800" cy="818852"/>
          </a:xfrm>
          <a:prstGeom prst="roundRect">
            <a:avLst>
              <a:gd name="adj" fmla="val 44667"/>
            </a:avLst>
          </a:prstGeom>
          <a:solidFill>
            <a:srgbClr val="F59E0B">
              <a:alpha val="10000"/>
            </a:srgbClr>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5286375"/>
            <a:ext cx="7781925" cy="2105025"/>
          </a:xfrm>
          <a:prstGeom prst="roundRect">
            <a:avLst>
              <a:gd name="adj" fmla="val 17376"/>
            </a:avLst>
          </a:prstGeom>
          <a:solidFill>
            <a:srgbClr val="1E293B"/>
          </a:solidFill>
          <a:ln/>
        </p:spPr>
        <p:txBody>
          <a:bodyPr wrap="none" lIns="0" tIns="0" rIns="0" bIns="0" rtlCol="0" anchor="ctr">
            <a:normAutofit/>
          </a:bodyPr>
          <a:lstStyle/>
          <a:p>
            <a:pPr marL="0" indent="0">
              <a:buNone/>
            </a:pPr>
            <a:endParaRPr lang="en-US" dirty="0"/>
          </a:p>
        </p:txBody>
      </p:sp>
      <p:sp>
        <p:nvSpPr>
          <p:cNvPr id="7" name="Text 5"/>
          <p:cNvSpPr/>
          <p:nvPr/>
        </p:nvSpPr>
        <p:spPr>
          <a:xfrm>
            <a:off x="762000" y="5701605"/>
            <a:ext cx="7477125" cy="461665"/>
          </a:xfrm>
          <a:prstGeom prst="roundRect">
            <a:avLst>
              <a:gd name="adj" fmla="val 59420"/>
            </a:avLst>
          </a:prstGeom>
          <a:solidFill>
            <a:srgbClr val="38BDF8">
              <a:alpha val="15000"/>
            </a:srgbClr>
          </a:solidFill>
          <a:ln/>
        </p:spPr>
        <p:txBody>
          <a:bodyPr wrap="none" lIns="0" tIns="0" rIns="0" bIns="0" rtlCol="0" anchor="ctr">
            <a:normAutofit/>
          </a:bodyPr>
          <a:lstStyle/>
          <a:p>
            <a:pPr marL="0" indent="0">
              <a:buNone/>
            </a:pPr>
            <a:endParaRPr lang="en-US" dirty="0"/>
          </a:p>
        </p:txBody>
      </p:sp>
      <p:sp>
        <p:nvSpPr>
          <p:cNvPr id="8" name="Text 6"/>
          <p:cNvSpPr/>
          <p:nvPr/>
        </p:nvSpPr>
        <p:spPr>
          <a:xfrm>
            <a:off x="762000" y="6239470"/>
            <a:ext cx="7477125" cy="461665"/>
          </a:xfrm>
          <a:prstGeom prst="roundRect">
            <a:avLst>
              <a:gd name="adj" fmla="val 59420"/>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9" name="Text 7"/>
          <p:cNvSpPr/>
          <p:nvPr/>
        </p:nvSpPr>
        <p:spPr>
          <a:xfrm>
            <a:off x="762000" y="6777335"/>
            <a:ext cx="7477125" cy="461665"/>
          </a:xfrm>
          <a:prstGeom prst="roundRect">
            <a:avLst>
              <a:gd name="adj" fmla="val 59420"/>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10" name="Text 8"/>
          <p:cNvSpPr/>
          <p:nvPr/>
        </p:nvSpPr>
        <p:spPr>
          <a:xfrm>
            <a:off x="609600" y="7505700"/>
            <a:ext cx="7781925" cy="1596033"/>
          </a:xfrm>
          <a:prstGeom prst="roundRect">
            <a:avLst>
              <a:gd name="adj" fmla="val 22917"/>
            </a:avLst>
          </a:prstGeom>
          <a:solidFill>
            <a:srgbClr val="1E293B"/>
          </a:solidFill>
          <a:ln/>
        </p:spPr>
        <p:txBody>
          <a:bodyPr wrap="none" lIns="0" tIns="0" rIns="0" bIns="0" rtlCol="0" anchor="ctr">
            <a:normAutofit/>
          </a:bodyPr>
          <a:lstStyle/>
          <a:p>
            <a:pPr marL="0" indent="0">
              <a:buNone/>
            </a:pPr>
            <a:endParaRPr lang="en-US" dirty="0"/>
          </a:p>
        </p:txBody>
      </p:sp>
      <p:sp>
        <p:nvSpPr>
          <p:cNvPr id="11" name="Text 9"/>
          <p:cNvSpPr/>
          <p:nvPr/>
        </p:nvSpPr>
        <p:spPr>
          <a:xfrm>
            <a:off x="609600" y="392731"/>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Clinical Recommendations &amp; Action Plan</a:t>
            </a:r>
            <a:endParaRPr lang="en-US" sz="2700" dirty="0"/>
          </a:p>
        </p:txBody>
      </p:sp>
      <p:sp>
        <p:nvSpPr>
          <p:cNvPr id="12" name="Text 10"/>
          <p:cNvSpPr/>
          <p:nvPr/>
        </p:nvSpPr>
        <p:spPr>
          <a:xfrm>
            <a:off x="762000" y="1146992"/>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 Chronic Disease Prevention Program</a:t>
            </a:r>
            <a:endParaRPr lang="en-US" sz="1050" dirty="0"/>
          </a:p>
        </p:txBody>
      </p:sp>
      <p:sp>
        <p:nvSpPr>
          <p:cNvPr id="13" name="Text 11"/>
          <p:cNvSpPr/>
          <p:nvPr/>
        </p:nvSpPr>
        <p:spPr>
          <a:xfrm>
            <a:off x="762000" y="1371722"/>
            <a:ext cx="7658100" cy="548283"/>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Six chronic diseases (Diabetes, Obesity, Arthritis, Hypertension, Asthma, Cancer) drive 70%+ of admissions. Launch comprehensive community health programs targeting prevention. Partner with primary care to reduce preventable hospitalizations. Target: 10-15% reduction in chronic disease admissions within 18 months.</a:t>
            </a:r>
            <a:endParaRPr lang="en-US" sz="900" dirty="0"/>
          </a:p>
        </p:txBody>
      </p:sp>
      <p:sp>
        <p:nvSpPr>
          <p:cNvPr id="14" name="Text 12"/>
          <p:cNvSpPr/>
          <p:nvPr/>
        </p:nvSpPr>
        <p:spPr>
          <a:xfrm>
            <a:off x="762000" y="2262905"/>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 Care Protocol Standardization (Validate &amp; Maintain)</a:t>
            </a:r>
            <a:endParaRPr lang="en-US" sz="1050" dirty="0"/>
          </a:p>
        </p:txBody>
      </p:sp>
      <p:sp>
        <p:nvSpPr>
          <p:cNvPr id="15" name="Text 13"/>
          <p:cNvSpPr/>
          <p:nvPr/>
        </p:nvSpPr>
        <p:spPr>
          <a:xfrm>
            <a:off x="762000" y="2487636"/>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Current 15-day average LOS across all conditions indicates effective standardized protocols. Conduct protocol effectiveness review. Verify outliers aren't masked by averages. Document best practices. Implement quarterly protocol updates based on clinical evidence and outcomes data.</a:t>
            </a:r>
            <a:endParaRPr lang="en-US" sz="900" dirty="0"/>
          </a:p>
        </p:txBody>
      </p:sp>
      <p:sp>
        <p:nvSpPr>
          <p:cNvPr id="16" name="Text 14"/>
          <p:cNvSpPr/>
          <p:nvPr/>
        </p:nvSpPr>
        <p:spPr>
          <a:xfrm>
            <a:off x="762000" y="3196058"/>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EF4444"/>
                </a:solidFill>
                <a:latin typeface="Arial" pitchFamily="34" charset="0"/>
                <a:ea typeface="Arial" pitchFamily="34" charset="-122"/>
                <a:cs typeface="Arial" pitchFamily="34" charset="-120"/>
              </a:rPr>
              <a:t>📊 Condition-Specific Resource Allocation</a:t>
            </a:r>
            <a:endParaRPr lang="en-US" sz="1050" dirty="0"/>
          </a:p>
        </p:txBody>
      </p:sp>
      <p:sp>
        <p:nvSpPr>
          <p:cNvPr id="17" name="Text 15"/>
          <p:cNvSpPr/>
          <p:nvPr/>
        </p:nvSpPr>
        <p:spPr>
          <a:xfrm>
            <a:off x="762000" y="3420788"/>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LOS variance by condition (Asthma/Arthritis: 15.5 days vs Hypertension/Diabetes: 14.5 days) justifies resource optimization. Develop condition-specific case management protocols. Allocate resources based on complexity and LOS requirements. Target: improved outcomes without LOS increase.</a:t>
            </a:r>
            <a:endParaRPr lang="en-US" sz="900" dirty="0"/>
          </a:p>
        </p:txBody>
      </p:sp>
      <p:sp>
        <p:nvSpPr>
          <p:cNvPr id="18" name="Text 16"/>
          <p:cNvSpPr/>
          <p:nvPr/>
        </p:nvSpPr>
        <p:spPr>
          <a:xfrm>
            <a:off x="762000" y="4129210"/>
            <a:ext cx="7811262" cy="186630"/>
          </a:xfrm>
          <a:prstGeom prst="rect">
            <a:avLst/>
          </a:prstGeom>
          <a:noFill/>
          <a:ln/>
        </p:spPr>
        <p:txBody>
          <a:bodyPr wrap="square" lIns="0" tIns="0" rIns="0" bIns="0" rtlCol="0" anchor="t"/>
          <a:lstStyle/>
          <a:p>
            <a:pPr marL="0" indent="0">
              <a:lnSpc>
                <a:spcPts val="1470"/>
              </a:lnSpc>
              <a:buNone/>
            </a:pPr>
            <a:r>
              <a:rPr lang="en-US" sz="1050" b="1" dirty="0">
                <a:solidFill>
                  <a:srgbClr val="F59E0B"/>
                </a:solidFill>
                <a:latin typeface="Arial" pitchFamily="34" charset="0"/>
                <a:ea typeface="Arial" pitchFamily="34" charset="-122"/>
                <a:cs typeface="Arial" pitchFamily="34" charset="-120"/>
              </a:rPr>
              <a:t>🚨 Quality &amp; Safety Excellence</a:t>
            </a:r>
            <a:endParaRPr lang="en-US" sz="1050" dirty="0"/>
          </a:p>
        </p:txBody>
      </p:sp>
      <p:sp>
        <p:nvSpPr>
          <p:cNvPr id="19" name="Text 17"/>
          <p:cNvSpPr/>
          <p:nvPr/>
        </p:nvSpPr>
        <p:spPr>
          <a:xfrm>
            <a:off x="762000" y="4353940"/>
            <a:ext cx="7658100" cy="365522"/>
          </a:xfrm>
          <a:prstGeom prst="rect">
            <a:avLst/>
          </a:prstGeom>
          <a:noFill/>
          <a:ln/>
        </p:spPr>
        <p:txBody>
          <a:bodyPr wrap="square" lIns="0" tIns="0" rIns="0" bIns="0" rtlCol="0" anchor="t"/>
          <a:lstStyle/>
          <a:p>
            <a:pPr marL="0" indent="0">
              <a:lnSpc>
                <a:spcPts val="1440"/>
              </a:lnSpc>
              <a:buNone/>
            </a:pPr>
            <a:r>
              <a:rPr lang="en-US" sz="900" dirty="0">
                <a:solidFill>
                  <a:srgbClr val="CBD5E1"/>
                </a:solidFill>
                <a:latin typeface="Arial" pitchFamily="34" charset="0"/>
                <a:ea typeface="Arial" pitchFamily="34" charset="-122"/>
                <a:cs typeface="Arial" pitchFamily="34" charset="-120"/>
              </a:rPr>
              <a:t>Maintain gender equity in clinical outcomes. Monitor for emerging disparities in care quality. Implement robust clinical governance. Establish outcomes tracking for all 6 chronic diseases. Target: zero preventable adverse events, 95%+ satisfaction rates.</a:t>
            </a:r>
            <a:endParaRPr lang="en-US" sz="900" dirty="0"/>
          </a:p>
        </p:txBody>
      </p:sp>
      <p:sp>
        <p:nvSpPr>
          <p:cNvPr id="20" name="Text 18"/>
          <p:cNvSpPr/>
          <p:nvPr/>
        </p:nvSpPr>
        <p:spPr>
          <a:xfrm>
            <a:off x="762000" y="5438775"/>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38BDF8"/>
                </a:solidFill>
                <a:latin typeface="Arial" pitchFamily="34" charset="0"/>
                <a:ea typeface="Arial" pitchFamily="34" charset="-122"/>
                <a:cs typeface="Arial" pitchFamily="34" charset="-120"/>
              </a:rPr>
              <a:t>PRIORITY ACTIONS</a:t>
            </a:r>
            <a:endParaRPr lang="en-US" sz="1050" dirty="0"/>
          </a:p>
        </p:txBody>
      </p:sp>
      <p:sp>
        <p:nvSpPr>
          <p:cNvPr id="21" name="Text 19"/>
          <p:cNvSpPr/>
          <p:nvPr/>
        </p:nvSpPr>
        <p:spPr>
          <a:xfrm>
            <a:off x="838200" y="577780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38BDF8"/>
                </a:solidFill>
                <a:latin typeface="Arial" pitchFamily="34" charset="0"/>
                <a:ea typeface="Arial" pitchFamily="34" charset="-122"/>
                <a:cs typeface="Arial" pitchFamily="34" charset="-120"/>
              </a:rPr>
              <a:t>Timeline: Q1 2026</a:t>
            </a:r>
            <a:endParaRPr lang="en-US" sz="900" dirty="0"/>
          </a:p>
        </p:txBody>
      </p:sp>
      <p:sp>
        <p:nvSpPr>
          <p:cNvPr id="22" name="Text 20"/>
          <p:cNvSpPr/>
          <p:nvPr/>
        </p:nvSpPr>
        <p:spPr>
          <a:xfrm>
            <a:off x="838200" y="5937796"/>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Protocol review, community health planning, outcomes audit</a:t>
            </a:r>
            <a:endParaRPr lang="en-US" sz="840" dirty="0"/>
          </a:p>
        </p:txBody>
      </p:sp>
      <p:sp>
        <p:nvSpPr>
          <p:cNvPr id="23" name="Text 21"/>
          <p:cNvSpPr/>
          <p:nvPr/>
        </p:nvSpPr>
        <p:spPr>
          <a:xfrm>
            <a:off x="838200" y="6315670"/>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10B981"/>
                </a:solidFill>
                <a:latin typeface="Arial" pitchFamily="34" charset="0"/>
                <a:ea typeface="Arial" pitchFamily="34" charset="-122"/>
                <a:cs typeface="Arial" pitchFamily="34" charset="-120"/>
              </a:rPr>
              <a:t>Timeline: Q2-Q3 2026</a:t>
            </a:r>
            <a:endParaRPr lang="en-US" sz="900" dirty="0"/>
          </a:p>
        </p:txBody>
      </p:sp>
      <p:sp>
        <p:nvSpPr>
          <p:cNvPr id="24" name="Text 22"/>
          <p:cNvSpPr/>
          <p:nvPr/>
        </p:nvSpPr>
        <p:spPr>
          <a:xfrm>
            <a:off x="838200" y="6475661"/>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Prevention program launch, resource reallocation, care model refinement</a:t>
            </a:r>
            <a:endParaRPr lang="en-US" sz="840" dirty="0"/>
          </a:p>
        </p:txBody>
      </p:sp>
      <p:sp>
        <p:nvSpPr>
          <p:cNvPr id="25" name="Text 23"/>
          <p:cNvSpPr/>
          <p:nvPr/>
        </p:nvSpPr>
        <p:spPr>
          <a:xfrm>
            <a:off x="838200" y="6853535"/>
            <a:ext cx="7471219" cy="159990"/>
          </a:xfrm>
          <a:prstGeom prst="rect">
            <a:avLst/>
          </a:prstGeom>
          <a:noFill/>
          <a:ln/>
        </p:spPr>
        <p:txBody>
          <a:bodyPr wrap="square" lIns="0" tIns="0" rIns="0" bIns="0" rtlCol="0" anchor="t"/>
          <a:lstStyle/>
          <a:p>
            <a:pPr marL="0" indent="0">
              <a:lnSpc>
                <a:spcPts val="1260"/>
              </a:lnSpc>
              <a:buNone/>
            </a:pPr>
            <a:r>
              <a:rPr lang="en-US" sz="900" b="1" dirty="0">
                <a:solidFill>
                  <a:srgbClr val="F59E0B"/>
                </a:solidFill>
                <a:latin typeface="Arial" pitchFamily="34" charset="0"/>
                <a:ea typeface="Arial" pitchFamily="34" charset="-122"/>
                <a:cs typeface="Arial" pitchFamily="34" charset="-120"/>
              </a:rPr>
              <a:t>Timeline: Q4 2026</a:t>
            </a:r>
            <a:endParaRPr lang="en-US" sz="900" dirty="0"/>
          </a:p>
        </p:txBody>
      </p:sp>
      <p:sp>
        <p:nvSpPr>
          <p:cNvPr id="26" name="Text 24"/>
          <p:cNvSpPr/>
          <p:nvPr/>
        </p:nvSpPr>
        <p:spPr>
          <a:xfrm>
            <a:off x="838200" y="7013525"/>
            <a:ext cx="7471219" cy="149275"/>
          </a:xfrm>
          <a:prstGeom prst="rect">
            <a:avLst/>
          </a:prstGeom>
          <a:noFill/>
          <a:ln/>
        </p:spPr>
        <p:txBody>
          <a:bodyPr wrap="square" lIns="0" tIns="0" rIns="0" bIns="0" rtlCol="0" anchor="t"/>
          <a:lstStyle/>
          <a:p>
            <a:pPr marL="0" indent="0">
              <a:lnSpc>
                <a:spcPts val="1176"/>
              </a:lnSpc>
              <a:buNone/>
            </a:pPr>
            <a:r>
              <a:rPr lang="en-US" sz="840" dirty="0">
                <a:solidFill>
                  <a:srgbClr val="CBD5E1"/>
                </a:solidFill>
                <a:latin typeface="Arial" pitchFamily="34" charset="0"/>
                <a:ea typeface="Arial" pitchFamily="34" charset="-122"/>
                <a:cs typeface="Arial" pitchFamily="34" charset="-120"/>
              </a:rPr>
              <a:t>Outcomes analysis, protocol updates, quality reporting</a:t>
            </a:r>
            <a:endParaRPr lang="en-US" sz="840" dirty="0"/>
          </a:p>
        </p:txBody>
      </p:sp>
      <p:sp>
        <p:nvSpPr>
          <p:cNvPr id="27" name="Text 25"/>
          <p:cNvSpPr/>
          <p:nvPr/>
        </p:nvSpPr>
        <p:spPr>
          <a:xfrm>
            <a:off x="762000" y="7658100"/>
            <a:ext cx="7626668" cy="186630"/>
          </a:xfrm>
          <a:prstGeom prst="rect">
            <a:avLst/>
          </a:prstGeom>
          <a:noFill/>
          <a:ln/>
        </p:spPr>
        <p:txBody>
          <a:bodyPr wrap="square" lIns="0" tIns="0" rIns="0" bIns="0" rtlCol="0" anchor="t"/>
          <a:lstStyle/>
          <a:p>
            <a:pPr marL="0" indent="0">
              <a:lnSpc>
                <a:spcPts val="1470"/>
              </a:lnSpc>
              <a:buNone/>
            </a:pPr>
            <a:r>
              <a:rPr lang="en-US" sz="1050" b="1" dirty="0">
                <a:solidFill>
                  <a:srgbClr val="10B981"/>
                </a:solidFill>
                <a:latin typeface="Arial" pitchFamily="34" charset="0"/>
                <a:ea typeface="Arial" pitchFamily="34" charset="-122"/>
                <a:cs typeface="Arial" pitchFamily="34" charset="-120"/>
              </a:rPr>
              <a:t>SUCCESS METRICS</a:t>
            </a:r>
            <a:endParaRPr lang="en-US" sz="1050" dirty="0"/>
          </a:p>
        </p:txBody>
      </p:sp>
      <p:sp>
        <p:nvSpPr>
          <p:cNvPr id="28" name="Text 26"/>
          <p:cNvSpPr/>
          <p:nvPr/>
        </p:nvSpPr>
        <p:spPr>
          <a:xfrm>
            <a:off x="914400" y="7920930"/>
            <a:ext cx="7324725" cy="1028402"/>
          </a:xfrm>
          <a:prstGeom prst="rect">
            <a:avLst/>
          </a:prstGeom>
          <a:noFill/>
          <a:ln/>
        </p:spPr>
        <p:txBody>
          <a:bodyPr wrap="square" lIns="0" tIns="0" rIns="0" bIns="0" rtlCol="0" anchor="t"/>
          <a:lstStyle/>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Chronic disease admissions: -10-15%</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LOS variance: &lt;1 day maintained</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Patient safety: Zero preventable events</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Satisfaction rate: 95%+</a:t>
            </a:r>
            <a:endParaRPr lang="en-US" sz="900" dirty="0"/>
          </a:p>
          <a:p>
            <a:pPr marL="342900" indent="-342900">
              <a:lnSpc>
                <a:spcPts val="1620"/>
              </a:lnSpc>
              <a:buSzPct val="100000"/>
              <a:buChar char="•"/>
            </a:pPr>
            <a:r>
              <a:rPr lang="en-US" sz="900" dirty="0">
                <a:solidFill>
                  <a:srgbClr val="CBD5E1"/>
                </a:solidFill>
                <a:latin typeface="Arial" pitchFamily="34" charset="0"/>
                <a:ea typeface="Arial" pitchFamily="34" charset="-122"/>
                <a:cs typeface="Arial" pitchFamily="34" charset="-120"/>
              </a:rPr>
              <a:t>Outcomes: Condition-specific targets met</a:t>
            </a:r>
            <a:endParaRPr lang="en-US" sz="9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609600" y="1249561"/>
            <a:ext cx="7924800" cy="929432"/>
          </a:xfrm>
          <a:prstGeom prst="rect">
            <a:avLst/>
          </a:prstGeom>
          <a:solidFill>
            <a:srgbClr val="EF4444">
              <a:alpha val="15000"/>
            </a:srgbClr>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2293293"/>
            <a:ext cx="7924800" cy="929432"/>
          </a:xfrm>
          <a:prstGeom prst="rect">
            <a:avLst/>
          </a:prstGeom>
          <a:solidFill>
            <a:srgbClr val="F59E0B">
              <a:alpha val="15000"/>
            </a:srgbClr>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3337024"/>
            <a:ext cx="7924800" cy="929432"/>
          </a:xfrm>
          <a:prstGeom prst="rect">
            <a:avLst/>
          </a:prstGeom>
          <a:solidFill>
            <a:srgbClr val="10B981">
              <a:alpha val="15000"/>
            </a:srgbClr>
          </a:solidFill>
          <a:ln/>
        </p:spPr>
        <p:txBody>
          <a:bodyPr wrap="none" lIns="0" tIns="0" rIns="0" bIns="0" rtlCol="0" anchor="ctr">
            <a:normAutofit/>
          </a:bodyPr>
          <a:lstStyle/>
          <a:p>
            <a:pPr marL="0" indent="0">
              <a:buNone/>
            </a:pPr>
            <a:endParaRPr lang="en-US" dirty="0"/>
          </a:p>
        </p:txBody>
      </p:sp>
      <p:sp>
        <p:nvSpPr>
          <p:cNvPr id="5" name="Text 3"/>
          <p:cNvSpPr/>
          <p:nvPr/>
        </p:nvSpPr>
        <p:spPr>
          <a:xfrm>
            <a:off x="609600" y="609600"/>
            <a:ext cx="8083296" cy="411361"/>
          </a:xfrm>
          <a:prstGeom prst="rect">
            <a:avLst/>
          </a:prstGeom>
          <a:noFill/>
          <a:ln/>
        </p:spPr>
        <p:txBody>
          <a:bodyPr wrap="square" lIns="0" tIns="0" rIns="0" bIns="0" rtlCol="0" anchor="t"/>
          <a:lstStyle/>
          <a:p>
            <a:pPr marL="0" indent="0">
              <a:lnSpc>
                <a:spcPts val="3240"/>
              </a:lnSpc>
              <a:buNone/>
            </a:pPr>
            <a:r>
              <a:rPr lang="en-US" sz="2700" b="1" dirty="0">
                <a:solidFill>
                  <a:srgbClr val="38BDF8"/>
                </a:solidFill>
                <a:latin typeface="Arial" pitchFamily="34" charset="0"/>
                <a:ea typeface="Arial" pitchFamily="34" charset="-122"/>
                <a:cs typeface="Arial" pitchFamily="34" charset="-120"/>
              </a:rPr>
              <a:t>General Recommendations: Priority Actions</a:t>
            </a:r>
            <a:endParaRPr lang="en-US" sz="2700" dirty="0"/>
          </a:p>
        </p:txBody>
      </p:sp>
      <p:sp>
        <p:nvSpPr>
          <p:cNvPr id="6" name="Text 4"/>
          <p:cNvSpPr/>
          <p:nvPr/>
        </p:nvSpPr>
        <p:spPr>
          <a:xfrm>
            <a:off x="800100" y="1401961"/>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EF4444"/>
                </a:solidFill>
                <a:latin typeface="Arial" pitchFamily="34" charset="0"/>
                <a:ea typeface="Arial" pitchFamily="34" charset="-122"/>
                <a:cs typeface="Arial" pitchFamily="34" charset="-120"/>
              </a:rPr>
              <a:t>🔴 URGENT: Investigate Admission Volume Decline</a:t>
            </a:r>
            <a:endParaRPr lang="en-US" sz="1200" dirty="0"/>
          </a:p>
        </p:txBody>
      </p:sp>
      <p:sp>
        <p:nvSpPr>
          <p:cNvPr id="7" name="Text 5"/>
          <p:cNvSpPr/>
          <p:nvPr/>
        </p:nvSpPr>
        <p:spPr>
          <a:xfrm>
            <a:off x="800100" y="1653332"/>
            <a:ext cx="75819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66% drop in admissions (2020-2024). Conduct immediate analysis: market share loss, referral patterns, competitor assessment, data verification, and clinical pathway review.</a:t>
            </a:r>
            <a:endParaRPr lang="en-US" sz="1050" dirty="0"/>
          </a:p>
        </p:txBody>
      </p:sp>
      <p:sp>
        <p:nvSpPr>
          <p:cNvPr id="8" name="Text 6"/>
          <p:cNvSpPr/>
          <p:nvPr/>
        </p:nvSpPr>
        <p:spPr>
          <a:xfrm>
            <a:off x="800100" y="2445693"/>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F59E0B"/>
                </a:solidFill>
                <a:latin typeface="Arial" pitchFamily="34" charset="0"/>
                <a:ea typeface="Arial" pitchFamily="34" charset="-122"/>
                <a:cs typeface="Arial" pitchFamily="34" charset="-120"/>
              </a:rPr>
              <a:t>🟠 CRITICAL: Capacity Planning for High Occupancy</a:t>
            </a:r>
            <a:endParaRPr lang="en-US" sz="1200" dirty="0"/>
          </a:p>
        </p:txBody>
      </p:sp>
      <p:sp>
        <p:nvSpPr>
          <p:cNvPr id="9" name="Text 7"/>
          <p:cNvSpPr/>
          <p:nvPr/>
        </p:nvSpPr>
        <p:spPr>
          <a:xfrm>
            <a:off x="800100" y="2697063"/>
            <a:ext cx="75819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15-day LOS with 90%+ occupancy limits surge capacity. Develop: emergency surge protocols, bed expansion plans, temporary capacity solutions.</a:t>
            </a:r>
            <a:endParaRPr lang="en-US" sz="1050" dirty="0"/>
          </a:p>
        </p:txBody>
      </p:sp>
      <p:sp>
        <p:nvSpPr>
          <p:cNvPr id="10" name="Text 8"/>
          <p:cNvSpPr/>
          <p:nvPr/>
        </p:nvSpPr>
        <p:spPr>
          <a:xfrm>
            <a:off x="800100" y="3489424"/>
            <a:ext cx="7733538"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OPPORTUNITY: Preventive Care &amp; Community Health</a:t>
            </a:r>
            <a:endParaRPr lang="en-US" sz="1200" dirty="0"/>
          </a:p>
        </p:txBody>
      </p:sp>
      <p:sp>
        <p:nvSpPr>
          <p:cNvPr id="11" name="Text 9"/>
          <p:cNvSpPr/>
          <p:nvPr/>
        </p:nvSpPr>
        <p:spPr>
          <a:xfrm>
            <a:off x="800100" y="3740795"/>
            <a:ext cx="7581900" cy="373261"/>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6 chronic diseases drive 70%+ of admissions. Launch: community health programs, preventive care initiatives, chronic disease management programs.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15">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609600" y="812479"/>
            <a:ext cx="7924800" cy="704701"/>
          </a:xfrm>
          <a:prstGeom prst="roundRect">
            <a:avLst>
              <a:gd name="adj" fmla="val 51903"/>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29412" y="1651312"/>
            <a:ext cx="7924800" cy="704701"/>
          </a:xfrm>
          <a:prstGeom prst="roundRect">
            <a:avLst>
              <a:gd name="adj" fmla="val 51903"/>
            </a:avLst>
          </a:prstGeom>
          <a:solidFill>
            <a:srgbClr val="1E293B"/>
          </a:solidFill>
          <a:ln/>
        </p:spPr>
        <p:txBody>
          <a:bodyPr wrap="none" lIns="0" tIns="0" rIns="0" bIns="0" rtlCol="0" anchor="ctr">
            <a:normAutofit/>
          </a:bodyPr>
          <a:lstStyle/>
          <a:p>
            <a:pPr marL="0" indent="0">
              <a:buNone/>
            </a:pPr>
            <a:endParaRPr lang="en-US" dirty="0"/>
          </a:p>
        </p:txBody>
      </p:sp>
      <p:sp>
        <p:nvSpPr>
          <p:cNvPr id="4" name="Text 2"/>
          <p:cNvSpPr/>
          <p:nvPr/>
        </p:nvSpPr>
        <p:spPr>
          <a:xfrm>
            <a:off x="609600" y="2581121"/>
            <a:ext cx="7924800" cy="704701"/>
          </a:xfrm>
          <a:prstGeom prst="roundRect">
            <a:avLst>
              <a:gd name="adj" fmla="val 51903"/>
            </a:avLst>
          </a:prstGeom>
          <a:solidFill>
            <a:srgbClr val="1E293B"/>
          </a:solidFill>
          <a:ln/>
        </p:spPr>
        <p:txBody>
          <a:bodyPr wrap="none" lIns="0" tIns="0" rIns="0" bIns="0" rtlCol="0" anchor="ctr">
            <a:normAutofit/>
          </a:bodyPr>
          <a:lstStyle/>
          <a:p>
            <a:pPr marL="0" indent="0">
              <a:buNone/>
            </a:pPr>
            <a:endParaRPr lang="en-US" dirty="0"/>
          </a:p>
        </p:txBody>
      </p:sp>
      <p:sp>
        <p:nvSpPr>
          <p:cNvPr id="5" name="Text 3"/>
          <p:cNvSpPr/>
          <p:nvPr/>
        </p:nvSpPr>
        <p:spPr>
          <a:xfrm>
            <a:off x="649224" y="3476034"/>
            <a:ext cx="7924800" cy="704701"/>
          </a:xfrm>
          <a:prstGeom prst="roundRect">
            <a:avLst>
              <a:gd name="adj" fmla="val 51903"/>
            </a:avLst>
          </a:prstGeom>
          <a:solidFill>
            <a:srgbClr val="1E293B"/>
          </a:solidFill>
          <a:ln/>
        </p:spPr>
        <p:txBody>
          <a:bodyPr wrap="none" lIns="0" tIns="0" rIns="0" bIns="0" rtlCol="0" anchor="ctr">
            <a:normAutofit/>
          </a:bodyPr>
          <a:lstStyle/>
          <a:p>
            <a:pPr marL="0" indent="0">
              <a:buNone/>
            </a:pPr>
            <a:endParaRPr lang="en-US" dirty="0"/>
          </a:p>
        </p:txBody>
      </p:sp>
      <p:sp>
        <p:nvSpPr>
          <p:cNvPr id="6" name="Text 4"/>
          <p:cNvSpPr/>
          <p:nvPr/>
        </p:nvSpPr>
        <p:spPr>
          <a:xfrm>
            <a:off x="609600" y="4295856"/>
            <a:ext cx="7924800" cy="704701"/>
          </a:xfrm>
          <a:prstGeom prst="roundRect">
            <a:avLst>
              <a:gd name="adj" fmla="val 51903"/>
            </a:avLst>
          </a:prstGeom>
          <a:solidFill>
            <a:srgbClr val="1E293B"/>
          </a:solidFill>
          <a:ln/>
        </p:spPr>
        <p:txBody>
          <a:bodyPr wrap="none" lIns="0" tIns="0" rIns="0" bIns="0" rtlCol="0" anchor="ctr">
            <a:normAutofit/>
          </a:bodyPr>
          <a:lstStyle/>
          <a:p>
            <a:pPr marL="0" indent="0">
              <a:buNone/>
            </a:pPr>
            <a:endParaRPr lang="en-US" dirty="0"/>
          </a:p>
        </p:txBody>
      </p:sp>
      <p:sp>
        <p:nvSpPr>
          <p:cNvPr id="8" name="Text 6"/>
          <p:cNvSpPr/>
          <p:nvPr/>
        </p:nvSpPr>
        <p:spPr>
          <a:xfrm>
            <a:off x="530352" y="286977"/>
            <a:ext cx="8083296" cy="411361"/>
          </a:xfrm>
          <a:prstGeom prst="rect">
            <a:avLst/>
          </a:prstGeom>
          <a:noFill/>
          <a:ln/>
        </p:spPr>
        <p:txBody>
          <a:bodyPr wrap="square" lIns="0" tIns="0" rIns="0" bIns="0" rtlCol="0" anchor="t"/>
          <a:lstStyle/>
          <a:p>
            <a:pPr marL="0" indent="0" algn="ctr">
              <a:lnSpc>
                <a:spcPts val="3240"/>
              </a:lnSpc>
              <a:buNone/>
            </a:pPr>
            <a:r>
              <a:rPr lang="en-US" sz="2700" b="1" dirty="0">
                <a:solidFill>
                  <a:srgbClr val="38BDF8"/>
                </a:solidFill>
                <a:latin typeface="Arial" pitchFamily="34" charset="0"/>
                <a:ea typeface="Arial" pitchFamily="34" charset="-122"/>
                <a:cs typeface="Arial" pitchFamily="34" charset="-120"/>
              </a:rPr>
              <a:t>Key Takeaways &amp; Strategic Focus</a:t>
            </a:r>
            <a:endParaRPr lang="en-US" sz="2700" dirty="0"/>
          </a:p>
        </p:txBody>
      </p:sp>
      <p:sp>
        <p:nvSpPr>
          <p:cNvPr id="9" name="Text 7"/>
          <p:cNvSpPr/>
          <p:nvPr/>
        </p:nvSpPr>
        <p:spPr>
          <a:xfrm>
            <a:off x="762000" y="880765"/>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10B981"/>
                </a:solidFill>
                <a:latin typeface="Arial" pitchFamily="34" charset="0"/>
                <a:ea typeface="Arial" pitchFamily="34" charset="-122"/>
                <a:cs typeface="Arial" pitchFamily="34" charset="-120"/>
              </a:rPr>
              <a:t>✓ Strong Financial Performance</a:t>
            </a:r>
            <a:endParaRPr lang="en-US" sz="1200" dirty="0"/>
          </a:p>
        </p:txBody>
      </p:sp>
      <p:sp>
        <p:nvSpPr>
          <p:cNvPr id="10" name="Text 8"/>
          <p:cNvSpPr/>
          <p:nvPr/>
        </p:nvSpPr>
        <p:spPr>
          <a:xfrm>
            <a:off x="762000" y="1168859"/>
            <a:ext cx="7772400"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$1.40bn revenue (+20.4% YoY) demonstrates operational excellence despite admission concerns</a:t>
            </a:r>
            <a:endParaRPr lang="en-US" sz="1050" dirty="0"/>
          </a:p>
        </p:txBody>
      </p:sp>
      <p:sp>
        <p:nvSpPr>
          <p:cNvPr id="11" name="Text 9"/>
          <p:cNvSpPr/>
          <p:nvPr/>
        </p:nvSpPr>
        <p:spPr>
          <a:xfrm>
            <a:off x="762000" y="1759785"/>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38BDF8"/>
                </a:solidFill>
                <a:latin typeface="Arial" pitchFamily="34" charset="0"/>
                <a:ea typeface="Arial" pitchFamily="34" charset="-122"/>
                <a:cs typeface="Arial" pitchFamily="34" charset="-120"/>
              </a:rPr>
              <a:t>✓ Balanced Operations</a:t>
            </a:r>
            <a:endParaRPr lang="en-US" sz="1200" dirty="0"/>
          </a:p>
        </p:txBody>
      </p:sp>
      <p:sp>
        <p:nvSpPr>
          <p:cNvPr id="12" name="Text 10"/>
          <p:cNvSpPr/>
          <p:nvPr/>
        </p:nvSpPr>
        <p:spPr>
          <a:xfrm>
            <a:off x="762000" y="2039976"/>
            <a:ext cx="7772400"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Perfect gender parity, balanced admission mix, standardized 15-day LOS show operational maturity</a:t>
            </a:r>
            <a:endParaRPr lang="en-US" sz="1050" dirty="0"/>
          </a:p>
        </p:txBody>
      </p:sp>
      <p:sp>
        <p:nvSpPr>
          <p:cNvPr id="13" name="Text 11"/>
          <p:cNvSpPr/>
          <p:nvPr/>
        </p:nvSpPr>
        <p:spPr>
          <a:xfrm>
            <a:off x="841248" y="2695815"/>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F59E0B"/>
                </a:solidFill>
                <a:latin typeface="Arial" pitchFamily="34" charset="0"/>
                <a:ea typeface="Arial" pitchFamily="34" charset="-122"/>
                <a:cs typeface="Arial" pitchFamily="34" charset="-120"/>
              </a:rPr>
              <a:t>⚠ Critical Volume Alert</a:t>
            </a:r>
            <a:endParaRPr lang="en-US" sz="1200" dirty="0"/>
          </a:p>
        </p:txBody>
      </p:sp>
      <p:sp>
        <p:nvSpPr>
          <p:cNvPr id="14" name="Text 12"/>
          <p:cNvSpPr/>
          <p:nvPr/>
        </p:nvSpPr>
        <p:spPr>
          <a:xfrm>
            <a:off x="801624" y="2962916"/>
            <a:ext cx="7772400"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66% admission decline (2020-2024) requires immediate investigation</a:t>
            </a:r>
            <a:endParaRPr lang="en-US" sz="1050" dirty="0"/>
          </a:p>
        </p:txBody>
      </p:sp>
      <p:sp>
        <p:nvSpPr>
          <p:cNvPr id="15" name="Text 13"/>
          <p:cNvSpPr/>
          <p:nvPr/>
        </p:nvSpPr>
        <p:spPr>
          <a:xfrm>
            <a:off x="801624" y="3556587"/>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8B5CF6"/>
                </a:solidFill>
                <a:latin typeface="Arial" pitchFamily="34" charset="0"/>
                <a:ea typeface="Arial" pitchFamily="34" charset="-122"/>
                <a:cs typeface="Arial" pitchFamily="34" charset="-120"/>
              </a:rPr>
              <a:t>📋 Aging, Chronic-Disease Focus</a:t>
            </a:r>
            <a:endParaRPr lang="en-US" sz="1200" dirty="0"/>
          </a:p>
        </p:txBody>
      </p:sp>
      <p:sp>
        <p:nvSpPr>
          <p:cNvPr id="16" name="Text 14"/>
          <p:cNvSpPr/>
          <p:nvPr/>
        </p:nvSpPr>
        <p:spPr>
          <a:xfrm>
            <a:off x="801624" y="3843814"/>
            <a:ext cx="7772400"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Patient population aged 40-50 requires enhanced geriatric protocols and preventive care initiatives</a:t>
            </a:r>
            <a:endParaRPr lang="en-US" sz="1050" dirty="0"/>
          </a:p>
        </p:txBody>
      </p:sp>
      <p:sp>
        <p:nvSpPr>
          <p:cNvPr id="17" name="Text 15"/>
          <p:cNvSpPr/>
          <p:nvPr/>
        </p:nvSpPr>
        <p:spPr>
          <a:xfrm>
            <a:off x="801624" y="4379650"/>
            <a:ext cx="7772400" cy="213271"/>
          </a:xfrm>
          <a:prstGeom prst="rect">
            <a:avLst/>
          </a:prstGeom>
          <a:noFill/>
          <a:ln/>
        </p:spPr>
        <p:txBody>
          <a:bodyPr wrap="square" lIns="0" tIns="0" rIns="0" bIns="0" rtlCol="0" anchor="t"/>
          <a:lstStyle/>
          <a:p>
            <a:pPr marL="0" indent="0">
              <a:lnSpc>
                <a:spcPts val="1680"/>
              </a:lnSpc>
              <a:buNone/>
            </a:pPr>
            <a:r>
              <a:rPr lang="en-US" sz="1200" b="1" dirty="0">
                <a:solidFill>
                  <a:srgbClr val="06B6D4"/>
                </a:solidFill>
                <a:latin typeface="Arial" pitchFamily="34" charset="0"/>
                <a:ea typeface="Arial" pitchFamily="34" charset="-122"/>
                <a:cs typeface="Arial" pitchFamily="34" charset="-120"/>
              </a:rPr>
              <a:t>🛏 Capacity Constraints</a:t>
            </a:r>
            <a:endParaRPr lang="en-US" sz="1200" dirty="0"/>
          </a:p>
        </p:txBody>
      </p:sp>
      <p:sp>
        <p:nvSpPr>
          <p:cNvPr id="18" name="Text 16"/>
          <p:cNvSpPr/>
          <p:nvPr/>
        </p:nvSpPr>
        <p:spPr>
          <a:xfrm>
            <a:off x="781812" y="4658171"/>
            <a:ext cx="7772400" cy="186630"/>
          </a:xfrm>
          <a:prstGeom prst="rect">
            <a:avLst/>
          </a:prstGeom>
          <a:noFill/>
          <a:ln/>
        </p:spPr>
        <p:txBody>
          <a:bodyPr wrap="square" lIns="0" tIns="0" rIns="0" bIns="0" rtlCol="0" anchor="t"/>
          <a:lstStyle/>
          <a:p>
            <a:pPr marL="0" indent="0">
              <a:lnSpc>
                <a:spcPts val="1470"/>
              </a:lnSpc>
              <a:buNone/>
            </a:pPr>
            <a:r>
              <a:rPr lang="en-US" sz="1050" dirty="0">
                <a:solidFill>
                  <a:srgbClr val="CBD5E1"/>
                </a:solidFill>
                <a:latin typeface="Arial" pitchFamily="34" charset="0"/>
                <a:ea typeface="Arial" pitchFamily="34" charset="-122"/>
                <a:cs typeface="Arial" pitchFamily="34" charset="-120"/>
              </a:rPr>
              <a:t>High bed occupancy limits emergency surge capacity; facility expansion or efficiency improvements needed</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16">
    <p:bg>
      <p:bgPr>
        <a:solidFill>
          <a:srgbClr val="020617"/>
        </a:solidFill>
        <a:effectLst/>
      </p:bgPr>
    </p:bg>
    <p:spTree>
      <p:nvGrpSpPr>
        <p:cNvPr id="1" name=""/>
        <p:cNvGrpSpPr/>
        <p:nvPr/>
      </p:nvGrpSpPr>
      <p:grpSpPr>
        <a:xfrm>
          <a:off x="0" y="0"/>
          <a:ext cx="0" cy="0"/>
          <a:chOff x="0" y="0"/>
          <a:chExt cx="0" cy="0"/>
        </a:xfrm>
      </p:grpSpPr>
      <p:sp>
        <p:nvSpPr>
          <p:cNvPr id="2" name="Text 0"/>
          <p:cNvSpPr/>
          <p:nvPr/>
        </p:nvSpPr>
        <p:spPr>
          <a:xfrm>
            <a:off x="3223021" y="3541291"/>
            <a:ext cx="2873425" cy="933301"/>
          </a:xfrm>
          <a:prstGeom prst="roundRect">
            <a:avLst>
              <a:gd name="adj" fmla="val 39190"/>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1889915" y="1083503"/>
            <a:ext cx="5364170" cy="548580"/>
          </a:xfrm>
          <a:prstGeom prst="rect">
            <a:avLst/>
          </a:prstGeom>
          <a:noFill/>
          <a:ln/>
        </p:spPr>
        <p:txBody>
          <a:bodyPr wrap="square" lIns="0" tIns="0" rIns="0" bIns="0" rtlCol="0" anchor="t"/>
          <a:lstStyle/>
          <a:p>
            <a:pPr marL="0" indent="0" algn="ctr">
              <a:lnSpc>
                <a:spcPts val="4320"/>
              </a:lnSpc>
              <a:buNone/>
            </a:pPr>
            <a:r>
              <a:rPr lang="en-US" sz="3600" b="1" dirty="0">
                <a:solidFill>
                  <a:srgbClr val="38BDF8"/>
                </a:solidFill>
                <a:latin typeface="Arial" pitchFamily="34" charset="0"/>
                <a:cs typeface="Arial" pitchFamily="34" charset="-120"/>
              </a:rPr>
              <a:t>Our Team</a:t>
            </a:r>
            <a:endParaRPr lang="en-US" sz="3600" dirty="0"/>
          </a:p>
        </p:txBody>
      </p:sp>
      <p:sp>
        <p:nvSpPr>
          <p:cNvPr id="4" name="Text 2"/>
          <p:cNvSpPr/>
          <p:nvPr/>
        </p:nvSpPr>
        <p:spPr>
          <a:xfrm>
            <a:off x="3427458" y="3800103"/>
            <a:ext cx="2464549" cy="186630"/>
          </a:xfrm>
          <a:prstGeom prst="rect">
            <a:avLst/>
          </a:prstGeom>
          <a:noFill/>
          <a:ln/>
        </p:spPr>
        <p:txBody>
          <a:bodyPr wrap="square" lIns="0" tIns="0" rIns="0" bIns="0" rtlCol="0" anchor="t"/>
          <a:lstStyle/>
          <a:p>
            <a:pPr marL="0" indent="0" algn="ctr">
              <a:lnSpc>
                <a:spcPts val="1470"/>
              </a:lnSpc>
              <a:buNone/>
            </a:pPr>
            <a:r>
              <a:rPr lang="en-US" sz="1050" dirty="0">
                <a:solidFill>
                  <a:srgbClr val="94A3B8"/>
                </a:solidFill>
                <a:latin typeface="Arial" pitchFamily="34" charset="0"/>
                <a:ea typeface="Arial" pitchFamily="34" charset="-122"/>
                <a:cs typeface="Arial" pitchFamily="34" charset="-120"/>
              </a:rPr>
              <a:t>Healthcare Performance Insights Review</a:t>
            </a:r>
            <a:endParaRPr lang="en-US" sz="1050" dirty="0"/>
          </a:p>
        </p:txBody>
      </p:sp>
      <p:sp>
        <p:nvSpPr>
          <p:cNvPr id="5" name="Text 3"/>
          <p:cNvSpPr/>
          <p:nvPr/>
        </p:nvSpPr>
        <p:spPr>
          <a:xfrm>
            <a:off x="3427458" y="4032274"/>
            <a:ext cx="2464549" cy="213271"/>
          </a:xfrm>
          <a:prstGeom prst="rect">
            <a:avLst/>
          </a:prstGeom>
          <a:noFill/>
          <a:ln/>
        </p:spPr>
        <p:txBody>
          <a:bodyPr wrap="square" lIns="0" tIns="0" rIns="0" bIns="0" rtlCol="0" anchor="t"/>
          <a:lstStyle/>
          <a:p>
            <a:pPr marL="0" indent="0" algn="ctr">
              <a:lnSpc>
                <a:spcPts val="1680"/>
              </a:lnSpc>
              <a:buNone/>
            </a:pPr>
            <a:r>
              <a:rPr lang="en-US" sz="1200" b="1" dirty="0">
                <a:solidFill>
                  <a:srgbClr val="CBD5E1"/>
                </a:solidFill>
                <a:latin typeface="Arial" pitchFamily="34" charset="0"/>
                <a:ea typeface="Arial" pitchFamily="34" charset="-122"/>
                <a:cs typeface="Arial" pitchFamily="34" charset="-120"/>
              </a:rPr>
              <a:t>December 2025</a:t>
            </a:r>
            <a:endParaRPr lang="en-US" sz="1200" dirty="0"/>
          </a:p>
        </p:txBody>
      </p:sp>
      <p:sp>
        <p:nvSpPr>
          <p:cNvPr id="6" name="Text 4"/>
          <p:cNvSpPr/>
          <p:nvPr/>
        </p:nvSpPr>
        <p:spPr>
          <a:xfrm>
            <a:off x="2701038" y="2152406"/>
            <a:ext cx="1395090" cy="186630"/>
          </a:xfrm>
          <a:prstGeom prst="rect">
            <a:avLst/>
          </a:prstGeom>
          <a:noFill/>
          <a:ln/>
        </p:spPr>
        <p:txBody>
          <a:bodyPr wrap="square" lIns="0" tIns="0" rIns="0" bIns="0" rtlCol="0" anchor="t"/>
          <a:lstStyle/>
          <a:p>
            <a:pPr marL="0" indent="0" algn="ctr">
              <a:lnSpc>
                <a:spcPts val="1470"/>
              </a:lnSpc>
              <a:buNone/>
            </a:pPr>
            <a:r>
              <a:rPr lang="en-US" sz="1400" b="1" dirty="0">
                <a:solidFill>
                  <a:schemeClr val="bg1"/>
                </a:solidFill>
                <a:latin typeface="Arial" pitchFamily="34" charset="0"/>
                <a:ea typeface="Arial" pitchFamily="34" charset="-122"/>
                <a:cs typeface="Arial" pitchFamily="34" charset="-120"/>
              </a:rPr>
              <a:t>Mustafa Othman</a:t>
            </a:r>
            <a:endParaRPr lang="en-US" sz="1400" b="1" dirty="0">
              <a:solidFill>
                <a:schemeClr val="bg1"/>
              </a:solidFill>
            </a:endParaRPr>
          </a:p>
        </p:txBody>
      </p:sp>
      <p:sp>
        <p:nvSpPr>
          <p:cNvPr id="12" name="Text 4">
            <a:extLst>
              <a:ext uri="{FF2B5EF4-FFF2-40B4-BE49-F238E27FC236}">
                <a16:creationId xmlns:a16="http://schemas.microsoft.com/office/drawing/2014/main" id="{E57326DA-A7D3-9937-1447-7CC9C3476B33}"/>
              </a:ext>
            </a:extLst>
          </p:cNvPr>
          <p:cNvSpPr/>
          <p:nvPr/>
        </p:nvSpPr>
        <p:spPr>
          <a:xfrm>
            <a:off x="5047874" y="2161825"/>
            <a:ext cx="1266180" cy="186630"/>
          </a:xfrm>
          <a:prstGeom prst="rect">
            <a:avLst/>
          </a:prstGeom>
          <a:noFill/>
          <a:ln/>
        </p:spPr>
        <p:txBody>
          <a:bodyPr wrap="square" lIns="0" tIns="0" rIns="0" bIns="0" rtlCol="0" anchor="t"/>
          <a:lstStyle/>
          <a:p>
            <a:pPr marL="0" indent="0" algn="ctr">
              <a:lnSpc>
                <a:spcPts val="1470"/>
              </a:lnSpc>
              <a:buNone/>
            </a:pPr>
            <a:r>
              <a:rPr lang="en-US" sz="1600" b="1" dirty="0">
                <a:solidFill>
                  <a:schemeClr val="bg1"/>
                </a:solidFill>
                <a:latin typeface="Arial" pitchFamily="34" charset="0"/>
                <a:ea typeface="Arial" pitchFamily="34" charset="-122"/>
                <a:cs typeface="Arial" pitchFamily="34" charset="-120"/>
              </a:rPr>
              <a:t>Rahma Hany</a:t>
            </a:r>
            <a:endParaRPr lang="en-US" sz="1600" b="1" dirty="0">
              <a:solidFill>
                <a:schemeClr val="bg1"/>
              </a:solidFill>
            </a:endParaRPr>
          </a:p>
        </p:txBody>
      </p:sp>
      <p:sp>
        <p:nvSpPr>
          <p:cNvPr id="13" name="Text 4">
            <a:extLst>
              <a:ext uri="{FF2B5EF4-FFF2-40B4-BE49-F238E27FC236}">
                <a16:creationId xmlns:a16="http://schemas.microsoft.com/office/drawing/2014/main" id="{9E647095-1CFE-151D-6F36-AC3C63732624}"/>
              </a:ext>
            </a:extLst>
          </p:cNvPr>
          <p:cNvSpPr/>
          <p:nvPr/>
        </p:nvSpPr>
        <p:spPr>
          <a:xfrm>
            <a:off x="2656767" y="2922956"/>
            <a:ext cx="1266180" cy="186630"/>
          </a:xfrm>
          <a:prstGeom prst="rect">
            <a:avLst/>
          </a:prstGeom>
          <a:noFill/>
          <a:ln/>
        </p:spPr>
        <p:txBody>
          <a:bodyPr wrap="square" lIns="0" tIns="0" rIns="0" bIns="0" rtlCol="0" anchor="t"/>
          <a:lstStyle/>
          <a:p>
            <a:pPr marL="0" indent="0" algn="ctr">
              <a:lnSpc>
                <a:spcPts val="1470"/>
              </a:lnSpc>
              <a:buNone/>
            </a:pPr>
            <a:r>
              <a:rPr lang="en-US" sz="1600" b="1" dirty="0">
                <a:solidFill>
                  <a:schemeClr val="bg1"/>
                </a:solidFill>
                <a:latin typeface="Arial" pitchFamily="34" charset="0"/>
                <a:ea typeface="Arial" pitchFamily="34" charset="-122"/>
                <a:cs typeface="Arial" pitchFamily="34" charset="-120"/>
              </a:rPr>
              <a:t>Rawda</a:t>
            </a:r>
            <a:r>
              <a:rPr lang="en-US" sz="1400" b="1" dirty="0">
                <a:solidFill>
                  <a:schemeClr val="bg1"/>
                </a:solidFill>
                <a:latin typeface="Arial" pitchFamily="34" charset="0"/>
                <a:ea typeface="Arial" pitchFamily="34" charset="-122"/>
                <a:cs typeface="Arial" pitchFamily="34" charset="-120"/>
              </a:rPr>
              <a:t> Atef</a:t>
            </a:r>
            <a:endParaRPr lang="en-US" sz="1400" b="1" dirty="0">
              <a:solidFill>
                <a:schemeClr val="bg1"/>
              </a:solidFill>
            </a:endParaRPr>
          </a:p>
        </p:txBody>
      </p:sp>
      <p:sp>
        <p:nvSpPr>
          <p:cNvPr id="14" name="Text 4">
            <a:extLst>
              <a:ext uri="{FF2B5EF4-FFF2-40B4-BE49-F238E27FC236}">
                <a16:creationId xmlns:a16="http://schemas.microsoft.com/office/drawing/2014/main" id="{243C736B-110F-20AA-FA57-0C48E7B5FFF9}"/>
              </a:ext>
            </a:extLst>
          </p:cNvPr>
          <p:cNvSpPr/>
          <p:nvPr/>
        </p:nvSpPr>
        <p:spPr>
          <a:xfrm>
            <a:off x="4934928" y="2911348"/>
            <a:ext cx="1492072" cy="186630"/>
          </a:xfrm>
          <a:prstGeom prst="rect">
            <a:avLst/>
          </a:prstGeom>
          <a:noFill/>
          <a:ln/>
        </p:spPr>
        <p:txBody>
          <a:bodyPr wrap="square" lIns="0" tIns="0" rIns="0" bIns="0" rtlCol="0" anchor="t"/>
          <a:lstStyle/>
          <a:p>
            <a:pPr marL="0" indent="0" algn="ctr">
              <a:lnSpc>
                <a:spcPts val="1470"/>
              </a:lnSpc>
              <a:buNone/>
            </a:pPr>
            <a:r>
              <a:rPr lang="en-US" sz="1600" b="1" dirty="0">
                <a:solidFill>
                  <a:schemeClr val="bg1"/>
                </a:solidFill>
                <a:latin typeface="Arial" pitchFamily="34" charset="0"/>
                <a:ea typeface="Arial" pitchFamily="34" charset="-122"/>
                <a:cs typeface="Arial" pitchFamily="34" charset="-120"/>
              </a:rPr>
              <a:t>Yasin Waleed</a:t>
            </a:r>
            <a:endParaRPr lang="en-US" sz="1600" b="1" dirty="0">
              <a:solidFill>
                <a:schemeClr val="bg1"/>
              </a:solidFill>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2724</Words>
  <Application>Microsoft Office PowerPoint</Application>
  <PresentationFormat>On-screen Show (16:9)</PresentationFormat>
  <Paragraphs>286</Paragraphs>
  <Slides>29</Slides>
  <Notes>29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29</vt:i4>
      </vt:variant>
    </vt:vector>
  </HeadingPairs>
  <TitlesOfParts>
    <vt:vector size="3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Mustafa 320230108</cp:lastModifiedBy>
  <cp:revision>5</cp:revision>
  <dcterms:created xsi:type="dcterms:W3CDTF">2025-12-09T18:43:49Z</dcterms:created>
  <dcterms:modified xsi:type="dcterms:W3CDTF">2025-12-09T22:26:14Z</dcterms:modified>
</cp:coreProperties>
</file>